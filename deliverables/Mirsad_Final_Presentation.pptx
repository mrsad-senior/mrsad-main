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Python tests</c:v>
                </c:pt>
              </c:strCache>
            </c:strRef>
          </c:tx>
          <c:dPt>
            <c:idx val="0"/>
            <c:spPr>
              <a:solidFill>
                <a:srgbClr val="0B1F3A"/>
              </a:solidFill>
            </c:spPr>
          </c:dPt>
          <c:dPt>
            <c:idx val="1"/>
            <c:spPr>
              <a:solidFill>
                <a:srgbClr val="0B1F3A"/>
              </a:solidFill>
            </c:spPr>
          </c:dPt>
          <c:dPt>
            <c:idx val="2"/>
            <c:spPr>
              <a:solidFill>
                <a:srgbClr val="0B1F3A"/>
              </a:solidFill>
            </c:spPr>
          </c:dPt>
          <c:dPt>
            <c:idx val="3"/>
            <c:spPr>
              <a:solidFill>
                <a:srgbClr val="0B1F3A"/>
              </a:solidFill>
            </c:spPr>
          </c:dPt>
          <c:dPt>
            <c:idx val="4"/>
            <c:spPr>
              <a:solidFill>
                <a:srgbClr val="0B1F3A"/>
              </a:solidFill>
            </c:spPr>
          </c:dPt>
          <c:dPt>
            <c:idx val="5"/>
            <c:spPr>
              <a:solidFill>
                <a:srgbClr val="0B1F3A"/>
              </a:solidFill>
            </c:spPr>
          </c:dPt>
          <c:dPt>
            <c:idx val="6"/>
            <c:spPr>
              <a:solidFill>
                <a:srgbClr val="0B1F3A"/>
              </a:solidFill>
            </c:spPr>
          </c:dPt>
          <c:dPt>
            <c:idx val="7"/>
            <c:spPr>
              <a:solidFill>
                <a:srgbClr val="0B1F3A"/>
              </a:solidFill>
            </c:spPr>
          </c:dPt>
          <c:dPt>
            <c:idx val="8"/>
            <c:spPr>
              <a:solidFill>
                <a:srgbClr val="0B1F3A"/>
              </a:solidFill>
            </c:spPr>
          </c:dPt>
          <c:dPt>
            <c:idx val="9"/>
            <c:spPr>
              <a:solidFill>
                <a:srgbClr val="0B1F3A"/>
              </a:solidFill>
            </c:spPr>
          </c:dPt>
          <c:cat>
            <c:strRef>
              <c:f>Sheet1!$A$2:$A$11</c:f>
              <c:strCache>
                <c:ptCount val="10"/>
                <c:pt idx="0">
                  <c:v>integration</c:v>
                </c:pt>
                <c:pt idx="1">
                  <c:v>security</c:v>
                </c:pt>
                <c:pt idx="2">
                  <c:v>bench</c:v>
                </c:pt>
                <c:pt idx="3">
                  <c:v>demo</c:v>
                </c:pt>
                <c:pt idx="4">
                  <c:v>adapters</c:v>
                </c:pt>
                <c:pt idx="5">
                  <c:v>taint</c:v>
                </c:pt>
                <c:pt idx="6">
                  <c:v>api</c:v>
                </c:pt>
                <c:pt idx="7">
                  <c:v>detector</c:v>
                </c:pt>
                <c:pt idx="8">
                  <c:v>audit</c:v>
                </c:pt>
                <c:pt idx="9">
                  <c:v>policy</c:v>
                </c:pt>
              </c:strCache>
            </c:strRef>
          </c:cat>
          <c:val>
            <c:numRef>
              <c:f>Sheet1!$B$2:$B$11</c:f>
              <c:numCache>
                <c:formatCode>General</c:formatCode>
                <c:ptCount val="10"/>
                <c:pt idx="0">
                  <c:v>8</c:v>
                </c:pt>
                <c:pt idx="1">
                  <c:v>45</c:v>
                </c:pt>
                <c:pt idx="2">
                  <c:v>68</c:v>
                </c:pt>
                <c:pt idx="3">
                  <c:v>72</c:v>
                </c:pt>
                <c:pt idx="4">
                  <c:v>78</c:v>
                </c:pt>
                <c:pt idx="5">
                  <c:v>93</c:v>
                </c:pt>
                <c:pt idx="6">
                  <c:v>185</c:v>
                </c:pt>
                <c:pt idx="7">
                  <c:v>227</c:v>
                </c:pt>
                <c:pt idx="8">
                  <c:v>240</c:v>
                </c:pt>
                <c:pt idx="9">
                  <c:v>265</c:v>
                </c:pt>
              </c:numCache>
            </c:numRef>
          </c:val>
        </c:ser>
        <c:dLbls>
          <c:numFmt formatCode="0" sourceLinked="0"/>
          <c:txPr>
            <a:bodyPr/>
            <a:lstStyle/>
            <a:p>
              <a:pPr>
                <a:defRPr sz="1200" b="1">
                  <a:solidFill>
                    <a:srgbClr val="1F2937"/>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solidFill>
              <a:srgbClr val="D5DBE3"/>
            </a:solidFill>
          </a:ln>
        </c:spPr>
        <c:txPr>
          <a:bodyPr/>
          <a:lstStyle/>
          <a:p>
            <a:pPr>
              <a:defRPr sz="1200">
                <a:solidFill>
                  <a:srgbClr val="1F2937"/>
                </a:solidFill>
              </a:defRPr>
            </a:pPr>
          </a:p>
        </c:txPr>
        <c:crossAx val="-2113994440"/>
        <c:crosses val="autoZero"/>
        <c:auto val="1"/>
        <c:lblAlgn val="ctr"/>
        <c:lblOffset val="100"/>
        <c:noMultiLvlLbl val="0"/>
      </c:catAx>
      <c:valAx>
        <c:axId val="-2113994440"/>
        <c:scaling>
          <c:max val="312.7"/>
          <c:min val="0.0"/>
        </c:scaling>
        <c:delete/>
        <c:axPos val="b"/>
        <c:majorTickMark val="out"/>
        <c:minorTickMark val="none"/>
        <c:tickLblPos val="nextTo"/>
        <c:crossAx val="-2068027336"/>
        <c:crosses val="autoZero"/>
      </c:valAx>
    </c:plotArea>
    <c:dispBlanksAs val="gap"/>
  </c:chart>
  <c:txPr>
    <a:bodyPr/>
    <a:lstStyle/>
    <a:p>
      <a:pPr>
        <a:defRPr sz="1200">
          <a:solidFill>
            <a:srgbClr val="1F2937"/>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Friction</c:v>
                </c:pt>
              </c:strCache>
            </c:strRef>
          </c:tx>
          <c:dPt>
            <c:idx val="0"/>
            <c:spPr>
              <a:solidFill>
                <a:srgbClr val="0F766E"/>
              </a:solidFill>
            </c:spPr>
          </c:dPt>
          <c:dPt>
            <c:idx val="1"/>
            <c:spPr>
              <a:solidFill>
                <a:srgbClr val="94A3B8"/>
              </a:solidFill>
            </c:spPr>
          </c:dPt>
          <c:dPt>
            <c:idx val="2"/>
            <c:spPr>
              <a:solidFill>
                <a:srgbClr val="94A3B8"/>
              </a:solidFill>
            </c:spPr>
          </c:dPt>
          <c:dPt>
            <c:idx val="3"/>
            <c:spPr>
              <a:solidFill>
                <a:srgbClr val="94A3B8"/>
              </a:solidFill>
            </c:spPr>
          </c:dPt>
          <c:dPt>
            <c:idx val="4"/>
            <c:spPr>
              <a:solidFill>
                <a:srgbClr val="94A3B8"/>
              </a:solidFill>
            </c:spPr>
          </c:dPt>
          <c:cat>
            <c:strRef>
              <c:f>Sheet1!$A$2:$A$6</c:f>
              <c:strCache>
                <c:ptCount val="5"/>
                <c:pt idx="0">
                  <c:v>Full Mirsad</c:v>
                </c:pt>
                <c:pt idx="1">
                  <c:v>Policy only</c:v>
                </c:pt>
                <c:pt idx="2">
                  <c:v>Taint only</c:v>
                </c:pt>
                <c:pt idx="3">
                  <c:v>Detector only</c:v>
                </c:pt>
                <c:pt idx="4">
                  <c:v>No protection</c:v>
                </c:pt>
              </c:strCache>
            </c:strRef>
          </c:cat>
          <c:val>
            <c:numRef>
              <c:f>Sheet1!$B$2:$B$6</c:f>
              <c:numCache>
                <c:formatCode>General</c:formatCode>
                <c:ptCount val="5"/>
                <c:pt idx="0">
                  <c:v>0.1765</c:v>
                </c:pt>
                <c:pt idx="1">
                  <c:v>0.1765</c:v>
                </c:pt>
                <c:pt idx="2">
                  <c:v>0.0882</c:v>
                </c:pt>
                <c:pt idx="3">
                  <c:v>0.0</c:v>
                </c:pt>
                <c:pt idx="4">
                  <c:v>0.0</c:v>
                </c:pt>
              </c:numCache>
            </c:numRef>
          </c:val>
        </c:ser>
        <c:dLbls>
          <c:numFmt formatCode="0.0%" sourceLinked="0"/>
          <c:txPr>
            <a:bodyPr/>
            <a:lstStyle/>
            <a:p>
              <a:pPr>
                <a:defRPr sz="1400" b="1">
                  <a:solidFill>
                    <a:srgbClr val="1F2937"/>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solidFill>
              <a:srgbClr val="D5DBE3"/>
            </a:solidFill>
          </a:ln>
        </c:spPr>
        <c:txPr>
          <a:bodyPr/>
          <a:lstStyle/>
          <a:p>
            <a:pPr>
              <a:defRPr sz="1400">
                <a:solidFill>
                  <a:srgbClr val="1F2937"/>
                </a:solidFill>
              </a:defRPr>
            </a:pPr>
          </a:p>
        </c:txPr>
        <c:crossAx val="-2113994440"/>
        <c:crosses val="autoZero"/>
        <c:auto val="1"/>
        <c:lblAlgn val="ctr"/>
        <c:lblOffset val="100"/>
        <c:noMultiLvlLbl val="0"/>
      </c:catAx>
      <c:valAx>
        <c:axId val="-2113994440"/>
        <c:scaling>
          <c:max val="0.22945"/>
          <c:min val="0.0"/>
        </c:scaling>
        <c:delete/>
        <c:axPos val="b"/>
        <c:majorTickMark val="out"/>
        <c:minorTickMark val="none"/>
        <c:tickLblPos val="nextTo"/>
        <c:crossAx val="-2068027336"/>
        <c:crosses val="autoZero"/>
      </c:valAx>
    </c:plotArea>
    <c:dispBlanksAs val="gap"/>
  </c:chart>
  <c:txPr>
    <a:bodyPr/>
    <a:lstStyle/>
    <a:p>
      <a:pPr>
        <a:defRPr sz="1400">
          <a:solidFill>
            <a:srgbClr val="1F2937"/>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Abdulmalik bin Saedan · Time: 0:30</a:t>
            </a:r>
          </a:p>
          <a:p/>
          <a:p>
            <a:r>
              <a:t>Good morning. We are the Mirsad team: Mohammed Alanssari, Bader Alshuraie, Bader Alyamini, Abdullah Al-Orabi and I, Abdulmalik bin Saedan. Our supervisor is Dr. Omaia Al-Omari. Mirsad is Arabic for "watchtower". It is a runtime security firewall that sits between an AI agent and the tools the agent uses. We will explain the problem, how Mirsad works, how we built and tested it and what we measured, and then show it running.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Abdulmalik bin Saedan · Time: 1:00</a:t>
            </a:r>
          </a:p>
          <a:p/>
          <a:p>
            <a:r>
              <a:t>AI agents no longer only chat. They read e-mail, search the CRM, open web pages and call tools that send messages or move money. Everything a tool returns goes into the model's context, and the model cannot reliably separate data from instructions. An attacker therefore does not need to break into anything. It is enough to send an e-mail, publish a web page or upload a CV that contains instructions addressed to the agent, for example to export the customer list to an outside address. When the agent reads that content during a normal task, it may follow the instructions with its own valid permissions. This is indirect prompt injection. A web application firewall, identity management or data-loss prevention sees an authorised agent making a normal API call, so none of them intervenes. The control has to sit where the agent acts, at the tool call.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Mohammed Yasser Alanssari · Time: 0:45</a:t>
            </a:r>
          </a:p>
          <a:p/>
          <a:p>
            <a:r>
              <a:t>Three facts make this urgent for Saudi organisations. OWASP ranks prompt injection first, as LLM01, in its Top 10 for LLM applications. Under the Personal Data Protection Law, an agent that leaks customer records causes an unauthorised disclosure of personal data, and the NCA Essential Cybersecurity Controls require event logging and monitoring. Finally, the agents deployed here read and write Arabic, but none of the injection detectors in our review of eleven products and research prototypes publishes Arabic accuracy figures.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Abdullah Naif Al-Orabi · Time: 0:45</a:t>
            </a:r>
          </a:p>
          <a:p/>
          <a:p>
            <a:r>
              <a:t>The proposal listed six objectives. We consolidated them into three SMART objectives, and the targets were fixed before implementation, so they could not be tuned to the results. First, enforce security at the tool boundary for MCP and OpenAI-style agents, with a median added latency of at most 200 milliseconds per call. Second, detect injected instructions in Arabic and English with an F1 score of at least 0.85 on held-out test sets. Third, keep humans in control through a mobile approval app and a replayable, tamper-evident audit log, and show on our benchmark that attack success falls by at least 80 percent while no more than 5 percent of benign actions are blocked.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Abdullah Naif Al-Orabi · Time: 0:50</a:t>
            </a:r>
          </a:p>
          <a:p/>
          <a:p>
            <a:r>
              <a:t>We reviewed commercial guardrails, open-source gateways and research prototypes; the table shows five representative systems. Lakera Guard classifies text and lists Arabic, but it returns a verdict and leaves enforcement to the application. AWS AgentCore Policy enforces per-tool and per-parameter rules, but only inside AWS. agentgateway is open and vendor-neutral, but has no data-flow tracking, detector or approval channel. CaMeL gives the strongest guarantees through data-flow tracking, but the agent has to be rebuilt around its interpreter. We do not claim that Mirsad is the only tool-layer firewall. The gap is narrower: none of the systems we reviewed documents all five controls in one vendor-neutral, self-hostable component. Mirsad's Arabic detector is built, but its accuracy is not measured yet; we return to this in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Mohammed Yasser Alanssari · Time: 0:40</a:t>
            </a:r>
          </a:p>
          <a:p/>
          <a:p>
            <a:r>
              <a:t>Mirsad addresses a new threat, so there was no installed user base to observe. Requirements came from standards (OWASP, NCA ECC, the PDPL and the NIST AI RMF), the attack literature, the competitor review, a STRIDE threat model, and three personas: a security analyst who approves requests, an AI platform engineer and a compliance officer. The result is 26 functional requirements in eight capability groups and 11 non-functional requirements. Each one has an acceptance criterion that is traced to tests. The targets on the right are the yardsticks we use in the results section.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Bader Alshuraie · Time: 0:55</a:t>
            </a:r>
          </a:p>
          <a:p/>
          <a:p>
            <a:r>
              <a:t>Mirsad is one gateway between any agent and its tools. Agents connect through one of three adapters: an MCP proxy, an OpenAI-compatible chat-completions endpoint, or the Guard API with a Python SDK. Adopting Mirsad means pointing the agent at a different address; the agent's code and model stay the same. Inside the gateway there are two paths. The call path runs before a tool executes: policy engine, rate limiter, taint tracker, a deny-overrides decision and, for high-risk calls, a human. The result path runs before the model sees the tool's output: injection detector, sanitising and spotlighting, and taint labelling. Every decision and every inspection is written to the audit log, and the dashboard and approver app use the same REST API.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Bader Alshuraie · Time: 0:55</a:t>
            </a:r>
          </a:p>
          <a:p/>
          <a:p>
            <a:r>
              <a:t>Here is one call in detail. The agent asks to send an e-mail. The policy engine checks that this agent may use the tool and checks each argument against its constraints and rate limits. The taint tracker then asks where the values came from. If the recipient address first appeared inside an untrusted e-mail and never in a trusted field, the attacker chose the destination, so the call is denied. Reasons from all layers are combined, and any deny wins. Allowed calls run, and high-risk calls wait for a human. On the way back, the result is scanned, suspected instructions are removed, untrusted content is marked as data, and its values are recorded for later checks. Each step is written to the audit log.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Bader Alshuraie, then Bader Abdullah Alyamini · Time: 0:55</a:t>
            </a:r>
          </a:p>
          <a:p/>
          <a:p>
            <a:r>
              <a:t>(Bader Alshuraie) Rules are written in YAML rather than code, so a security team can review them in a pull request. This excerpt comes from the default policy. Sending e-mail is allowed, but a recipient outside najd-trading.example needs approval. Deleting a customer always needs a human, and any tool that is not listed is denied. Constraints cover numeric limits, patterns, lists of allowed domains and rate limits, and administrators can validate, activate and roll back a policy while the gateway runs.</a:t>
            </a:r>
          </a:p>
          <a:p/>
          <a:p>
            <a:r>
              <a:t>(Bader Abdullah Alyamini) A policy cannot tell where an argument came from. The taint tracker labels every result as trusted or untrusted and as public, internal or confidential, and records the identifying values in it, such as addresses, URLs, IBANs and record IDs. Four rules use that provenance, and the strictest one denies any call whose destination was chosen by untrusted content. The evidence names the source tool, call and field, so the approver can see where the data came from.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Abdullah Naif Al-Orabi, then Bader Abdullah Alyamini · Time: 1:10</a:t>
            </a:r>
          </a:p>
          <a:p/>
          <a:p>
            <a:r>
              <a:t>(Abdullah Naif Al-Orabi) The detector scans every untrusted result. It first normalises the text: it removes zero-width and direction-control characters, folds look-alike letters and Arabic letter variants, strips diacritics and elongation, and reports these tricks as signals. Weighted rules in English, Arabic (Modern Standard and Gulf) and Arabizi, together with a character n-gram model, then produce a score, and the policy decides whether the result is passed, flagged, sanitised or blocked. We treat the detector as a signal and not as the security boundary, because published adaptive attacks bypass detection-based defences. Policy and taint must stop the action even when the detector misses the text.</a:t>
            </a:r>
          </a:p>
          <a:p/>
          <a:p>
            <a:r>
              <a:t>(Bader Abdullah Alyamini) When a call needs a human, the approval service writes a short summary in Arabic and English: what the agent wants to do, why Mirsad paused it and where the data came from. It is pushed to the approver's phone. If nobody answers before the timeout, 120 seconds by default, the call is denied. Every event is appended to an HMAC-SHA-256 hash chain, with secrets masked and personal identifiers such as national IDs and IBANs reduced to their last characters. Editing, deleting or reordering an event breaks the chain, and any stored decision can be replayed against the policy version that made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Mohammed Yasser Alanssari · Time: 0:40</a:t>
            </a:r>
          </a:p>
          <a:p/>
          <a:p>
            <a:r>
              <a:t>These are screenshots of the running system. The administration dashboard shows live statistics, the audit log with filters and export, policies, agents, users and a detector playground, in English or in Arabic with a right-to-left layout. The approver app is an installable progressive web app built from the same React code. A request screen starts with the plain-language summary, then the reasons, then large Approve and Deny buttons. We chose a progressive web app over a native app because it installs on Android and iOS without app-store review and still receives push notifications.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Abdulmalik bin Saedan · Time: 0:45</a:t>
            </a:r>
          </a:p>
          <a:p/>
          <a:p>
            <a:r>
              <a:t>We follow Scrum with two-week sprints across two semesters, 17 sprints in the plan, and security work is part of every sprint rather than a final phase. Before coding, we wrote an engineering contract that fixes the interface of every component, which allowed five workstreams with one owner each to develop in parallel. Every pull request needs a second member's review and a green continuous-integration run: linting, tests with coverage, Bandit, pip-audit, the TypeScript check and the web build. The chart shows the seven phases and the milestones M1 to M7 from our project plan.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Bader Abdullah Alyamini · Time: 0:45</a:t>
            </a:r>
          </a:p>
          <a:p/>
          <a:p>
            <a:r>
              <a:t>Every number on this slide is read from the latest test run. 1,281 of 1,281 Python tests pass, across ten areas, including 45 security tests that attack the gateway itself, for example authentication, request limits and audit tampering. 194 of 194 web tests pass in 38 test files. Statement coverage of the core package is 94.4 percent, against a target of 80. Bandit found 0 issues in 13,023 lines of code, pip-audit found 0 vulnerable packages among 124, and npm audit reported 0 vulnerabilities. Tests confirm the behaviour we designed; they cannot prove that no bypass exists, which is why we also measure.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Abdulmalik bin Saedan · Time: 1:05</a:t>
            </a:r>
          </a:p>
          <a:p/>
          <a:p>
            <a:r>
              <a:t>We first measured what Mirsad costs legitimate work. Mirsad-Bench has 48 benign tasks, half in English and half in Arabic, with 68 tool calls, run by a deterministic scripted agent under five configurations. With full protection, 0.0% of benign calls were denied automatically, against a limit of 5 percent. 17.6% were sent to a human, and all of them are escalations the policy defines on purpose: e-mails to outside domains, exports, and the payment and deletion tasks. With an approver who knows the task, utility is 100%; with an approver who rejects everything it is 75%. One call at a time, Mirsad adds a median of 2.7 ms. With 50 concurrent sessions and the server in its own process, the median is 166 ms, inside the 200 ms target, and the 95th percentile is 208 ms. Two caveats: these are benign tasks only, and the detector ran in rules-only mode because no trained model is packaged yet.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Abdullah Naif Al-Orabi · Time: 0:45</a:t>
            </a:r>
          </a:p>
          <a:p/>
          <a:p>
            <a:r>
              <a:t>Against the targets fixed in the proposal, four are met: median latency, benign blocking, audit replay and test coverage. Replay re-evaluated every stored decision of the benchmark runs, and each one reproduced the same action. Two results are still pending, and we want to be precise about why. The detector F1 score and the attack success rate both need attack-labelled examples. The AI assistant we used during development does not generate attack text, so these examples are written and reviewed by our team. Once they are added, make detector trains and evaluates the detector, and the benchmark's attack episodes, which the harness already validates but does not yet execute, produce the attack success rate. The deck and the report then fill in the values from the result files. Today the Arabic F1 is [pending], the English F1 is [pending] and the attack-success reduction is [pending]. We do not quote numbers we have not measured.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Abdulmalik bin Saedan (laptop), Mohammed Yasser Alanssari (phone) · Time: 0:20 + 4:30</a:t>
            </a:r>
          </a:p>
          <a:p/>
          <a:p>
            <a:r>
              <a:t>We now switch to the live system. Everything runs on this laptop: the gateway, the fictional Najd Trading Co. workspace and a local Qwen2.5 7B model through Ollama, so no real data or external service is involved. We will run the same request without and with Mirsad, decide on a paused action on the phone, and then check the audit trail.</a:t>
            </a:r>
          </a:p>
          <a:p/>
          <a:p>
            <a:r>
              <a:t>Order (details and fallback in the demo run sheet): (1) CV scenario with protection off; (2) the same request with protection on, Deny on the phone; (3) verify the hash chain and replay the decision; (4) invoice e-mail scenario with protection on; (5) Arabic interface and an Arabic scenario.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Mohammed Yasser Alanssari · Time: 0:45</a:t>
            </a:r>
          </a:p>
          <a:p/>
          <a:p>
            <a:r>
              <a:t>To conclude, we built a working drop-in gateway for MCP and OpenAI-style agents that combines policy, taint tracking, an Arabic and English detector, human approval and a verifiable audit log. On legitimate work it denied no benign call automatically and added about three milliseconds per call. The limits are clear: taint tracking at the proxy is coarser than CaMeL's data-flow tracking, concurrency was measured with one worker and SQLite, and detection accuracy and attack reduction still have to be measured. Next come the team's attack data, detector training and the F1 and attack-success measurements, then a load test with several workers and PostgreSQL, fine-tuning a multilingual encoder, and a pilot with a Saudi organisation.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Abdulmalik bin Saedan (moderator) · Time: remaining</a:t>
            </a:r>
          </a:p>
          <a:p/>
          <a:p>
            <a:r>
              <a:t>Thank you for your attention. We are happy to take questions. Each of us will answer on our own workstream: gateway and policy, detector, taint and audit, the interfaces, and the benchmark and security testing.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2.pn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1874519"/>
            <a:ext cx="6949440" cy="914400"/>
          </a:xfrm>
        </p:spPr>
        <p:txBody>
          <a:bodyPr wrap="square" anchor="t" lIns="0" rIns="0" tIns="0" bIns="0">
            <a:noAutofit/>
          </a:bodyPr>
          <a:lstStyle/>
          <a:p>
            <a:pPr algn="l"/>
            <a:r>
              <a:rPr sz="6000" b="1" i="0">
                <a:solidFill>
                  <a:srgbClr val="0B1F3A"/>
                </a:solidFill>
                <a:latin typeface="Arial"/>
              </a:rPr>
              <a:t>Mirsad</a:t>
            </a:r>
          </a:p>
        </p:txBody>
      </p:sp>
      <p:pic>
        <p:nvPicPr>
          <p:cNvPr id="3" name="Picture 2" descr="Prince Sultan University logo"/>
          <p:cNvPicPr>
            <a:picLocks noChangeAspect="1"/>
          </p:cNvPicPr>
          <p:nvPr/>
        </p:nvPicPr>
        <p:blipFill>
          <a:blip r:embed="rId2"/>
          <a:stretch>
            <a:fillRect/>
          </a:stretch>
        </p:blipFill>
        <p:spPr>
          <a:xfrm>
            <a:off x="548640" y="411480"/>
            <a:ext cx="2286000" cy="927383"/>
          </a:xfrm>
          <a:prstGeom prst="rect">
            <a:avLst/>
          </a:prstGeom>
        </p:spPr>
      </p:pic>
      <p:sp>
        <p:nvSpPr>
          <p:cNvPr id="4" name="kicker"/>
          <p:cNvSpPr txBox="1"/>
          <p:nvPr/>
        </p:nvSpPr>
        <p:spPr>
          <a:xfrm>
            <a:off x="548640" y="1572768"/>
            <a:ext cx="6949440" cy="274320"/>
          </a:xfrm>
          <a:prstGeom prst="rect">
            <a:avLst/>
          </a:prstGeom>
          <a:noFill/>
        </p:spPr>
        <p:txBody>
          <a:bodyPr wrap="square" anchor="t" lIns="0" rIns="0" tIns="0" bIns="0">
            <a:noAutofit/>
          </a:bodyPr>
          <a:lstStyle/>
          <a:p>
            <a:pPr algn="l"/>
            <a:r>
              <a:rPr sz="1400" b="1" i="0" spc="120">
                <a:solidFill>
                  <a:srgbClr val="0F766E"/>
                </a:solidFill>
                <a:latin typeface="Arial"/>
              </a:rPr>
              <a:t>IS499 SENIOR PROJECT  ·  FINAL PRESENTATION</a:t>
            </a:r>
          </a:p>
        </p:txBody>
      </p:sp>
      <p:sp>
        <p:nvSpPr>
          <p:cNvPr id="5" name="subtitle"/>
          <p:cNvSpPr txBox="1"/>
          <p:nvPr/>
        </p:nvSpPr>
        <p:spPr>
          <a:xfrm>
            <a:off x="548640" y="2834640"/>
            <a:ext cx="6949440" cy="777240"/>
          </a:xfrm>
          <a:prstGeom prst="rect">
            <a:avLst/>
          </a:prstGeom>
          <a:noFill/>
        </p:spPr>
        <p:txBody>
          <a:bodyPr wrap="square" anchor="t" lIns="0" rIns="0" tIns="0" bIns="0">
            <a:noAutofit/>
          </a:bodyPr>
          <a:lstStyle/>
          <a:p>
            <a:pPr algn="l"/>
            <a:r>
              <a:rPr sz="2200" b="0" i="0">
                <a:solidFill>
                  <a:srgbClr val="1F2937"/>
                </a:solidFill>
                <a:latin typeface="Arial"/>
              </a:rPr>
              <a:t>A runtime security firewall for AI agents</a:t>
            </a:r>
          </a:p>
          <a:p>
            <a:pPr algn="l"/>
            <a:r>
              <a:rPr sz="2200" b="0" i="0">
                <a:solidFill>
                  <a:srgbClr val="1F2937"/>
                </a:solidFill>
                <a:latin typeface="Arial"/>
              </a:rPr>
              <a:t>against prompt-injection attacks</a:t>
            </a:r>
          </a:p>
        </p:txBody>
      </p:sp>
      <p:sp>
        <p:nvSpPr>
          <p:cNvPr id="6" name="team label"/>
          <p:cNvSpPr txBox="1"/>
          <p:nvPr/>
        </p:nvSpPr>
        <p:spPr>
          <a:xfrm>
            <a:off x="548640" y="3730752"/>
            <a:ext cx="6949440" cy="274320"/>
          </a:xfrm>
          <a:prstGeom prst="rect">
            <a:avLst/>
          </a:prstGeom>
          <a:noFill/>
        </p:spPr>
        <p:txBody>
          <a:bodyPr wrap="square" anchor="t" lIns="0" rIns="0" tIns="0" bIns="0">
            <a:noAutofit/>
          </a:bodyPr>
          <a:lstStyle/>
          <a:p>
            <a:pPr algn="l"/>
            <a:r>
              <a:rPr sz="1200" b="1" i="0" spc="150">
                <a:solidFill>
                  <a:srgbClr val="5B6472"/>
                </a:solidFill>
                <a:latin typeface="Arial"/>
              </a:rPr>
              <a:t>TEAM</a:t>
            </a:r>
          </a:p>
        </p:txBody>
      </p:sp>
      <p:sp>
        <p:nvSpPr>
          <p:cNvPr id="7" name="member 0"/>
          <p:cNvSpPr txBox="1"/>
          <p:nvPr/>
        </p:nvSpPr>
        <p:spPr>
          <a:xfrm>
            <a:off x="548640" y="4005072"/>
            <a:ext cx="4937760" cy="329184"/>
          </a:xfrm>
          <a:prstGeom prst="rect">
            <a:avLst/>
          </a:prstGeom>
          <a:noFill/>
        </p:spPr>
        <p:txBody>
          <a:bodyPr wrap="square" anchor="t" lIns="0" rIns="0" tIns="0" bIns="0">
            <a:noAutofit/>
          </a:bodyPr>
          <a:lstStyle/>
          <a:p>
            <a:pPr algn="l"/>
            <a:r>
              <a:rPr sz="1800" b="0" i="0">
                <a:solidFill>
                  <a:srgbClr val="0B1F3A"/>
                </a:solidFill>
                <a:latin typeface="Arial"/>
              </a:rPr>
              <a:t>Mohammed Yasser Alanssari</a:t>
            </a:r>
          </a:p>
        </p:txBody>
      </p:sp>
      <p:sp>
        <p:nvSpPr>
          <p:cNvPr id="8" name="id 0"/>
          <p:cNvSpPr txBox="1"/>
          <p:nvPr/>
        </p:nvSpPr>
        <p:spPr>
          <a:xfrm>
            <a:off x="5577840" y="4005072"/>
            <a:ext cx="1463040" cy="329184"/>
          </a:xfrm>
          <a:prstGeom prst="rect">
            <a:avLst/>
          </a:prstGeom>
          <a:noFill/>
        </p:spPr>
        <p:txBody>
          <a:bodyPr wrap="square" anchor="t" lIns="0" rIns="0" tIns="0" bIns="0">
            <a:noAutofit/>
          </a:bodyPr>
          <a:lstStyle/>
          <a:p>
            <a:pPr algn="l"/>
            <a:r>
              <a:rPr sz="1800" b="0" i="0">
                <a:solidFill>
                  <a:srgbClr val="5B6472"/>
                </a:solidFill>
                <a:latin typeface="Arial"/>
              </a:rPr>
              <a:t>221110935</a:t>
            </a:r>
          </a:p>
        </p:txBody>
      </p:sp>
      <p:sp>
        <p:nvSpPr>
          <p:cNvPr id="9" name="member 1"/>
          <p:cNvSpPr txBox="1"/>
          <p:nvPr/>
        </p:nvSpPr>
        <p:spPr>
          <a:xfrm>
            <a:off x="548640" y="4343400"/>
            <a:ext cx="4937760" cy="329184"/>
          </a:xfrm>
          <a:prstGeom prst="rect">
            <a:avLst/>
          </a:prstGeom>
          <a:noFill/>
        </p:spPr>
        <p:txBody>
          <a:bodyPr wrap="square" anchor="t" lIns="0" rIns="0" tIns="0" bIns="0">
            <a:noAutofit/>
          </a:bodyPr>
          <a:lstStyle/>
          <a:p>
            <a:pPr algn="l"/>
            <a:r>
              <a:rPr sz="1800" b="0" i="0">
                <a:solidFill>
                  <a:srgbClr val="0B1F3A"/>
                </a:solidFill>
                <a:latin typeface="Arial"/>
              </a:rPr>
              <a:t>Bader Alshuraie</a:t>
            </a:r>
          </a:p>
        </p:txBody>
      </p:sp>
      <p:sp>
        <p:nvSpPr>
          <p:cNvPr id="10" name="id 1"/>
          <p:cNvSpPr txBox="1"/>
          <p:nvPr/>
        </p:nvSpPr>
        <p:spPr>
          <a:xfrm>
            <a:off x="5577840" y="4343400"/>
            <a:ext cx="1463040" cy="329184"/>
          </a:xfrm>
          <a:prstGeom prst="rect">
            <a:avLst/>
          </a:prstGeom>
          <a:noFill/>
        </p:spPr>
        <p:txBody>
          <a:bodyPr wrap="square" anchor="t" lIns="0" rIns="0" tIns="0" bIns="0">
            <a:noAutofit/>
          </a:bodyPr>
          <a:lstStyle/>
          <a:p>
            <a:pPr algn="l"/>
            <a:r>
              <a:rPr sz="1800" b="0" i="0">
                <a:solidFill>
                  <a:srgbClr val="5B6472"/>
                </a:solidFill>
                <a:latin typeface="Arial"/>
              </a:rPr>
              <a:t>221110016</a:t>
            </a:r>
          </a:p>
        </p:txBody>
      </p:sp>
      <p:sp>
        <p:nvSpPr>
          <p:cNvPr id="11" name="member 2"/>
          <p:cNvSpPr txBox="1"/>
          <p:nvPr/>
        </p:nvSpPr>
        <p:spPr>
          <a:xfrm>
            <a:off x="548640" y="4681728"/>
            <a:ext cx="4937760" cy="329184"/>
          </a:xfrm>
          <a:prstGeom prst="rect">
            <a:avLst/>
          </a:prstGeom>
          <a:noFill/>
        </p:spPr>
        <p:txBody>
          <a:bodyPr wrap="square" anchor="t" lIns="0" rIns="0" tIns="0" bIns="0">
            <a:noAutofit/>
          </a:bodyPr>
          <a:lstStyle/>
          <a:p>
            <a:pPr algn="l"/>
            <a:r>
              <a:rPr sz="1800" b="0" i="0">
                <a:solidFill>
                  <a:srgbClr val="0B1F3A"/>
                </a:solidFill>
                <a:latin typeface="Arial"/>
              </a:rPr>
              <a:t>Bader Abdullah Abbod Alyamini</a:t>
            </a:r>
          </a:p>
        </p:txBody>
      </p:sp>
      <p:sp>
        <p:nvSpPr>
          <p:cNvPr id="12" name="id 2"/>
          <p:cNvSpPr txBox="1"/>
          <p:nvPr/>
        </p:nvSpPr>
        <p:spPr>
          <a:xfrm>
            <a:off x="5577840" y="4681728"/>
            <a:ext cx="1463040" cy="329184"/>
          </a:xfrm>
          <a:prstGeom prst="rect">
            <a:avLst/>
          </a:prstGeom>
          <a:noFill/>
        </p:spPr>
        <p:txBody>
          <a:bodyPr wrap="square" anchor="t" lIns="0" rIns="0" tIns="0" bIns="0">
            <a:noAutofit/>
          </a:bodyPr>
          <a:lstStyle/>
          <a:p>
            <a:pPr algn="l"/>
            <a:r>
              <a:rPr sz="1800" b="0" i="0">
                <a:solidFill>
                  <a:srgbClr val="5B6472"/>
                </a:solidFill>
                <a:latin typeface="Arial"/>
              </a:rPr>
              <a:t>221110197</a:t>
            </a:r>
          </a:p>
        </p:txBody>
      </p:sp>
      <p:sp>
        <p:nvSpPr>
          <p:cNvPr id="13" name="member 3"/>
          <p:cNvSpPr txBox="1"/>
          <p:nvPr/>
        </p:nvSpPr>
        <p:spPr>
          <a:xfrm>
            <a:off x="548640" y="5020056"/>
            <a:ext cx="4937760" cy="329184"/>
          </a:xfrm>
          <a:prstGeom prst="rect">
            <a:avLst/>
          </a:prstGeom>
          <a:noFill/>
        </p:spPr>
        <p:txBody>
          <a:bodyPr wrap="square" anchor="t" lIns="0" rIns="0" tIns="0" bIns="0">
            <a:noAutofit/>
          </a:bodyPr>
          <a:lstStyle/>
          <a:p>
            <a:pPr algn="l"/>
            <a:r>
              <a:rPr sz="1800" b="0" i="0">
                <a:solidFill>
                  <a:srgbClr val="0B1F3A"/>
                </a:solidFill>
                <a:latin typeface="Arial"/>
              </a:rPr>
              <a:t>Abdulmalik bin Saedan</a:t>
            </a:r>
          </a:p>
        </p:txBody>
      </p:sp>
      <p:sp>
        <p:nvSpPr>
          <p:cNvPr id="14" name="id 3"/>
          <p:cNvSpPr txBox="1"/>
          <p:nvPr/>
        </p:nvSpPr>
        <p:spPr>
          <a:xfrm>
            <a:off x="5577840" y="5020056"/>
            <a:ext cx="1463040" cy="329184"/>
          </a:xfrm>
          <a:prstGeom prst="rect">
            <a:avLst/>
          </a:prstGeom>
          <a:noFill/>
        </p:spPr>
        <p:txBody>
          <a:bodyPr wrap="square" anchor="t" lIns="0" rIns="0" tIns="0" bIns="0">
            <a:noAutofit/>
          </a:bodyPr>
          <a:lstStyle/>
          <a:p>
            <a:pPr algn="l"/>
            <a:r>
              <a:rPr sz="1800" b="0" i="0">
                <a:solidFill>
                  <a:srgbClr val="5B6472"/>
                </a:solidFill>
                <a:latin typeface="Arial"/>
              </a:rPr>
              <a:t>221110958</a:t>
            </a:r>
          </a:p>
        </p:txBody>
      </p:sp>
      <p:sp>
        <p:nvSpPr>
          <p:cNvPr id="15" name="member 4"/>
          <p:cNvSpPr txBox="1"/>
          <p:nvPr/>
        </p:nvSpPr>
        <p:spPr>
          <a:xfrm>
            <a:off x="548640" y="5358383"/>
            <a:ext cx="4937760" cy="329184"/>
          </a:xfrm>
          <a:prstGeom prst="rect">
            <a:avLst/>
          </a:prstGeom>
          <a:noFill/>
        </p:spPr>
        <p:txBody>
          <a:bodyPr wrap="square" anchor="t" lIns="0" rIns="0" tIns="0" bIns="0">
            <a:noAutofit/>
          </a:bodyPr>
          <a:lstStyle/>
          <a:p>
            <a:pPr algn="l"/>
            <a:r>
              <a:rPr sz="1800" b="0" i="0">
                <a:solidFill>
                  <a:srgbClr val="0B1F3A"/>
                </a:solidFill>
                <a:latin typeface="Arial"/>
              </a:rPr>
              <a:t>Abdullah Naif Abdullah Al-Orabi</a:t>
            </a:r>
          </a:p>
        </p:txBody>
      </p:sp>
      <p:sp>
        <p:nvSpPr>
          <p:cNvPr id="16" name="id 4"/>
          <p:cNvSpPr txBox="1"/>
          <p:nvPr/>
        </p:nvSpPr>
        <p:spPr>
          <a:xfrm>
            <a:off x="5577840" y="5358383"/>
            <a:ext cx="1463040" cy="329184"/>
          </a:xfrm>
          <a:prstGeom prst="rect">
            <a:avLst/>
          </a:prstGeom>
          <a:noFill/>
        </p:spPr>
        <p:txBody>
          <a:bodyPr wrap="square" anchor="t" lIns="0" rIns="0" tIns="0" bIns="0">
            <a:noAutofit/>
          </a:bodyPr>
          <a:lstStyle/>
          <a:p>
            <a:pPr algn="l"/>
            <a:r>
              <a:rPr sz="1800" b="0" i="0">
                <a:solidFill>
                  <a:srgbClr val="5B6472"/>
                </a:solidFill>
                <a:latin typeface="Arial"/>
              </a:rPr>
              <a:t>222110432</a:t>
            </a:r>
          </a:p>
        </p:txBody>
      </p:sp>
      <p:sp>
        <p:nvSpPr>
          <p:cNvPr id="17" name="supervisor"/>
          <p:cNvSpPr txBox="1"/>
          <p:nvPr/>
        </p:nvSpPr>
        <p:spPr>
          <a:xfrm>
            <a:off x="548640" y="5760720"/>
            <a:ext cx="6949440" cy="329184"/>
          </a:xfrm>
          <a:prstGeom prst="rect">
            <a:avLst/>
          </a:prstGeom>
          <a:noFill/>
        </p:spPr>
        <p:txBody>
          <a:bodyPr wrap="square" anchor="t" lIns="0" rIns="0" tIns="0" bIns="0">
            <a:noAutofit/>
          </a:bodyPr>
          <a:lstStyle/>
          <a:p>
            <a:pPr algn="l"/>
            <a:r>
              <a:rPr sz="1800" b="0" i="0">
                <a:solidFill>
                  <a:srgbClr val="5B6472"/>
                </a:solidFill>
                <a:latin typeface="Arial"/>
              </a:rPr>
              <a:t>Supervisor  </a:t>
            </a:r>
            <a:r>
              <a:rPr sz="1800" b="1" i="0">
                <a:solidFill>
                  <a:srgbClr val="0B1F3A"/>
                </a:solidFill>
                <a:latin typeface="Arial"/>
              </a:rPr>
              <a:t>Dr. Omaia Al-Omari</a:t>
            </a:r>
          </a:p>
        </p:txBody>
      </p:sp>
      <p:sp>
        <p:nvSpPr>
          <p:cNvPr id="18" name="college"/>
          <p:cNvSpPr txBox="1"/>
          <p:nvPr/>
        </p:nvSpPr>
        <p:spPr>
          <a:xfrm>
            <a:off x="548640" y="6217920"/>
            <a:ext cx="7132320" cy="384048"/>
          </a:xfrm>
          <a:prstGeom prst="rect">
            <a:avLst/>
          </a:prstGeom>
          <a:noFill/>
        </p:spPr>
        <p:txBody>
          <a:bodyPr wrap="square" anchor="t" lIns="0" rIns="0" tIns="0" bIns="0">
            <a:noAutofit/>
          </a:bodyPr>
          <a:lstStyle/>
          <a:p>
            <a:pPr algn="l"/>
            <a:r>
              <a:rPr sz="1050" b="0" i="0">
                <a:solidFill>
                  <a:srgbClr val="5B6472"/>
                </a:solidFill>
                <a:latin typeface="Arial"/>
              </a:rPr>
              <a:t>College of Computer &amp; Information Sciences  ·  Information Systems Department  ·  Academic Year 2026–2027</a:t>
            </a:r>
          </a:p>
        </p:txBody>
      </p:sp>
      <p:sp>
        <p:nvSpPr>
          <p:cNvPr id="19" name="brand panel"/>
          <p:cNvSpPr/>
          <p:nvPr/>
        </p:nvSpPr>
        <p:spPr>
          <a:xfrm>
            <a:off x="8092440" y="0"/>
            <a:ext cx="409925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Mirsad logo: an eye under a roof"/>
          <p:cNvPicPr>
            <a:picLocks noChangeAspect="1"/>
          </p:cNvPicPr>
          <p:nvPr/>
        </p:nvPicPr>
        <p:blipFill>
          <a:blip r:embed="rId3"/>
          <a:stretch>
            <a:fillRect/>
          </a:stretch>
        </p:blipFill>
        <p:spPr>
          <a:xfrm>
            <a:off x="9227667" y="1417320"/>
            <a:ext cx="1828800" cy="1828800"/>
          </a:xfrm>
          <a:prstGeom prst="rect">
            <a:avLst/>
          </a:prstGeom>
        </p:spPr>
      </p:pic>
      <p:sp>
        <p:nvSpPr>
          <p:cNvPr id="21" name="arabic name"/>
          <p:cNvSpPr txBox="1"/>
          <p:nvPr/>
        </p:nvSpPr>
        <p:spPr>
          <a:xfrm>
            <a:off x="8092440" y="3429000"/>
            <a:ext cx="4099255" cy="777240"/>
          </a:xfrm>
          <a:prstGeom prst="rect">
            <a:avLst/>
          </a:prstGeom>
          <a:noFill/>
        </p:spPr>
        <p:txBody>
          <a:bodyPr wrap="square" anchor="t" lIns="0" rIns="0" tIns="0" bIns="0">
            <a:noAutofit/>
          </a:bodyPr>
          <a:lstStyle/>
          <a:p>
            <a:pPr algn="ctr" rtl="1"/>
            <a:r>
              <a:rPr sz="4800" b="1" i="0" lang="ar-SA">
                <a:solidFill>
                  <a:srgbClr val="2DD4BF"/>
                </a:solidFill>
                <a:latin typeface="Arial"/>
                <a:cs typeface="Arial"/>
              </a:rPr>
              <a:t>مرصاد</a:t>
            </a:r>
          </a:p>
        </p:txBody>
      </p:sp>
      <p:sp>
        <p:nvSpPr>
          <p:cNvPr id="22" name="meaning"/>
          <p:cNvSpPr txBox="1"/>
          <p:nvPr/>
        </p:nvSpPr>
        <p:spPr>
          <a:xfrm>
            <a:off x="8092440" y="4251960"/>
            <a:ext cx="4099255" cy="365760"/>
          </a:xfrm>
          <a:prstGeom prst="rect">
            <a:avLst/>
          </a:prstGeom>
          <a:noFill/>
        </p:spPr>
        <p:txBody>
          <a:bodyPr wrap="square" anchor="t" lIns="0" rIns="0" tIns="0" bIns="0">
            <a:noAutofit/>
          </a:bodyPr>
          <a:lstStyle/>
          <a:p>
            <a:pPr algn="ctr"/>
            <a:r>
              <a:rPr sz="1800" b="0" i="1">
                <a:solidFill>
                  <a:srgbClr val="D5DBE3"/>
                </a:solidFill>
                <a:latin typeface="Arial"/>
              </a:rPr>
              <a:t>“watchtower”</a:t>
            </a:r>
          </a:p>
        </p:txBody>
      </p:sp>
      <p:sp>
        <p:nvSpPr>
          <p:cNvPr id="23" name="tagline"/>
          <p:cNvSpPr txBox="1"/>
          <p:nvPr/>
        </p:nvSpPr>
        <p:spPr>
          <a:xfrm>
            <a:off x="8549640" y="4983480"/>
            <a:ext cx="3184855" cy="822960"/>
          </a:xfrm>
          <a:prstGeom prst="rect">
            <a:avLst/>
          </a:prstGeom>
          <a:noFill/>
        </p:spPr>
        <p:txBody>
          <a:bodyPr wrap="square" anchor="t" lIns="0" rIns="0" tIns="0" bIns="0">
            <a:noAutofit/>
          </a:bodyPr>
          <a:lstStyle/>
          <a:p>
            <a:pPr algn="ctr"/>
            <a:r>
              <a:rPr sz="1800" b="0" i="0">
                <a:solidFill>
                  <a:srgbClr val="FFFFFF"/>
                </a:solidFill>
                <a:latin typeface="Arial"/>
              </a:rPr>
              <a:t>Inspects every tool call and every tool result of an AI agent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11094415" cy="731520"/>
          </a:xfrm>
        </p:spPr>
        <p:txBody>
          <a:bodyPr wrap="square" anchor="t" lIns="0" rIns="0" tIns="0" bIns="0">
            <a:noAutofit/>
          </a:bodyPr>
          <a:lstStyle/>
          <a:p>
            <a:pPr algn="l"/>
            <a:r>
              <a:rPr sz="3000" b="1" i="0">
                <a:solidFill>
                  <a:srgbClr val="0B1F3A"/>
                </a:solidFill>
                <a:latin typeface="Arial"/>
              </a:rPr>
              <a:t>Agents obey instructions hidden in the data they read</a:t>
            </a:r>
          </a:p>
        </p:txBody>
      </p:sp>
      <p:sp>
        <p:nvSpPr>
          <p:cNvPr id="3" name="kicker"/>
          <p:cNvSpPr txBox="1"/>
          <p:nvPr/>
        </p:nvSpPr>
        <p:spPr>
          <a:xfrm>
            <a:off x="548640" y="274320"/>
            <a:ext cx="7315200" cy="274320"/>
          </a:xfrm>
          <a:prstGeom prst="rect">
            <a:avLst/>
          </a:prstGeom>
          <a:noFill/>
        </p:spPr>
        <p:txBody>
          <a:bodyPr wrap="square" anchor="t" lIns="0" rIns="0" tIns="0" bIns="0">
            <a:noAutofit/>
          </a:bodyPr>
          <a:lstStyle/>
          <a:p>
            <a:pPr algn="l"/>
            <a:r>
              <a:rPr sz="1200" b="1" i="0" spc="150">
                <a:solidFill>
                  <a:srgbClr val="0F766E"/>
                </a:solidFill>
                <a:latin typeface="Arial"/>
              </a:rPr>
              <a:t>INTRODUCTION · THE PROBLEM</a:t>
            </a:r>
          </a:p>
        </p:txBody>
      </p:sp>
      <p:sp>
        <p:nvSpPr>
          <p:cNvPr id="4" name="step card 1"/>
          <p:cNvSpPr/>
          <p:nvPr/>
        </p:nvSpPr>
        <p:spPr>
          <a:xfrm>
            <a:off x="548640" y="1691640"/>
            <a:ext cx="3246120" cy="2606040"/>
          </a:xfrm>
          <a:prstGeom prst="roundRect">
            <a:avLst>
              <a:gd name="adj" fmla="val 6315"/>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adge"/>
          <p:cNvSpPr/>
          <p:nvPr/>
        </p:nvSpPr>
        <p:spPr>
          <a:xfrm>
            <a:off x="868680" y="2011680"/>
            <a:ext cx="566928" cy="56692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i="0">
                <a:solidFill>
                  <a:srgbClr val="FFFFFF"/>
                </a:solidFill>
                <a:latin typeface="Arial"/>
              </a:rPr>
              <a:t>1</a:t>
            </a:r>
          </a:p>
        </p:txBody>
      </p:sp>
      <p:sp>
        <p:nvSpPr>
          <p:cNvPr id="6" name="step head 1"/>
          <p:cNvSpPr txBox="1"/>
          <p:nvPr/>
        </p:nvSpPr>
        <p:spPr>
          <a:xfrm>
            <a:off x="868680" y="2761488"/>
            <a:ext cx="2606039" cy="411480"/>
          </a:xfrm>
          <a:prstGeom prst="rect">
            <a:avLst/>
          </a:prstGeom>
          <a:noFill/>
        </p:spPr>
        <p:txBody>
          <a:bodyPr wrap="square" anchor="t" lIns="0" rIns="0" tIns="0" bIns="0">
            <a:noAutofit/>
          </a:bodyPr>
          <a:lstStyle/>
          <a:p>
            <a:pPr algn="l"/>
            <a:r>
              <a:rPr sz="2200" b="1" i="0">
                <a:solidFill>
                  <a:srgbClr val="0B1F3A"/>
                </a:solidFill>
                <a:latin typeface="Arial"/>
              </a:rPr>
              <a:t>Attacker plants text</a:t>
            </a:r>
          </a:p>
        </p:txBody>
      </p:sp>
      <p:sp>
        <p:nvSpPr>
          <p:cNvPr id="7" name="step body 1"/>
          <p:cNvSpPr txBox="1"/>
          <p:nvPr/>
        </p:nvSpPr>
        <p:spPr>
          <a:xfrm>
            <a:off x="868680" y="3246120"/>
            <a:ext cx="2606039" cy="914400"/>
          </a:xfrm>
          <a:prstGeom prst="rect">
            <a:avLst/>
          </a:prstGeom>
          <a:noFill/>
        </p:spPr>
        <p:txBody>
          <a:bodyPr wrap="square" anchor="t" lIns="0" rIns="0" tIns="0" bIns="0">
            <a:noAutofit/>
          </a:bodyPr>
          <a:lstStyle/>
          <a:p>
            <a:pPr algn="l"/>
            <a:r>
              <a:rPr sz="1800" b="0" i="0">
                <a:solidFill>
                  <a:srgbClr val="1F2937"/>
                </a:solidFill>
                <a:latin typeface="Arial"/>
              </a:rPr>
              <a:t>with hidden instructions in an e-mail, web page, CV or CRM note</a:t>
            </a:r>
          </a:p>
        </p:txBody>
      </p:sp>
      <p:sp>
        <p:nvSpPr>
          <p:cNvPr id="8" name="arrow"/>
          <p:cNvSpPr/>
          <p:nvPr/>
        </p:nvSpPr>
        <p:spPr>
          <a:xfrm>
            <a:off x="3945635" y="2811780"/>
            <a:ext cx="365760" cy="36576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tep card 2"/>
          <p:cNvSpPr/>
          <p:nvPr/>
        </p:nvSpPr>
        <p:spPr>
          <a:xfrm>
            <a:off x="4462271" y="1691640"/>
            <a:ext cx="3246120" cy="2606040"/>
          </a:xfrm>
          <a:prstGeom prst="roundRect">
            <a:avLst>
              <a:gd name="adj" fmla="val 6315"/>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adge"/>
          <p:cNvSpPr/>
          <p:nvPr/>
        </p:nvSpPr>
        <p:spPr>
          <a:xfrm>
            <a:off x="4782311" y="2011680"/>
            <a:ext cx="566928" cy="56692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i="0">
                <a:solidFill>
                  <a:srgbClr val="FFFFFF"/>
                </a:solidFill>
                <a:latin typeface="Arial"/>
              </a:rPr>
              <a:t>2</a:t>
            </a:r>
          </a:p>
        </p:txBody>
      </p:sp>
      <p:sp>
        <p:nvSpPr>
          <p:cNvPr id="11" name="step head 2"/>
          <p:cNvSpPr txBox="1"/>
          <p:nvPr/>
        </p:nvSpPr>
        <p:spPr>
          <a:xfrm>
            <a:off x="4782311" y="2761488"/>
            <a:ext cx="2606039" cy="411480"/>
          </a:xfrm>
          <a:prstGeom prst="rect">
            <a:avLst/>
          </a:prstGeom>
          <a:noFill/>
        </p:spPr>
        <p:txBody>
          <a:bodyPr wrap="square" anchor="t" lIns="0" rIns="0" tIns="0" bIns="0">
            <a:noAutofit/>
          </a:bodyPr>
          <a:lstStyle/>
          <a:p>
            <a:pPr algn="l"/>
            <a:r>
              <a:rPr sz="2200" b="1" i="0">
                <a:solidFill>
                  <a:srgbClr val="0B1F3A"/>
                </a:solidFill>
                <a:latin typeface="Arial"/>
              </a:rPr>
              <a:t>Agent reads it</a:t>
            </a:r>
          </a:p>
        </p:txBody>
      </p:sp>
      <p:sp>
        <p:nvSpPr>
          <p:cNvPr id="12" name="step body 2"/>
          <p:cNvSpPr txBox="1"/>
          <p:nvPr/>
        </p:nvSpPr>
        <p:spPr>
          <a:xfrm>
            <a:off x="4782311" y="3246120"/>
            <a:ext cx="2606039" cy="914400"/>
          </a:xfrm>
          <a:prstGeom prst="rect">
            <a:avLst/>
          </a:prstGeom>
          <a:noFill/>
        </p:spPr>
        <p:txBody>
          <a:bodyPr wrap="square" anchor="t" lIns="0" rIns="0" tIns="0" bIns="0">
            <a:noAutofit/>
          </a:bodyPr>
          <a:lstStyle/>
          <a:p>
            <a:pPr algn="l"/>
            <a:r>
              <a:rPr sz="1800" b="0" i="0">
                <a:solidFill>
                  <a:srgbClr val="1F2937"/>
                </a:solidFill>
                <a:latin typeface="Arial"/>
              </a:rPr>
              <a:t>while doing a normal task for its user</a:t>
            </a:r>
          </a:p>
        </p:txBody>
      </p:sp>
      <p:sp>
        <p:nvSpPr>
          <p:cNvPr id="13" name="arrow"/>
          <p:cNvSpPr/>
          <p:nvPr/>
        </p:nvSpPr>
        <p:spPr>
          <a:xfrm>
            <a:off x="7859267" y="2811780"/>
            <a:ext cx="365760" cy="36576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tep card 3"/>
          <p:cNvSpPr/>
          <p:nvPr/>
        </p:nvSpPr>
        <p:spPr>
          <a:xfrm>
            <a:off x="8375903" y="1691640"/>
            <a:ext cx="3246120" cy="2606040"/>
          </a:xfrm>
          <a:prstGeom prst="roundRect">
            <a:avLst>
              <a:gd name="adj" fmla="val 6315"/>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adge"/>
          <p:cNvSpPr/>
          <p:nvPr/>
        </p:nvSpPr>
        <p:spPr>
          <a:xfrm>
            <a:off x="8695943" y="2011680"/>
            <a:ext cx="566928" cy="566928"/>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i="0">
                <a:solidFill>
                  <a:srgbClr val="FFFFFF"/>
                </a:solidFill>
                <a:latin typeface="Arial"/>
              </a:rPr>
              <a:t>3</a:t>
            </a:r>
          </a:p>
        </p:txBody>
      </p:sp>
      <p:sp>
        <p:nvSpPr>
          <p:cNvPr id="16" name="step head 3"/>
          <p:cNvSpPr txBox="1"/>
          <p:nvPr/>
        </p:nvSpPr>
        <p:spPr>
          <a:xfrm>
            <a:off x="8695943" y="2761488"/>
            <a:ext cx="2606039" cy="411480"/>
          </a:xfrm>
          <a:prstGeom prst="rect">
            <a:avLst/>
          </a:prstGeom>
          <a:noFill/>
        </p:spPr>
        <p:txBody>
          <a:bodyPr wrap="square" anchor="t" lIns="0" rIns="0" tIns="0" bIns="0">
            <a:noAutofit/>
          </a:bodyPr>
          <a:lstStyle/>
          <a:p>
            <a:pPr algn="l"/>
            <a:r>
              <a:rPr sz="2200" b="1" i="0">
                <a:solidFill>
                  <a:srgbClr val="0B1F3A"/>
                </a:solidFill>
                <a:latin typeface="Arial"/>
              </a:rPr>
              <a:t>Agent acts on it</a:t>
            </a:r>
          </a:p>
        </p:txBody>
      </p:sp>
      <p:sp>
        <p:nvSpPr>
          <p:cNvPr id="17" name="step body 3"/>
          <p:cNvSpPr txBox="1"/>
          <p:nvPr/>
        </p:nvSpPr>
        <p:spPr>
          <a:xfrm>
            <a:off x="8695943" y="3246120"/>
            <a:ext cx="2606039" cy="914400"/>
          </a:xfrm>
          <a:prstGeom prst="rect">
            <a:avLst/>
          </a:prstGeom>
          <a:noFill/>
        </p:spPr>
        <p:txBody>
          <a:bodyPr wrap="square" anchor="t" lIns="0" rIns="0" tIns="0" bIns="0">
            <a:noAutofit/>
          </a:bodyPr>
          <a:lstStyle/>
          <a:p>
            <a:pPr algn="l"/>
            <a:r>
              <a:rPr sz="1800" b="0" i="0">
                <a:solidFill>
                  <a:srgbClr val="1F2937"/>
                </a:solidFill>
                <a:latin typeface="Arial"/>
              </a:rPr>
              <a:t>exports data, sends money or deletes records with its own permissions</a:t>
            </a:r>
          </a:p>
        </p:txBody>
      </p:sp>
      <p:sp>
        <p:nvSpPr>
          <p:cNvPr id="18" name="callout"/>
          <p:cNvSpPr/>
          <p:nvPr/>
        </p:nvSpPr>
        <p:spPr>
          <a:xfrm>
            <a:off x="548640" y="4709160"/>
            <a:ext cx="11094415" cy="1234440"/>
          </a:xfrm>
          <a:prstGeom prst="roundRect">
            <a:avLst>
              <a:gd name="adj" fmla="val 13333"/>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allout text"/>
          <p:cNvSpPr txBox="1"/>
          <p:nvPr/>
        </p:nvSpPr>
        <p:spPr>
          <a:xfrm>
            <a:off x="960120" y="4709160"/>
            <a:ext cx="10271455" cy="1234440"/>
          </a:xfrm>
          <a:prstGeom prst="rect">
            <a:avLst/>
          </a:prstGeom>
          <a:noFill/>
        </p:spPr>
        <p:txBody>
          <a:bodyPr wrap="square" anchor="ctr" lIns="0" rIns="0" tIns="0" bIns="0">
            <a:noAutofit/>
          </a:bodyPr>
          <a:lstStyle/>
          <a:p>
            <a:pPr algn="l"/>
            <a:r>
              <a:rPr sz="2000" b="1" i="0">
                <a:solidFill>
                  <a:srgbClr val="2DD4BF"/>
                </a:solidFill>
                <a:latin typeface="Arial"/>
              </a:rPr>
              <a:t>Firewalls, IAM and DLP </a:t>
            </a:r>
            <a:r>
              <a:rPr sz="2000" b="0" i="0">
                <a:solidFill>
                  <a:srgbClr val="FFFFFF"/>
                </a:solidFill>
                <a:latin typeface="Arial"/>
              </a:rPr>
              <a:t>see an authorised agent making a normal API call. </a:t>
            </a:r>
            <a:r>
              <a:rPr sz="2000" b="1" i="0">
                <a:solidFill>
                  <a:srgbClr val="FFFFFF"/>
                </a:solidFill>
                <a:latin typeface="Arial"/>
              </a:rPr>
              <a:t>The control has to sit at the tool call.</a:t>
            </a:r>
          </a:p>
        </p:txBody>
      </p:sp>
      <p:pic>
        <p:nvPicPr>
          <p:cNvPr id="20" name="Picture 19" descr="Mirsad logo"/>
          <p:cNvPicPr>
            <a:picLocks noChangeAspect="1"/>
          </p:cNvPicPr>
          <p:nvPr/>
        </p:nvPicPr>
        <p:blipFill>
          <a:blip r:embed="rId2"/>
          <a:stretch>
            <a:fillRect/>
          </a:stretch>
        </p:blipFill>
        <p:spPr>
          <a:xfrm>
            <a:off x="548640" y="6419088"/>
            <a:ext cx="219456" cy="219456"/>
          </a:xfrm>
          <a:prstGeom prst="rect">
            <a:avLst/>
          </a:prstGeom>
        </p:spPr>
      </p:pic>
      <p:sp>
        <p:nvSpPr>
          <p:cNvPr id="21" name="footer"/>
          <p:cNvSpPr txBox="1"/>
          <p:nvPr/>
        </p:nvSpPr>
        <p:spPr>
          <a:xfrm>
            <a:off x="859536" y="6437376"/>
            <a:ext cx="6400800" cy="219456"/>
          </a:xfrm>
          <a:prstGeom prst="rect">
            <a:avLst/>
          </a:prstGeom>
          <a:noFill/>
        </p:spPr>
        <p:txBody>
          <a:bodyPr wrap="square" anchor="t" lIns="0" rIns="0" tIns="0" bIns="0">
            <a:noAutofit/>
          </a:bodyPr>
          <a:lstStyle/>
          <a:p>
            <a:pPr algn="l"/>
            <a:r>
              <a:rPr sz="1000" b="0" i="0">
                <a:solidFill>
                  <a:srgbClr val="5B6472"/>
                </a:solidFill>
                <a:latin typeface="Arial"/>
              </a:rPr>
              <a:t>Mirsad </a:t>
            </a:r>
            <a:r>
              <a:rPr sz="1000" b="0" i="0" lang="ar-SA">
                <a:solidFill>
                  <a:srgbClr val="5B6472"/>
                </a:solidFill>
                <a:latin typeface="Arial"/>
                <a:cs typeface="Arial"/>
              </a:rPr>
              <a:t>مرصاد</a:t>
            </a:r>
            <a:r>
              <a:rPr sz="1000" b="0" i="0">
                <a:solidFill>
                  <a:srgbClr val="5B6472"/>
                </a:solidFill>
                <a:latin typeface="Arial"/>
              </a:rPr>
              <a:t>  ·  IS499 Senior Project  ·  Prince Sultan University</a:t>
            </a:r>
          </a:p>
        </p:txBody>
      </p:sp>
      <p:sp>
        <p:nvSpPr>
          <p:cNvPr id="22" name="slide number"/>
          <p:cNvSpPr txBox="1"/>
          <p:nvPr/>
        </p:nvSpPr>
        <p:spPr>
          <a:xfrm>
            <a:off x="10545775" y="6419088"/>
            <a:ext cx="1097280" cy="237744"/>
          </a:xfrm>
          <a:prstGeom prst="rect">
            <a:avLst/>
          </a:prstGeom>
          <a:noFill/>
        </p:spPr>
        <p:txBody>
          <a:bodyPr wrap="square" anchor="t" lIns="0" rIns="0" tIns="0" bIns="0">
            <a:noAutofit/>
          </a:bodyPr>
          <a:lstStyle/>
          <a:p>
            <a:pPr algn="r"/>
            <a:r>
              <a:rPr sz="1100" b="0" i="0">
                <a:solidFill>
                  <a:srgbClr val="5B6472"/>
                </a:solidFill>
                <a:latin typeface="Arial"/>
              </a:rPr>
              <a:t>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11094415" cy="731520"/>
          </a:xfrm>
        </p:spPr>
        <p:txBody>
          <a:bodyPr wrap="square" anchor="t" lIns="0" rIns="0" tIns="0" bIns="0">
            <a:noAutofit/>
          </a:bodyPr>
          <a:lstStyle/>
          <a:p>
            <a:pPr algn="l"/>
            <a:r>
              <a:rPr sz="3000" b="1" i="0">
                <a:solidFill>
                  <a:srgbClr val="0B1F3A"/>
                </a:solidFill>
                <a:latin typeface="Arial"/>
              </a:rPr>
              <a:t>Why this matters for Saudi organisations</a:t>
            </a:r>
          </a:p>
        </p:txBody>
      </p:sp>
      <p:sp>
        <p:nvSpPr>
          <p:cNvPr id="3" name="kicker"/>
          <p:cNvSpPr txBox="1"/>
          <p:nvPr/>
        </p:nvSpPr>
        <p:spPr>
          <a:xfrm>
            <a:off x="548640" y="274320"/>
            <a:ext cx="7315200" cy="274320"/>
          </a:xfrm>
          <a:prstGeom prst="rect">
            <a:avLst/>
          </a:prstGeom>
          <a:noFill/>
        </p:spPr>
        <p:txBody>
          <a:bodyPr wrap="square" anchor="t" lIns="0" rIns="0" tIns="0" bIns="0">
            <a:noAutofit/>
          </a:bodyPr>
          <a:lstStyle/>
          <a:p>
            <a:pPr algn="l"/>
            <a:r>
              <a:rPr sz="1200" b="1" i="0" spc="150">
                <a:solidFill>
                  <a:srgbClr val="0F766E"/>
                </a:solidFill>
                <a:latin typeface="Arial"/>
              </a:rPr>
              <a:t>INTRODUCTION · MOTIVATION</a:t>
            </a:r>
          </a:p>
        </p:txBody>
      </p:sp>
      <p:sp>
        <p:nvSpPr>
          <p:cNvPr id="4" name="card 1"/>
          <p:cNvSpPr/>
          <p:nvPr/>
        </p:nvSpPr>
        <p:spPr>
          <a:xfrm>
            <a:off x="548640" y="1645920"/>
            <a:ext cx="3456432" cy="4343400"/>
          </a:xfrm>
          <a:prstGeom prst="roundRect">
            <a:avLst>
              <a:gd name="adj" fmla="val 4761"/>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icon 1"/>
          <p:cNvSpPr/>
          <p:nvPr/>
        </p:nvSpPr>
        <p:spPr>
          <a:xfrm>
            <a:off x="914400" y="2011680"/>
            <a:ext cx="731520" cy="73152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400" b="1" i="0">
                <a:solidFill>
                  <a:srgbClr val="FFFFFF"/>
                </a:solidFill>
                <a:latin typeface="Arial"/>
              </a:rPr>
              <a:t>#1</a:t>
            </a:r>
          </a:p>
        </p:txBody>
      </p:sp>
      <p:sp>
        <p:nvSpPr>
          <p:cNvPr id="6" name="card head 1"/>
          <p:cNvSpPr txBox="1"/>
          <p:nvPr/>
        </p:nvSpPr>
        <p:spPr>
          <a:xfrm>
            <a:off x="914400" y="2971800"/>
            <a:ext cx="2724911" cy="548640"/>
          </a:xfrm>
          <a:prstGeom prst="rect">
            <a:avLst/>
          </a:prstGeom>
          <a:noFill/>
        </p:spPr>
        <p:txBody>
          <a:bodyPr wrap="square" anchor="t" lIns="0" rIns="0" tIns="0" bIns="0">
            <a:noAutofit/>
          </a:bodyPr>
          <a:lstStyle/>
          <a:p>
            <a:pPr algn="l"/>
            <a:r>
              <a:rPr sz="2400" b="1" i="0">
                <a:solidFill>
                  <a:srgbClr val="0B1F3A"/>
                </a:solidFill>
                <a:latin typeface="Arial"/>
              </a:rPr>
              <a:t>LLM01</a:t>
            </a:r>
          </a:p>
        </p:txBody>
      </p:sp>
      <p:sp>
        <p:nvSpPr>
          <p:cNvPr id="7" name="card body 1"/>
          <p:cNvSpPr txBox="1"/>
          <p:nvPr/>
        </p:nvSpPr>
        <p:spPr>
          <a:xfrm>
            <a:off x="914400" y="3611880"/>
            <a:ext cx="2724911" cy="1417320"/>
          </a:xfrm>
          <a:prstGeom prst="rect">
            <a:avLst/>
          </a:prstGeom>
          <a:noFill/>
        </p:spPr>
        <p:txBody>
          <a:bodyPr wrap="square" anchor="t" lIns="0" rIns="0" tIns="0" bIns="0">
            <a:noAutofit/>
          </a:bodyPr>
          <a:lstStyle/>
          <a:p>
            <a:pPr algn="l"/>
            <a:r>
              <a:rPr sz="1900" b="0" i="0">
                <a:solidFill>
                  <a:srgbClr val="1F2937"/>
                </a:solidFill>
                <a:latin typeface="Arial"/>
              </a:rPr>
              <a:t>Prompt injection is the top risk for LLM applications</a:t>
            </a:r>
          </a:p>
        </p:txBody>
      </p:sp>
      <p:sp>
        <p:nvSpPr>
          <p:cNvPr id="8" name="source 1"/>
          <p:cNvSpPr txBox="1"/>
          <p:nvPr/>
        </p:nvSpPr>
        <p:spPr>
          <a:xfrm>
            <a:off x="914400" y="5303520"/>
            <a:ext cx="2724911" cy="457200"/>
          </a:xfrm>
          <a:prstGeom prst="rect">
            <a:avLst/>
          </a:prstGeom>
          <a:noFill/>
        </p:spPr>
        <p:txBody>
          <a:bodyPr wrap="square" anchor="t" lIns="0" rIns="0" tIns="0" bIns="0">
            <a:noAutofit/>
          </a:bodyPr>
          <a:lstStyle/>
          <a:p>
            <a:pPr algn="l"/>
            <a:r>
              <a:rPr sz="1200" b="0" i="0">
                <a:solidFill>
                  <a:srgbClr val="5B6472"/>
                </a:solidFill>
                <a:latin typeface="Arial"/>
              </a:rPr>
              <a:t>OWASP Top 10 for LLM Applications 2025</a:t>
            </a:r>
          </a:p>
        </p:txBody>
      </p:sp>
      <p:sp>
        <p:nvSpPr>
          <p:cNvPr id="9" name="card 2"/>
          <p:cNvSpPr/>
          <p:nvPr/>
        </p:nvSpPr>
        <p:spPr>
          <a:xfrm>
            <a:off x="4366259" y="1645920"/>
            <a:ext cx="3456432" cy="4343400"/>
          </a:xfrm>
          <a:prstGeom prst="roundRect">
            <a:avLst>
              <a:gd name="adj" fmla="val 4761"/>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con 2"/>
          <p:cNvSpPr/>
          <p:nvPr/>
        </p:nvSpPr>
        <p:spPr>
          <a:xfrm>
            <a:off x="4732020" y="2011680"/>
            <a:ext cx="731520" cy="73152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400" b="1" i="0">
                <a:solidFill>
                  <a:srgbClr val="FFFFFF"/>
                </a:solidFill>
                <a:latin typeface="Arial"/>
              </a:rPr>
              <a:t>§</a:t>
            </a:r>
          </a:p>
        </p:txBody>
      </p:sp>
      <p:sp>
        <p:nvSpPr>
          <p:cNvPr id="11" name="card head 2"/>
          <p:cNvSpPr txBox="1"/>
          <p:nvPr/>
        </p:nvSpPr>
        <p:spPr>
          <a:xfrm>
            <a:off x="4732020" y="2971800"/>
            <a:ext cx="2724911" cy="548640"/>
          </a:xfrm>
          <a:prstGeom prst="rect">
            <a:avLst/>
          </a:prstGeom>
          <a:noFill/>
        </p:spPr>
        <p:txBody>
          <a:bodyPr wrap="square" anchor="t" lIns="0" rIns="0" tIns="0" bIns="0">
            <a:noAutofit/>
          </a:bodyPr>
          <a:lstStyle/>
          <a:p>
            <a:pPr algn="l"/>
            <a:r>
              <a:rPr sz="2400" b="1" i="0">
                <a:solidFill>
                  <a:srgbClr val="0B1F3A"/>
                </a:solidFill>
                <a:latin typeface="Arial"/>
              </a:rPr>
              <a:t>PDPL &amp; ECC</a:t>
            </a:r>
          </a:p>
        </p:txBody>
      </p:sp>
      <p:sp>
        <p:nvSpPr>
          <p:cNvPr id="12" name="card body 2"/>
          <p:cNvSpPr txBox="1"/>
          <p:nvPr/>
        </p:nvSpPr>
        <p:spPr>
          <a:xfrm>
            <a:off x="4732020" y="3611880"/>
            <a:ext cx="2724911" cy="1417320"/>
          </a:xfrm>
          <a:prstGeom prst="rect">
            <a:avLst/>
          </a:prstGeom>
          <a:noFill/>
        </p:spPr>
        <p:txBody>
          <a:bodyPr wrap="square" anchor="t" lIns="0" rIns="0" tIns="0" bIns="0">
            <a:noAutofit/>
          </a:bodyPr>
          <a:lstStyle/>
          <a:p>
            <a:pPr algn="l"/>
            <a:r>
              <a:rPr sz="1900" b="0" i="0">
                <a:solidFill>
                  <a:srgbClr val="1F2937"/>
                </a:solidFill>
                <a:latin typeface="Arial"/>
              </a:rPr>
              <a:t>A leaking agent discloses personal data; logging and monitoring are required</a:t>
            </a:r>
          </a:p>
        </p:txBody>
      </p:sp>
      <p:sp>
        <p:nvSpPr>
          <p:cNvPr id="13" name="source 2"/>
          <p:cNvSpPr txBox="1"/>
          <p:nvPr/>
        </p:nvSpPr>
        <p:spPr>
          <a:xfrm>
            <a:off x="4732020" y="5303520"/>
            <a:ext cx="2724911" cy="457200"/>
          </a:xfrm>
          <a:prstGeom prst="rect">
            <a:avLst/>
          </a:prstGeom>
          <a:noFill/>
        </p:spPr>
        <p:txBody>
          <a:bodyPr wrap="square" anchor="t" lIns="0" rIns="0" tIns="0" bIns="0">
            <a:noAutofit/>
          </a:bodyPr>
          <a:lstStyle/>
          <a:p>
            <a:pPr algn="l"/>
            <a:r>
              <a:rPr sz="1200" b="0" i="0">
                <a:solidFill>
                  <a:srgbClr val="5B6472"/>
                </a:solidFill>
                <a:latin typeface="Arial"/>
              </a:rPr>
              <a:t>PDPL (2021, amended 2023); NCA ECC-2:2024</a:t>
            </a:r>
          </a:p>
        </p:txBody>
      </p:sp>
      <p:sp>
        <p:nvSpPr>
          <p:cNvPr id="14" name="card 3"/>
          <p:cNvSpPr/>
          <p:nvPr/>
        </p:nvSpPr>
        <p:spPr>
          <a:xfrm>
            <a:off x="8183879" y="1645920"/>
            <a:ext cx="3456432" cy="4343400"/>
          </a:xfrm>
          <a:prstGeom prst="roundRect">
            <a:avLst>
              <a:gd name="adj" fmla="val 4761"/>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icon 3"/>
          <p:cNvSpPr/>
          <p:nvPr/>
        </p:nvSpPr>
        <p:spPr>
          <a:xfrm>
            <a:off x="8549640" y="2011680"/>
            <a:ext cx="731520" cy="73152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400" b="1" i="0" lang="ar-SA">
                <a:solidFill>
                  <a:srgbClr val="FFFFFF"/>
                </a:solidFill>
                <a:latin typeface="Arial"/>
                <a:cs typeface="Arial"/>
              </a:rPr>
              <a:t>ع</a:t>
            </a:r>
          </a:p>
        </p:txBody>
      </p:sp>
      <p:sp>
        <p:nvSpPr>
          <p:cNvPr id="16" name="card head 3"/>
          <p:cNvSpPr txBox="1"/>
          <p:nvPr/>
        </p:nvSpPr>
        <p:spPr>
          <a:xfrm>
            <a:off x="8549640" y="2971800"/>
            <a:ext cx="2724911" cy="548640"/>
          </a:xfrm>
          <a:prstGeom prst="rect">
            <a:avLst/>
          </a:prstGeom>
          <a:noFill/>
        </p:spPr>
        <p:txBody>
          <a:bodyPr wrap="square" anchor="t" lIns="0" rIns="0" tIns="0" bIns="0">
            <a:noAutofit/>
          </a:bodyPr>
          <a:lstStyle/>
          <a:p>
            <a:pPr algn="l"/>
            <a:r>
              <a:rPr sz="2400" b="1" i="0">
                <a:solidFill>
                  <a:srgbClr val="0B1F3A"/>
                </a:solidFill>
                <a:latin typeface="Arial"/>
              </a:rPr>
              <a:t>Arabic gap</a:t>
            </a:r>
          </a:p>
        </p:txBody>
      </p:sp>
      <p:sp>
        <p:nvSpPr>
          <p:cNvPr id="17" name="card body 3"/>
          <p:cNvSpPr txBox="1"/>
          <p:nvPr/>
        </p:nvSpPr>
        <p:spPr>
          <a:xfrm>
            <a:off x="8549640" y="3611880"/>
            <a:ext cx="2724911" cy="1417320"/>
          </a:xfrm>
          <a:prstGeom prst="rect">
            <a:avLst/>
          </a:prstGeom>
          <a:noFill/>
        </p:spPr>
        <p:txBody>
          <a:bodyPr wrap="square" anchor="t" lIns="0" rIns="0" tIns="0" bIns="0">
            <a:noAutofit/>
          </a:bodyPr>
          <a:lstStyle/>
          <a:p>
            <a:pPr algn="l"/>
            <a:r>
              <a:rPr sz="1900" b="0" i="0">
                <a:solidFill>
                  <a:srgbClr val="1F2937"/>
                </a:solidFill>
                <a:latin typeface="Arial"/>
              </a:rPr>
              <a:t>None of the detectors we reviewed publishes Arabic accuracy results</a:t>
            </a:r>
          </a:p>
        </p:txBody>
      </p:sp>
      <p:sp>
        <p:nvSpPr>
          <p:cNvPr id="18" name="source 3"/>
          <p:cNvSpPr txBox="1"/>
          <p:nvPr/>
        </p:nvSpPr>
        <p:spPr>
          <a:xfrm>
            <a:off x="8549640" y="5303520"/>
            <a:ext cx="2724911" cy="457200"/>
          </a:xfrm>
          <a:prstGeom prst="rect">
            <a:avLst/>
          </a:prstGeom>
          <a:noFill/>
        </p:spPr>
        <p:txBody>
          <a:bodyPr wrap="square" anchor="t" lIns="0" rIns="0" tIns="0" bIns="0">
            <a:noAutofit/>
          </a:bodyPr>
          <a:lstStyle/>
          <a:p>
            <a:pPr algn="l"/>
            <a:r>
              <a:rPr sz="1200" b="0" i="0">
                <a:solidFill>
                  <a:srgbClr val="5B6472"/>
                </a:solidFill>
                <a:latin typeface="Arial"/>
              </a:rPr>
              <a:t>Team review of 11 products and prototypes, Oct 2026</a:t>
            </a:r>
          </a:p>
        </p:txBody>
      </p:sp>
      <p:pic>
        <p:nvPicPr>
          <p:cNvPr id="19" name="Picture 18" descr="Mirsad logo"/>
          <p:cNvPicPr>
            <a:picLocks noChangeAspect="1"/>
          </p:cNvPicPr>
          <p:nvPr/>
        </p:nvPicPr>
        <p:blipFill>
          <a:blip r:embed="rId2"/>
          <a:stretch>
            <a:fillRect/>
          </a:stretch>
        </p:blipFill>
        <p:spPr>
          <a:xfrm>
            <a:off x="548640" y="6419088"/>
            <a:ext cx="219456" cy="219456"/>
          </a:xfrm>
          <a:prstGeom prst="rect">
            <a:avLst/>
          </a:prstGeom>
        </p:spPr>
      </p:pic>
      <p:sp>
        <p:nvSpPr>
          <p:cNvPr id="20" name="footer"/>
          <p:cNvSpPr txBox="1"/>
          <p:nvPr/>
        </p:nvSpPr>
        <p:spPr>
          <a:xfrm>
            <a:off x="859536" y="6437376"/>
            <a:ext cx="6400800" cy="219456"/>
          </a:xfrm>
          <a:prstGeom prst="rect">
            <a:avLst/>
          </a:prstGeom>
          <a:noFill/>
        </p:spPr>
        <p:txBody>
          <a:bodyPr wrap="square" anchor="t" lIns="0" rIns="0" tIns="0" bIns="0">
            <a:noAutofit/>
          </a:bodyPr>
          <a:lstStyle/>
          <a:p>
            <a:pPr algn="l"/>
            <a:r>
              <a:rPr sz="1000" b="0" i="0">
                <a:solidFill>
                  <a:srgbClr val="5B6472"/>
                </a:solidFill>
                <a:latin typeface="Arial"/>
              </a:rPr>
              <a:t>Mirsad </a:t>
            </a:r>
            <a:r>
              <a:rPr sz="1000" b="0" i="0" lang="ar-SA">
                <a:solidFill>
                  <a:srgbClr val="5B6472"/>
                </a:solidFill>
                <a:latin typeface="Arial"/>
                <a:cs typeface="Arial"/>
              </a:rPr>
              <a:t>مرصاد</a:t>
            </a:r>
            <a:r>
              <a:rPr sz="1000" b="0" i="0">
                <a:solidFill>
                  <a:srgbClr val="5B6472"/>
                </a:solidFill>
                <a:latin typeface="Arial"/>
              </a:rPr>
              <a:t>  ·  IS499 Senior Project  ·  Prince Sultan University</a:t>
            </a:r>
          </a:p>
        </p:txBody>
      </p:sp>
      <p:sp>
        <p:nvSpPr>
          <p:cNvPr id="21" name="slide number"/>
          <p:cNvSpPr txBox="1"/>
          <p:nvPr/>
        </p:nvSpPr>
        <p:spPr>
          <a:xfrm>
            <a:off x="10545775" y="6419088"/>
            <a:ext cx="1097280" cy="237744"/>
          </a:xfrm>
          <a:prstGeom prst="rect">
            <a:avLst/>
          </a:prstGeom>
          <a:noFill/>
        </p:spPr>
        <p:txBody>
          <a:bodyPr wrap="square" anchor="t" lIns="0" rIns="0" tIns="0" bIns="0">
            <a:noAutofit/>
          </a:bodyPr>
          <a:lstStyle/>
          <a:p>
            <a:pPr algn="r"/>
            <a:r>
              <a:rPr sz="1100" b="0" i="0">
                <a:solidFill>
                  <a:srgbClr val="5B6472"/>
                </a:solidFill>
                <a:latin typeface="Arial"/>
              </a:rPr>
              <a:t>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11094415" cy="731520"/>
          </a:xfrm>
        </p:spPr>
        <p:txBody>
          <a:bodyPr wrap="square" anchor="t" lIns="0" rIns="0" tIns="0" bIns="0">
            <a:noAutofit/>
          </a:bodyPr>
          <a:lstStyle/>
          <a:p>
            <a:pPr algn="l"/>
            <a:r>
              <a:rPr sz="3000" b="1" i="0">
                <a:solidFill>
                  <a:srgbClr val="0B1F3A"/>
                </a:solidFill>
                <a:latin typeface="Arial"/>
              </a:rPr>
              <a:t>Three SMART objectives, fixed before implementation</a:t>
            </a:r>
          </a:p>
        </p:txBody>
      </p:sp>
      <p:sp>
        <p:nvSpPr>
          <p:cNvPr id="3" name="kicker"/>
          <p:cNvSpPr txBox="1"/>
          <p:nvPr/>
        </p:nvSpPr>
        <p:spPr>
          <a:xfrm>
            <a:off x="548640" y="274320"/>
            <a:ext cx="7315200" cy="274320"/>
          </a:xfrm>
          <a:prstGeom prst="rect">
            <a:avLst/>
          </a:prstGeom>
          <a:noFill/>
        </p:spPr>
        <p:txBody>
          <a:bodyPr wrap="square" anchor="t" lIns="0" rIns="0" tIns="0" bIns="0">
            <a:noAutofit/>
          </a:bodyPr>
          <a:lstStyle/>
          <a:p>
            <a:pPr algn="l"/>
            <a:r>
              <a:rPr sz="1200" b="1" i="0" spc="150">
                <a:solidFill>
                  <a:srgbClr val="0F766E"/>
                </a:solidFill>
                <a:latin typeface="Arial"/>
              </a:rPr>
              <a:t>INTRODUCTION · OBJECTIVES</a:t>
            </a:r>
          </a:p>
        </p:txBody>
      </p:sp>
      <p:sp>
        <p:nvSpPr>
          <p:cNvPr id="4" name="objective 1"/>
          <p:cNvSpPr/>
          <p:nvPr/>
        </p:nvSpPr>
        <p:spPr>
          <a:xfrm>
            <a:off x="548640" y="1645920"/>
            <a:ext cx="11094415" cy="1298448"/>
          </a:xfrm>
          <a:prstGeom prst="roundRect">
            <a:avLst>
              <a:gd name="adj" fmla="val 11267"/>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adge"/>
          <p:cNvSpPr/>
          <p:nvPr/>
        </p:nvSpPr>
        <p:spPr>
          <a:xfrm>
            <a:off x="868680" y="1975104"/>
            <a:ext cx="640080" cy="64008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200" b="1" i="0">
                <a:solidFill>
                  <a:srgbClr val="FFFFFF"/>
                </a:solidFill>
                <a:latin typeface="Arial"/>
              </a:rPr>
              <a:t>1</a:t>
            </a:r>
          </a:p>
        </p:txBody>
      </p:sp>
      <p:sp>
        <p:nvSpPr>
          <p:cNvPr id="6" name="objective head 1"/>
          <p:cNvSpPr txBox="1"/>
          <p:nvPr/>
        </p:nvSpPr>
        <p:spPr>
          <a:xfrm>
            <a:off x="1737360" y="1865376"/>
            <a:ext cx="5120640" cy="457200"/>
          </a:xfrm>
          <a:prstGeom prst="rect">
            <a:avLst/>
          </a:prstGeom>
          <a:noFill/>
        </p:spPr>
        <p:txBody>
          <a:bodyPr wrap="square" anchor="t" lIns="0" rIns="0" tIns="0" bIns="0">
            <a:noAutofit/>
          </a:bodyPr>
          <a:lstStyle/>
          <a:p>
            <a:pPr algn="l"/>
            <a:r>
              <a:rPr sz="1900" b="1" i="0">
                <a:solidFill>
                  <a:srgbClr val="0B1F3A"/>
                </a:solidFill>
                <a:latin typeface="Arial"/>
              </a:rPr>
              <a:t>Enforce policy at the tool boundary</a:t>
            </a:r>
          </a:p>
        </p:txBody>
      </p:sp>
      <p:sp>
        <p:nvSpPr>
          <p:cNvPr id="7" name="objective sub 1"/>
          <p:cNvSpPr txBox="1"/>
          <p:nvPr/>
        </p:nvSpPr>
        <p:spPr>
          <a:xfrm>
            <a:off x="1737360" y="2377440"/>
            <a:ext cx="5120640" cy="365760"/>
          </a:xfrm>
          <a:prstGeom prst="rect">
            <a:avLst/>
          </a:prstGeom>
          <a:noFill/>
        </p:spPr>
        <p:txBody>
          <a:bodyPr wrap="square" anchor="t" lIns="0" rIns="0" tIns="0" bIns="0">
            <a:noAutofit/>
          </a:bodyPr>
          <a:lstStyle/>
          <a:p>
            <a:pPr algn="l"/>
            <a:r>
              <a:rPr sz="1800" b="0" i="0">
                <a:solidFill>
                  <a:srgbClr val="5B6472"/>
                </a:solidFill>
                <a:latin typeface="Arial"/>
              </a:rPr>
              <a:t>MCP and OpenAI-style agents, no agent changes</a:t>
            </a:r>
          </a:p>
        </p:txBody>
      </p:sp>
      <p:sp>
        <p:nvSpPr>
          <p:cNvPr id="8" name="target box 1"/>
          <p:cNvSpPr/>
          <p:nvPr/>
        </p:nvSpPr>
        <p:spPr>
          <a:xfrm>
            <a:off x="6995159" y="1901952"/>
            <a:ext cx="3337560" cy="786383"/>
          </a:xfrm>
          <a:prstGeom prst="roundRect">
            <a:avLst>
              <a:gd name="adj" fmla="val 16279"/>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arget 1"/>
          <p:cNvSpPr txBox="1"/>
          <p:nvPr/>
        </p:nvSpPr>
        <p:spPr>
          <a:xfrm>
            <a:off x="7178040" y="1901952"/>
            <a:ext cx="3017520" cy="786383"/>
          </a:xfrm>
          <a:prstGeom prst="rect">
            <a:avLst/>
          </a:prstGeom>
          <a:noFill/>
        </p:spPr>
        <p:txBody>
          <a:bodyPr wrap="square" anchor="ctr" lIns="0" rIns="0" tIns="0" bIns="0">
            <a:noAutofit/>
          </a:bodyPr>
          <a:lstStyle/>
          <a:p>
            <a:pPr algn="l"/>
            <a:r>
              <a:rPr sz="1800" b="1" i="0">
                <a:solidFill>
                  <a:srgbClr val="92400E"/>
                </a:solidFill>
                <a:latin typeface="Arial"/>
              </a:rPr>
              <a:t>Median added latency ≤ 200 ms</a:t>
            </a:r>
          </a:p>
        </p:txBody>
      </p:sp>
      <p:sp>
        <p:nvSpPr>
          <p:cNvPr id="10" name="milestone 1"/>
          <p:cNvSpPr txBox="1"/>
          <p:nvPr/>
        </p:nvSpPr>
        <p:spPr>
          <a:xfrm>
            <a:off x="10469880" y="1645920"/>
            <a:ext cx="1097280" cy="1298448"/>
          </a:xfrm>
          <a:prstGeom prst="rect">
            <a:avLst/>
          </a:prstGeom>
          <a:noFill/>
        </p:spPr>
        <p:txBody>
          <a:bodyPr wrap="square" anchor="ctr" lIns="0" rIns="0" tIns="0" bIns="0">
            <a:noAutofit/>
          </a:bodyPr>
          <a:lstStyle/>
          <a:p>
            <a:pPr algn="r"/>
            <a:r>
              <a:rPr sz="1500" b="0" i="0">
                <a:solidFill>
                  <a:srgbClr val="5B6472"/>
                </a:solidFill>
                <a:latin typeface="Arial"/>
              </a:rPr>
              <a:t>M5</a:t>
            </a:r>
          </a:p>
          <a:p>
            <a:pPr algn="r"/>
            <a:r>
              <a:rPr sz="1500" b="0" i="0">
                <a:solidFill>
                  <a:srgbClr val="5B6472"/>
                </a:solidFill>
                <a:latin typeface="Arial"/>
              </a:rPr>
              <a:t>Mar 2027</a:t>
            </a:r>
          </a:p>
        </p:txBody>
      </p:sp>
      <p:sp>
        <p:nvSpPr>
          <p:cNvPr id="11" name="objective 2"/>
          <p:cNvSpPr/>
          <p:nvPr/>
        </p:nvSpPr>
        <p:spPr>
          <a:xfrm>
            <a:off x="548640" y="3172968"/>
            <a:ext cx="11094415" cy="1298448"/>
          </a:xfrm>
          <a:prstGeom prst="roundRect">
            <a:avLst>
              <a:gd name="adj" fmla="val 11267"/>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adge"/>
          <p:cNvSpPr/>
          <p:nvPr/>
        </p:nvSpPr>
        <p:spPr>
          <a:xfrm>
            <a:off x="868680" y="3502151"/>
            <a:ext cx="640080" cy="64008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200" b="1" i="0">
                <a:solidFill>
                  <a:srgbClr val="FFFFFF"/>
                </a:solidFill>
                <a:latin typeface="Arial"/>
              </a:rPr>
              <a:t>2</a:t>
            </a:r>
          </a:p>
        </p:txBody>
      </p:sp>
      <p:sp>
        <p:nvSpPr>
          <p:cNvPr id="13" name="objective head 2"/>
          <p:cNvSpPr txBox="1"/>
          <p:nvPr/>
        </p:nvSpPr>
        <p:spPr>
          <a:xfrm>
            <a:off x="1737360" y="3392424"/>
            <a:ext cx="5120640" cy="457200"/>
          </a:xfrm>
          <a:prstGeom prst="rect">
            <a:avLst/>
          </a:prstGeom>
          <a:noFill/>
        </p:spPr>
        <p:txBody>
          <a:bodyPr wrap="square" anchor="t" lIns="0" rIns="0" tIns="0" bIns="0">
            <a:noAutofit/>
          </a:bodyPr>
          <a:lstStyle/>
          <a:p>
            <a:pPr algn="l"/>
            <a:r>
              <a:rPr sz="1900" b="1" i="0">
                <a:solidFill>
                  <a:srgbClr val="0B1F3A"/>
                </a:solidFill>
                <a:latin typeface="Arial"/>
              </a:rPr>
              <a:t>Detect Arabic and English injections</a:t>
            </a:r>
          </a:p>
        </p:txBody>
      </p:sp>
      <p:sp>
        <p:nvSpPr>
          <p:cNvPr id="14" name="objective sub 2"/>
          <p:cNvSpPr txBox="1"/>
          <p:nvPr/>
        </p:nvSpPr>
        <p:spPr>
          <a:xfrm>
            <a:off x="1737360" y="3904487"/>
            <a:ext cx="5120640" cy="365760"/>
          </a:xfrm>
          <a:prstGeom prst="rect">
            <a:avLst/>
          </a:prstGeom>
          <a:noFill/>
        </p:spPr>
        <p:txBody>
          <a:bodyPr wrap="square" anchor="t" lIns="0" rIns="0" tIns="0" bIns="0">
            <a:noAutofit/>
          </a:bodyPr>
          <a:lstStyle/>
          <a:p>
            <a:pPr algn="l"/>
            <a:r>
              <a:rPr sz="1800" b="0" i="0">
                <a:solidFill>
                  <a:srgbClr val="5B6472"/>
                </a:solidFill>
                <a:latin typeface="Arial"/>
              </a:rPr>
              <a:t>MSA, Gulf dialect, Arabizi, mixed and English</a:t>
            </a:r>
          </a:p>
        </p:txBody>
      </p:sp>
      <p:sp>
        <p:nvSpPr>
          <p:cNvPr id="15" name="target box 2"/>
          <p:cNvSpPr/>
          <p:nvPr/>
        </p:nvSpPr>
        <p:spPr>
          <a:xfrm>
            <a:off x="6995159" y="3429000"/>
            <a:ext cx="3337560" cy="786383"/>
          </a:xfrm>
          <a:prstGeom prst="roundRect">
            <a:avLst>
              <a:gd name="adj" fmla="val 16279"/>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arget 2"/>
          <p:cNvSpPr txBox="1"/>
          <p:nvPr/>
        </p:nvSpPr>
        <p:spPr>
          <a:xfrm>
            <a:off x="7178040" y="3429000"/>
            <a:ext cx="3017520" cy="786383"/>
          </a:xfrm>
          <a:prstGeom prst="rect">
            <a:avLst/>
          </a:prstGeom>
          <a:noFill/>
        </p:spPr>
        <p:txBody>
          <a:bodyPr wrap="square" anchor="ctr" lIns="0" rIns="0" tIns="0" bIns="0">
            <a:noAutofit/>
          </a:bodyPr>
          <a:lstStyle/>
          <a:p>
            <a:pPr algn="l"/>
            <a:r>
              <a:rPr sz="1800" b="1" i="0">
                <a:solidFill>
                  <a:srgbClr val="92400E"/>
                </a:solidFill>
                <a:latin typeface="Arial"/>
              </a:rPr>
              <a:t>F1 ≥ 0.85 on held-out AR and EN tests</a:t>
            </a:r>
          </a:p>
        </p:txBody>
      </p:sp>
      <p:sp>
        <p:nvSpPr>
          <p:cNvPr id="17" name="milestone 2"/>
          <p:cNvSpPr txBox="1"/>
          <p:nvPr/>
        </p:nvSpPr>
        <p:spPr>
          <a:xfrm>
            <a:off x="10469880" y="3172968"/>
            <a:ext cx="1097280" cy="1298448"/>
          </a:xfrm>
          <a:prstGeom prst="rect">
            <a:avLst/>
          </a:prstGeom>
          <a:noFill/>
        </p:spPr>
        <p:txBody>
          <a:bodyPr wrap="square" anchor="ctr" lIns="0" rIns="0" tIns="0" bIns="0">
            <a:noAutofit/>
          </a:bodyPr>
          <a:lstStyle/>
          <a:p>
            <a:pPr algn="r"/>
            <a:r>
              <a:rPr sz="1500" b="0" i="0">
                <a:solidFill>
                  <a:srgbClr val="5B6472"/>
                </a:solidFill>
                <a:latin typeface="Arial"/>
              </a:rPr>
              <a:t>M4</a:t>
            </a:r>
          </a:p>
          <a:p>
            <a:pPr algn="r"/>
            <a:r>
              <a:rPr sz="1500" b="0" i="0">
                <a:solidFill>
                  <a:srgbClr val="5B6472"/>
                </a:solidFill>
                <a:latin typeface="Arial"/>
              </a:rPr>
              <a:t>Feb 2027</a:t>
            </a:r>
          </a:p>
        </p:txBody>
      </p:sp>
      <p:sp>
        <p:nvSpPr>
          <p:cNvPr id="18" name="objective 3"/>
          <p:cNvSpPr/>
          <p:nvPr/>
        </p:nvSpPr>
        <p:spPr>
          <a:xfrm>
            <a:off x="548640" y="4700016"/>
            <a:ext cx="11094415" cy="1298448"/>
          </a:xfrm>
          <a:prstGeom prst="roundRect">
            <a:avLst>
              <a:gd name="adj" fmla="val 11267"/>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badge"/>
          <p:cNvSpPr/>
          <p:nvPr/>
        </p:nvSpPr>
        <p:spPr>
          <a:xfrm>
            <a:off x="868680" y="5029200"/>
            <a:ext cx="640080" cy="64008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200" b="1" i="0">
                <a:solidFill>
                  <a:srgbClr val="FFFFFF"/>
                </a:solidFill>
                <a:latin typeface="Arial"/>
              </a:rPr>
              <a:t>3</a:t>
            </a:r>
          </a:p>
        </p:txBody>
      </p:sp>
      <p:sp>
        <p:nvSpPr>
          <p:cNvPr id="20" name="objective head 3"/>
          <p:cNvSpPr txBox="1"/>
          <p:nvPr/>
        </p:nvSpPr>
        <p:spPr>
          <a:xfrm>
            <a:off x="1737360" y="4919472"/>
            <a:ext cx="5120640" cy="457200"/>
          </a:xfrm>
          <a:prstGeom prst="rect">
            <a:avLst/>
          </a:prstGeom>
          <a:noFill/>
        </p:spPr>
        <p:txBody>
          <a:bodyPr wrap="square" anchor="t" lIns="0" rIns="0" tIns="0" bIns="0">
            <a:noAutofit/>
          </a:bodyPr>
          <a:lstStyle/>
          <a:p>
            <a:pPr algn="l"/>
            <a:r>
              <a:rPr sz="1900" b="1" i="0">
                <a:solidFill>
                  <a:srgbClr val="0B1F3A"/>
                </a:solidFill>
                <a:latin typeface="Arial"/>
              </a:rPr>
              <a:t>Keep humans in control, prove the effect</a:t>
            </a:r>
          </a:p>
        </p:txBody>
      </p:sp>
      <p:sp>
        <p:nvSpPr>
          <p:cNvPr id="21" name="objective sub 3"/>
          <p:cNvSpPr txBox="1"/>
          <p:nvPr/>
        </p:nvSpPr>
        <p:spPr>
          <a:xfrm>
            <a:off x="1737360" y="5431536"/>
            <a:ext cx="5120640" cy="365760"/>
          </a:xfrm>
          <a:prstGeom prst="rect">
            <a:avLst/>
          </a:prstGeom>
          <a:noFill/>
        </p:spPr>
        <p:txBody>
          <a:bodyPr wrap="square" anchor="t" lIns="0" rIns="0" tIns="0" bIns="0">
            <a:noAutofit/>
          </a:bodyPr>
          <a:lstStyle/>
          <a:p>
            <a:pPr algn="l"/>
            <a:r>
              <a:rPr sz="1800" b="0" i="0">
                <a:solidFill>
                  <a:srgbClr val="5B6472"/>
                </a:solidFill>
                <a:latin typeface="Arial"/>
              </a:rPr>
              <a:t>Approval app, replayable audit, Mirsad-Bench</a:t>
            </a:r>
          </a:p>
        </p:txBody>
      </p:sp>
      <p:sp>
        <p:nvSpPr>
          <p:cNvPr id="22" name="target box 3"/>
          <p:cNvSpPr/>
          <p:nvPr/>
        </p:nvSpPr>
        <p:spPr>
          <a:xfrm>
            <a:off x="6995159" y="4956048"/>
            <a:ext cx="3337560" cy="786383"/>
          </a:xfrm>
          <a:prstGeom prst="roundRect">
            <a:avLst>
              <a:gd name="adj" fmla="val 16279"/>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arget 3"/>
          <p:cNvSpPr txBox="1"/>
          <p:nvPr/>
        </p:nvSpPr>
        <p:spPr>
          <a:xfrm>
            <a:off x="7178040" y="4956048"/>
            <a:ext cx="3017520" cy="786383"/>
          </a:xfrm>
          <a:prstGeom prst="rect">
            <a:avLst/>
          </a:prstGeom>
          <a:noFill/>
        </p:spPr>
        <p:txBody>
          <a:bodyPr wrap="square" anchor="ctr" lIns="0" rIns="0" tIns="0" bIns="0">
            <a:noAutofit/>
          </a:bodyPr>
          <a:lstStyle/>
          <a:p>
            <a:pPr algn="l"/>
            <a:r>
              <a:rPr sz="1800" b="1" i="0">
                <a:solidFill>
                  <a:srgbClr val="92400E"/>
                </a:solidFill>
                <a:latin typeface="Arial"/>
              </a:rPr>
              <a:t>≥ 80% less attack success; ≤ 5% benign blocked</a:t>
            </a:r>
          </a:p>
        </p:txBody>
      </p:sp>
      <p:sp>
        <p:nvSpPr>
          <p:cNvPr id="24" name="milestone 3"/>
          <p:cNvSpPr txBox="1"/>
          <p:nvPr/>
        </p:nvSpPr>
        <p:spPr>
          <a:xfrm>
            <a:off x="10469880" y="4700016"/>
            <a:ext cx="1097280" cy="1298448"/>
          </a:xfrm>
          <a:prstGeom prst="rect">
            <a:avLst/>
          </a:prstGeom>
          <a:noFill/>
        </p:spPr>
        <p:txBody>
          <a:bodyPr wrap="square" anchor="ctr" lIns="0" rIns="0" tIns="0" bIns="0">
            <a:noAutofit/>
          </a:bodyPr>
          <a:lstStyle/>
          <a:p>
            <a:pPr algn="r"/>
            <a:r>
              <a:rPr sz="1500" b="0" i="0">
                <a:solidFill>
                  <a:srgbClr val="5B6472"/>
                </a:solidFill>
                <a:latin typeface="Arial"/>
              </a:rPr>
              <a:t>M6</a:t>
            </a:r>
          </a:p>
          <a:p>
            <a:pPr algn="r"/>
            <a:r>
              <a:rPr sz="1500" b="0" i="0">
                <a:solidFill>
                  <a:srgbClr val="5B6472"/>
                </a:solidFill>
                <a:latin typeface="Arial"/>
              </a:rPr>
              <a:t>Apr 2027</a:t>
            </a:r>
          </a:p>
        </p:txBody>
      </p:sp>
      <p:pic>
        <p:nvPicPr>
          <p:cNvPr id="25" name="Picture 24" descr="Mirsad logo"/>
          <p:cNvPicPr>
            <a:picLocks noChangeAspect="1"/>
          </p:cNvPicPr>
          <p:nvPr/>
        </p:nvPicPr>
        <p:blipFill>
          <a:blip r:embed="rId2"/>
          <a:stretch>
            <a:fillRect/>
          </a:stretch>
        </p:blipFill>
        <p:spPr>
          <a:xfrm>
            <a:off x="548640" y="6419088"/>
            <a:ext cx="219456" cy="219456"/>
          </a:xfrm>
          <a:prstGeom prst="rect">
            <a:avLst/>
          </a:prstGeom>
        </p:spPr>
      </p:pic>
      <p:sp>
        <p:nvSpPr>
          <p:cNvPr id="26" name="footer"/>
          <p:cNvSpPr txBox="1"/>
          <p:nvPr/>
        </p:nvSpPr>
        <p:spPr>
          <a:xfrm>
            <a:off x="859536" y="6437376"/>
            <a:ext cx="6400800" cy="219456"/>
          </a:xfrm>
          <a:prstGeom prst="rect">
            <a:avLst/>
          </a:prstGeom>
          <a:noFill/>
        </p:spPr>
        <p:txBody>
          <a:bodyPr wrap="square" anchor="t" lIns="0" rIns="0" tIns="0" bIns="0">
            <a:noAutofit/>
          </a:bodyPr>
          <a:lstStyle/>
          <a:p>
            <a:pPr algn="l"/>
            <a:r>
              <a:rPr sz="1000" b="0" i="0">
                <a:solidFill>
                  <a:srgbClr val="5B6472"/>
                </a:solidFill>
                <a:latin typeface="Arial"/>
              </a:rPr>
              <a:t>Mirsad </a:t>
            </a:r>
            <a:r>
              <a:rPr sz="1000" b="0" i="0" lang="ar-SA">
                <a:solidFill>
                  <a:srgbClr val="5B6472"/>
                </a:solidFill>
                <a:latin typeface="Arial"/>
                <a:cs typeface="Arial"/>
              </a:rPr>
              <a:t>مرصاد</a:t>
            </a:r>
            <a:r>
              <a:rPr sz="1000" b="0" i="0">
                <a:solidFill>
                  <a:srgbClr val="5B6472"/>
                </a:solidFill>
                <a:latin typeface="Arial"/>
              </a:rPr>
              <a:t>  ·  IS499 Senior Project  ·  Prince Sultan University</a:t>
            </a:r>
          </a:p>
        </p:txBody>
      </p:sp>
      <p:sp>
        <p:nvSpPr>
          <p:cNvPr id="27" name="slide number"/>
          <p:cNvSpPr txBox="1"/>
          <p:nvPr/>
        </p:nvSpPr>
        <p:spPr>
          <a:xfrm>
            <a:off x="10545775" y="6419088"/>
            <a:ext cx="1097280" cy="237744"/>
          </a:xfrm>
          <a:prstGeom prst="rect">
            <a:avLst/>
          </a:prstGeom>
          <a:noFill/>
        </p:spPr>
        <p:txBody>
          <a:bodyPr wrap="square" anchor="t" lIns="0" rIns="0" tIns="0" bIns="0">
            <a:noAutofit/>
          </a:bodyPr>
          <a:lstStyle/>
          <a:p>
            <a:pPr algn="r"/>
            <a:r>
              <a:rPr sz="1100" b="0" i="0">
                <a:solidFill>
                  <a:srgbClr val="5B6472"/>
                </a:solidFill>
                <a:latin typeface="Arial"/>
              </a:rPr>
              <a:t>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11094415" cy="731520"/>
          </a:xfrm>
        </p:spPr>
        <p:txBody>
          <a:bodyPr wrap="square" anchor="t" lIns="0" rIns="0" tIns="0" bIns="0">
            <a:noAutofit/>
          </a:bodyPr>
          <a:lstStyle/>
          <a:p>
            <a:pPr algn="l"/>
            <a:r>
              <a:rPr sz="3000" b="1" i="0">
                <a:solidFill>
                  <a:srgbClr val="0B1F3A"/>
                </a:solidFill>
                <a:latin typeface="Arial"/>
              </a:rPr>
              <a:t>Existing tools cover parts of the problem</a:t>
            </a:r>
          </a:p>
        </p:txBody>
      </p:sp>
      <p:sp>
        <p:nvSpPr>
          <p:cNvPr id="3" name="kicker"/>
          <p:cNvSpPr txBox="1"/>
          <p:nvPr/>
        </p:nvSpPr>
        <p:spPr>
          <a:xfrm>
            <a:off x="548640" y="274320"/>
            <a:ext cx="7315200" cy="274320"/>
          </a:xfrm>
          <a:prstGeom prst="rect">
            <a:avLst/>
          </a:prstGeom>
          <a:noFill/>
        </p:spPr>
        <p:txBody>
          <a:bodyPr wrap="square" anchor="t" lIns="0" rIns="0" tIns="0" bIns="0">
            <a:noAutofit/>
          </a:bodyPr>
          <a:lstStyle/>
          <a:p>
            <a:pPr algn="l"/>
            <a:r>
              <a:rPr sz="1200" b="1" i="0" spc="150">
                <a:solidFill>
                  <a:srgbClr val="0F766E"/>
                </a:solidFill>
                <a:latin typeface="Arial"/>
              </a:rPr>
              <a:t>BACKGROUND · RELATED WORK</a:t>
            </a:r>
          </a:p>
        </p:txBody>
      </p:sp>
      <p:sp>
        <p:nvSpPr>
          <p:cNvPr id="4" name="Mirsad column"/>
          <p:cNvSpPr/>
          <p:nvPr/>
        </p:nvSpPr>
        <p:spPr>
          <a:xfrm>
            <a:off x="10365486" y="1435608"/>
            <a:ext cx="1231849" cy="3236976"/>
          </a:xfrm>
          <a:prstGeom prst="roundRect">
            <a:avLst>
              <a:gd name="adj" fmla="val 8907"/>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ol Lakera Guard"/>
          <p:cNvSpPr txBox="1"/>
          <p:nvPr/>
        </p:nvSpPr>
        <p:spPr>
          <a:xfrm>
            <a:off x="3703320" y="1481328"/>
            <a:ext cx="1323289" cy="475488"/>
          </a:xfrm>
          <a:prstGeom prst="rect">
            <a:avLst/>
          </a:prstGeom>
          <a:noFill/>
        </p:spPr>
        <p:txBody>
          <a:bodyPr wrap="square" anchor="ctr" lIns="0" rIns="0" tIns="0" bIns="0">
            <a:noAutofit/>
          </a:bodyPr>
          <a:lstStyle/>
          <a:p>
            <a:pPr algn="ctr"/>
            <a:r>
              <a:rPr sz="1500" b="1" i="0">
                <a:solidFill>
                  <a:srgbClr val="0B1F3A"/>
                </a:solidFill>
                <a:latin typeface="Arial"/>
              </a:rPr>
              <a:t>Lakera Guard</a:t>
            </a:r>
          </a:p>
        </p:txBody>
      </p:sp>
      <p:sp>
        <p:nvSpPr>
          <p:cNvPr id="6" name="col AWS AgentCore"/>
          <p:cNvSpPr txBox="1"/>
          <p:nvPr/>
        </p:nvSpPr>
        <p:spPr>
          <a:xfrm>
            <a:off x="5026609" y="1481328"/>
            <a:ext cx="1323289" cy="475488"/>
          </a:xfrm>
          <a:prstGeom prst="rect">
            <a:avLst/>
          </a:prstGeom>
          <a:noFill/>
        </p:spPr>
        <p:txBody>
          <a:bodyPr wrap="square" anchor="ctr" lIns="0" rIns="0" tIns="0" bIns="0">
            <a:noAutofit/>
          </a:bodyPr>
          <a:lstStyle/>
          <a:p>
            <a:pPr algn="ctr"/>
            <a:r>
              <a:rPr sz="1500" b="1" i="0">
                <a:solidFill>
                  <a:srgbClr val="0B1F3A"/>
                </a:solidFill>
                <a:latin typeface="Arial"/>
              </a:rPr>
              <a:t>AWS AgentCore</a:t>
            </a:r>
          </a:p>
        </p:txBody>
      </p:sp>
      <p:sp>
        <p:nvSpPr>
          <p:cNvPr id="7" name="col agentgateway"/>
          <p:cNvSpPr txBox="1"/>
          <p:nvPr/>
        </p:nvSpPr>
        <p:spPr>
          <a:xfrm>
            <a:off x="6349898" y="1481328"/>
            <a:ext cx="1323289" cy="475488"/>
          </a:xfrm>
          <a:prstGeom prst="rect">
            <a:avLst/>
          </a:prstGeom>
          <a:noFill/>
        </p:spPr>
        <p:txBody>
          <a:bodyPr wrap="square" anchor="ctr" lIns="0" rIns="0" tIns="0" bIns="0">
            <a:noAutofit/>
          </a:bodyPr>
          <a:lstStyle/>
          <a:p>
            <a:pPr algn="ctr"/>
            <a:r>
              <a:rPr sz="1500" b="1" i="0">
                <a:solidFill>
                  <a:srgbClr val="0B1F3A"/>
                </a:solidFill>
                <a:latin typeface="Arial"/>
              </a:rPr>
              <a:t>agentgateway</a:t>
            </a:r>
          </a:p>
        </p:txBody>
      </p:sp>
      <p:sp>
        <p:nvSpPr>
          <p:cNvPr id="8" name="col Invariant"/>
          <p:cNvSpPr txBox="1"/>
          <p:nvPr/>
        </p:nvSpPr>
        <p:spPr>
          <a:xfrm>
            <a:off x="7673187" y="1481328"/>
            <a:ext cx="1323289" cy="475488"/>
          </a:xfrm>
          <a:prstGeom prst="rect">
            <a:avLst/>
          </a:prstGeom>
          <a:noFill/>
        </p:spPr>
        <p:txBody>
          <a:bodyPr wrap="square" anchor="ctr" lIns="0" rIns="0" tIns="0" bIns="0">
            <a:noAutofit/>
          </a:bodyPr>
          <a:lstStyle/>
          <a:p>
            <a:pPr algn="ctr"/>
            <a:r>
              <a:rPr sz="1500" b="1" i="0">
                <a:solidFill>
                  <a:srgbClr val="0B1F3A"/>
                </a:solidFill>
                <a:latin typeface="Arial"/>
              </a:rPr>
              <a:t>Invariant</a:t>
            </a:r>
          </a:p>
        </p:txBody>
      </p:sp>
      <p:sp>
        <p:nvSpPr>
          <p:cNvPr id="9" name="col CaMeL"/>
          <p:cNvSpPr txBox="1"/>
          <p:nvPr/>
        </p:nvSpPr>
        <p:spPr>
          <a:xfrm>
            <a:off x="8996476" y="1481328"/>
            <a:ext cx="1323289" cy="475488"/>
          </a:xfrm>
          <a:prstGeom prst="rect">
            <a:avLst/>
          </a:prstGeom>
          <a:noFill/>
        </p:spPr>
        <p:txBody>
          <a:bodyPr wrap="square" anchor="ctr" lIns="0" rIns="0" tIns="0" bIns="0">
            <a:noAutofit/>
          </a:bodyPr>
          <a:lstStyle/>
          <a:p>
            <a:pPr algn="ctr"/>
            <a:r>
              <a:rPr sz="1500" b="1" i="0">
                <a:solidFill>
                  <a:srgbClr val="0B1F3A"/>
                </a:solidFill>
                <a:latin typeface="Arial"/>
              </a:rPr>
              <a:t>CaMeL</a:t>
            </a:r>
          </a:p>
        </p:txBody>
      </p:sp>
      <p:sp>
        <p:nvSpPr>
          <p:cNvPr id="10" name="col Mirsad"/>
          <p:cNvSpPr txBox="1"/>
          <p:nvPr/>
        </p:nvSpPr>
        <p:spPr>
          <a:xfrm>
            <a:off x="10319766" y="1481328"/>
            <a:ext cx="1323289" cy="475488"/>
          </a:xfrm>
          <a:prstGeom prst="rect">
            <a:avLst/>
          </a:prstGeom>
          <a:noFill/>
        </p:spPr>
        <p:txBody>
          <a:bodyPr wrap="square" anchor="ctr" lIns="0" rIns="0" tIns="0" bIns="0">
            <a:noAutofit/>
          </a:bodyPr>
          <a:lstStyle/>
          <a:p>
            <a:pPr algn="ctr"/>
            <a:r>
              <a:rPr sz="1500" b="1" i="0">
                <a:solidFill>
                  <a:srgbClr val="0B1F3A"/>
                </a:solidFill>
                <a:latin typeface="Arial"/>
              </a:rPr>
              <a:t>Mirsad</a:t>
            </a:r>
          </a:p>
        </p:txBody>
      </p:sp>
      <p:sp>
        <p:nvSpPr>
          <p:cNvPr id="11" name="row rule"/>
          <p:cNvSpPr/>
          <p:nvPr/>
        </p:nvSpPr>
        <p:spPr>
          <a:xfrm>
            <a:off x="548640" y="1956816"/>
            <a:ext cx="11094415" cy="10972"/>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w 1"/>
          <p:cNvSpPr txBox="1"/>
          <p:nvPr/>
        </p:nvSpPr>
        <p:spPr>
          <a:xfrm>
            <a:off x="548640" y="1956816"/>
            <a:ext cx="3063240" cy="530352"/>
          </a:xfrm>
          <a:prstGeom prst="rect">
            <a:avLst/>
          </a:prstGeom>
          <a:noFill/>
        </p:spPr>
        <p:txBody>
          <a:bodyPr wrap="square" anchor="ctr" lIns="0" rIns="0" tIns="0" bIns="0">
            <a:noAutofit/>
          </a:bodyPr>
          <a:lstStyle/>
          <a:p>
            <a:pPr algn="l"/>
            <a:r>
              <a:rPr sz="1700" b="0" i="0">
                <a:solidFill>
                  <a:srgbClr val="1F2937"/>
                </a:solidFill>
                <a:latin typeface="Arial"/>
              </a:rPr>
              <a:t>Per-tool and per-parameter policy</a:t>
            </a:r>
          </a:p>
        </p:txBody>
      </p:sp>
      <p:sp>
        <p:nvSpPr>
          <p:cNvPr id="13" name="chip Partial"/>
          <p:cNvSpPr/>
          <p:nvPr/>
        </p:nvSpPr>
        <p:spPr>
          <a:xfrm>
            <a:off x="3884904" y="2057400"/>
            <a:ext cx="960120" cy="329184"/>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92400E"/>
                </a:solidFill>
                <a:latin typeface="Arial"/>
              </a:rPr>
              <a:t>Partial</a:t>
            </a:r>
          </a:p>
        </p:txBody>
      </p:sp>
      <p:sp>
        <p:nvSpPr>
          <p:cNvPr id="14" name="chip Yes"/>
          <p:cNvSpPr/>
          <p:nvPr/>
        </p:nvSpPr>
        <p:spPr>
          <a:xfrm>
            <a:off x="5208193" y="2057400"/>
            <a:ext cx="960120" cy="329184"/>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Arial"/>
              </a:rPr>
              <a:t>Yes</a:t>
            </a:r>
          </a:p>
        </p:txBody>
      </p:sp>
      <p:sp>
        <p:nvSpPr>
          <p:cNvPr id="15" name="chip Yes"/>
          <p:cNvSpPr/>
          <p:nvPr/>
        </p:nvSpPr>
        <p:spPr>
          <a:xfrm>
            <a:off x="6531483" y="2057400"/>
            <a:ext cx="960120" cy="329184"/>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Arial"/>
              </a:rPr>
              <a:t>Yes</a:t>
            </a:r>
          </a:p>
        </p:txBody>
      </p:sp>
      <p:sp>
        <p:nvSpPr>
          <p:cNvPr id="16" name="chip Yes"/>
          <p:cNvSpPr/>
          <p:nvPr/>
        </p:nvSpPr>
        <p:spPr>
          <a:xfrm>
            <a:off x="7854772" y="2057400"/>
            <a:ext cx="960120" cy="329184"/>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Arial"/>
              </a:rPr>
              <a:t>Yes</a:t>
            </a:r>
          </a:p>
        </p:txBody>
      </p:sp>
      <p:sp>
        <p:nvSpPr>
          <p:cNvPr id="17" name="chip Yes"/>
          <p:cNvSpPr/>
          <p:nvPr/>
        </p:nvSpPr>
        <p:spPr>
          <a:xfrm>
            <a:off x="9178061" y="2057400"/>
            <a:ext cx="960120" cy="329184"/>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Arial"/>
              </a:rPr>
              <a:t>Yes</a:t>
            </a:r>
          </a:p>
        </p:txBody>
      </p:sp>
      <p:sp>
        <p:nvSpPr>
          <p:cNvPr id="18" name="chip Yes"/>
          <p:cNvSpPr/>
          <p:nvPr/>
        </p:nvSpPr>
        <p:spPr>
          <a:xfrm>
            <a:off x="10501350" y="2057400"/>
            <a:ext cx="960120" cy="329184"/>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Arial"/>
              </a:rPr>
              <a:t>Yes</a:t>
            </a:r>
          </a:p>
        </p:txBody>
      </p:sp>
      <p:sp>
        <p:nvSpPr>
          <p:cNvPr id="19" name="row rule"/>
          <p:cNvSpPr/>
          <p:nvPr/>
        </p:nvSpPr>
        <p:spPr>
          <a:xfrm>
            <a:off x="548640" y="2487168"/>
            <a:ext cx="11094415" cy="10972"/>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w 2"/>
          <p:cNvSpPr txBox="1"/>
          <p:nvPr/>
        </p:nvSpPr>
        <p:spPr>
          <a:xfrm>
            <a:off x="548640" y="2487168"/>
            <a:ext cx="3063240" cy="530352"/>
          </a:xfrm>
          <a:prstGeom prst="rect">
            <a:avLst/>
          </a:prstGeom>
          <a:noFill/>
        </p:spPr>
        <p:txBody>
          <a:bodyPr wrap="square" anchor="ctr" lIns="0" rIns="0" tIns="0" bIns="0">
            <a:noAutofit/>
          </a:bodyPr>
          <a:lstStyle/>
          <a:p>
            <a:pPr algn="l"/>
            <a:r>
              <a:rPr sz="1700" b="0" i="0">
                <a:solidFill>
                  <a:srgbClr val="1F2937"/>
                </a:solidFill>
                <a:latin typeface="Arial"/>
              </a:rPr>
              <a:t>Taint / data-flow tracking</a:t>
            </a:r>
          </a:p>
        </p:txBody>
      </p:sp>
      <p:sp>
        <p:nvSpPr>
          <p:cNvPr id="21" name="chip No"/>
          <p:cNvSpPr/>
          <p:nvPr/>
        </p:nvSpPr>
        <p:spPr>
          <a:xfrm>
            <a:off x="3884904" y="2587752"/>
            <a:ext cx="960120" cy="329184"/>
          </a:xfrm>
          <a:prstGeom prst="roundRect">
            <a:avLst>
              <a:gd name="adj" fmla="val 50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5B6472"/>
                </a:solidFill>
                <a:latin typeface="Arial"/>
              </a:rPr>
              <a:t>No</a:t>
            </a:r>
          </a:p>
        </p:txBody>
      </p:sp>
      <p:sp>
        <p:nvSpPr>
          <p:cNvPr id="22" name="chip Partial"/>
          <p:cNvSpPr/>
          <p:nvPr/>
        </p:nvSpPr>
        <p:spPr>
          <a:xfrm>
            <a:off x="5208193" y="2587752"/>
            <a:ext cx="960120" cy="329184"/>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92400E"/>
                </a:solidFill>
                <a:latin typeface="Arial"/>
              </a:rPr>
              <a:t>Partial</a:t>
            </a:r>
          </a:p>
        </p:txBody>
      </p:sp>
      <p:sp>
        <p:nvSpPr>
          <p:cNvPr id="23" name="chip No"/>
          <p:cNvSpPr/>
          <p:nvPr/>
        </p:nvSpPr>
        <p:spPr>
          <a:xfrm>
            <a:off x="6531483" y="2587752"/>
            <a:ext cx="960120" cy="329184"/>
          </a:xfrm>
          <a:prstGeom prst="roundRect">
            <a:avLst>
              <a:gd name="adj" fmla="val 50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5B6472"/>
                </a:solidFill>
                <a:latin typeface="Arial"/>
              </a:rPr>
              <a:t>No</a:t>
            </a:r>
          </a:p>
        </p:txBody>
      </p:sp>
      <p:sp>
        <p:nvSpPr>
          <p:cNvPr id="24" name="chip Partial"/>
          <p:cNvSpPr/>
          <p:nvPr/>
        </p:nvSpPr>
        <p:spPr>
          <a:xfrm>
            <a:off x="7854772" y="2587752"/>
            <a:ext cx="960120" cy="329184"/>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92400E"/>
                </a:solidFill>
                <a:latin typeface="Arial"/>
              </a:rPr>
              <a:t>Partial</a:t>
            </a:r>
          </a:p>
        </p:txBody>
      </p:sp>
      <p:sp>
        <p:nvSpPr>
          <p:cNvPr id="25" name="chip Yes"/>
          <p:cNvSpPr/>
          <p:nvPr/>
        </p:nvSpPr>
        <p:spPr>
          <a:xfrm>
            <a:off x="9178061" y="2587752"/>
            <a:ext cx="960120" cy="329184"/>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Arial"/>
              </a:rPr>
              <a:t>Yes</a:t>
            </a:r>
          </a:p>
        </p:txBody>
      </p:sp>
      <p:sp>
        <p:nvSpPr>
          <p:cNvPr id="26" name="chip Yes"/>
          <p:cNvSpPr/>
          <p:nvPr/>
        </p:nvSpPr>
        <p:spPr>
          <a:xfrm>
            <a:off x="10501350" y="2587752"/>
            <a:ext cx="960120" cy="329184"/>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Arial"/>
              </a:rPr>
              <a:t>Yes</a:t>
            </a:r>
          </a:p>
        </p:txBody>
      </p:sp>
      <p:sp>
        <p:nvSpPr>
          <p:cNvPr id="27" name="row rule"/>
          <p:cNvSpPr/>
          <p:nvPr/>
        </p:nvSpPr>
        <p:spPr>
          <a:xfrm>
            <a:off x="548640" y="3017520"/>
            <a:ext cx="11094415" cy="10972"/>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w 3"/>
          <p:cNvSpPr txBox="1"/>
          <p:nvPr/>
        </p:nvSpPr>
        <p:spPr>
          <a:xfrm>
            <a:off x="548640" y="3017520"/>
            <a:ext cx="3063240" cy="530352"/>
          </a:xfrm>
          <a:prstGeom prst="rect">
            <a:avLst/>
          </a:prstGeom>
          <a:noFill/>
        </p:spPr>
        <p:txBody>
          <a:bodyPr wrap="square" anchor="ctr" lIns="0" rIns="0" tIns="0" bIns="0">
            <a:noAutofit/>
          </a:bodyPr>
          <a:lstStyle/>
          <a:p>
            <a:pPr algn="l"/>
            <a:r>
              <a:rPr sz="1700" b="0" i="0">
                <a:solidFill>
                  <a:srgbClr val="1F2937"/>
                </a:solidFill>
                <a:latin typeface="Arial"/>
              </a:rPr>
              <a:t>Arabic injection detection</a:t>
            </a:r>
          </a:p>
        </p:txBody>
      </p:sp>
      <p:sp>
        <p:nvSpPr>
          <p:cNvPr id="29" name="chip Yes"/>
          <p:cNvSpPr/>
          <p:nvPr/>
        </p:nvSpPr>
        <p:spPr>
          <a:xfrm>
            <a:off x="3884904" y="3118103"/>
            <a:ext cx="960120" cy="329184"/>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Arial"/>
              </a:rPr>
              <a:t>Yes</a:t>
            </a:r>
          </a:p>
        </p:txBody>
      </p:sp>
      <p:sp>
        <p:nvSpPr>
          <p:cNvPr id="30" name="chip Partial"/>
          <p:cNvSpPr/>
          <p:nvPr/>
        </p:nvSpPr>
        <p:spPr>
          <a:xfrm>
            <a:off x="5208193" y="3118103"/>
            <a:ext cx="960120" cy="329184"/>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92400E"/>
                </a:solidFill>
                <a:latin typeface="Arial"/>
              </a:rPr>
              <a:t>Partial</a:t>
            </a:r>
          </a:p>
        </p:txBody>
      </p:sp>
      <p:sp>
        <p:nvSpPr>
          <p:cNvPr id="31" name="chip No"/>
          <p:cNvSpPr/>
          <p:nvPr/>
        </p:nvSpPr>
        <p:spPr>
          <a:xfrm>
            <a:off x="6531483" y="3118103"/>
            <a:ext cx="960120" cy="329184"/>
          </a:xfrm>
          <a:prstGeom prst="roundRect">
            <a:avLst>
              <a:gd name="adj" fmla="val 50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5B6472"/>
                </a:solidFill>
                <a:latin typeface="Arial"/>
              </a:rPr>
              <a:t>No</a:t>
            </a:r>
          </a:p>
        </p:txBody>
      </p:sp>
      <p:sp>
        <p:nvSpPr>
          <p:cNvPr id="32" name="chip No"/>
          <p:cNvSpPr/>
          <p:nvPr/>
        </p:nvSpPr>
        <p:spPr>
          <a:xfrm>
            <a:off x="7854772" y="3118103"/>
            <a:ext cx="960120" cy="329184"/>
          </a:xfrm>
          <a:prstGeom prst="roundRect">
            <a:avLst>
              <a:gd name="adj" fmla="val 50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5B6472"/>
                </a:solidFill>
                <a:latin typeface="Arial"/>
              </a:rPr>
              <a:t>No</a:t>
            </a:r>
          </a:p>
        </p:txBody>
      </p:sp>
      <p:sp>
        <p:nvSpPr>
          <p:cNvPr id="33" name="chip n/a"/>
          <p:cNvSpPr/>
          <p:nvPr/>
        </p:nvSpPr>
        <p:spPr>
          <a:xfrm>
            <a:off x="9178061" y="3118103"/>
            <a:ext cx="960120" cy="329184"/>
          </a:xfrm>
          <a:prstGeom prst="roundRect">
            <a:avLst>
              <a:gd name="adj" fmla="val 50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5B6472"/>
                </a:solidFill>
                <a:latin typeface="Arial"/>
              </a:rPr>
              <a:t>n/a</a:t>
            </a:r>
          </a:p>
        </p:txBody>
      </p:sp>
      <p:sp>
        <p:nvSpPr>
          <p:cNvPr id="34" name="chip Yes*"/>
          <p:cNvSpPr/>
          <p:nvPr/>
        </p:nvSpPr>
        <p:spPr>
          <a:xfrm>
            <a:off x="10501350" y="3118103"/>
            <a:ext cx="960120" cy="329184"/>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Arial"/>
              </a:rPr>
              <a:t>Yes*</a:t>
            </a:r>
          </a:p>
        </p:txBody>
      </p:sp>
      <p:sp>
        <p:nvSpPr>
          <p:cNvPr id="35" name="row rule"/>
          <p:cNvSpPr/>
          <p:nvPr/>
        </p:nvSpPr>
        <p:spPr>
          <a:xfrm>
            <a:off x="548640" y="3547872"/>
            <a:ext cx="11094415" cy="10972"/>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w 4"/>
          <p:cNvSpPr txBox="1"/>
          <p:nvPr/>
        </p:nvSpPr>
        <p:spPr>
          <a:xfrm>
            <a:off x="548640" y="3547872"/>
            <a:ext cx="3063240" cy="530352"/>
          </a:xfrm>
          <a:prstGeom prst="rect">
            <a:avLst/>
          </a:prstGeom>
          <a:noFill/>
        </p:spPr>
        <p:txBody>
          <a:bodyPr wrap="square" anchor="ctr" lIns="0" rIns="0" tIns="0" bIns="0">
            <a:noAutofit/>
          </a:bodyPr>
          <a:lstStyle/>
          <a:p>
            <a:pPr algn="l"/>
            <a:r>
              <a:rPr sz="1700" b="0" i="0">
                <a:solidFill>
                  <a:srgbClr val="1F2937"/>
                </a:solidFill>
                <a:latin typeface="Arial"/>
              </a:rPr>
              <a:t>Human approval channel</a:t>
            </a:r>
          </a:p>
        </p:txBody>
      </p:sp>
      <p:sp>
        <p:nvSpPr>
          <p:cNvPr id="37" name="chip No"/>
          <p:cNvSpPr/>
          <p:nvPr/>
        </p:nvSpPr>
        <p:spPr>
          <a:xfrm>
            <a:off x="3884904" y="3648456"/>
            <a:ext cx="960120" cy="329184"/>
          </a:xfrm>
          <a:prstGeom prst="roundRect">
            <a:avLst>
              <a:gd name="adj" fmla="val 50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5B6472"/>
                </a:solidFill>
                <a:latin typeface="Arial"/>
              </a:rPr>
              <a:t>No</a:t>
            </a:r>
          </a:p>
        </p:txBody>
      </p:sp>
      <p:sp>
        <p:nvSpPr>
          <p:cNvPr id="38" name="chip Partial"/>
          <p:cNvSpPr/>
          <p:nvPr/>
        </p:nvSpPr>
        <p:spPr>
          <a:xfrm>
            <a:off x="5208193" y="3648456"/>
            <a:ext cx="960120" cy="329184"/>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92400E"/>
                </a:solidFill>
                <a:latin typeface="Arial"/>
              </a:rPr>
              <a:t>Partial</a:t>
            </a:r>
          </a:p>
        </p:txBody>
      </p:sp>
      <p:sp>
        <p:nvSpPr>
          <p:cNvPr id="39" name="chip No"/>
          <p:cNvSpPr/>
          <p:nvPr/>
        </p:nvSpPr>
        <p:spPr>
          <a:xfrm>
            <a:off x="6531483" y="3648456"/>
            <a:ext cx="960120" cy="329184"/>
          </a:xfrm>
          <a:prstGeom prst="roundRect">
            <a:avLst>
              <a:gd name="adj" fmla="val 50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5B6472"/>
                </a:solidFill>
                <a:latin typeface="Arial"/>
              </a:rPr>
              <a:t>No</a:t>
            </a:r>
          </a:p>
        </p:txBody>
      </p:sp>
      <p:sp>
        <p:nvSpPr>
          <p:cNvPr id="40" name="chip No"/>
          <p:cNvSpPr/>
          <p:nvPr/>
        </p:nvSpPr>
        <p:spPr>
          <a:xfrm>
            <a:off x="7854772" y="3648456"/>
            <a:ext cx="960120" cy="329184"/>
          </a:xfrm>
          <a:prstGeom prst="roundRect">
            <a:avLst>
              <a:gd name="adj" fmla="val 50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5B6472"/>
                </a:solidFill>
                <a:latin typeface="Arial"/>
              </a:rPr>
              <a:t>No</a:t>
            </a:r>
          </a:p>
        </p:txBody>
      </p:sp>
      <p:sp>
        <p:nvSpPr>
          <p:cNvPr id="41" name="chip Partial"/>
          <p:cNvSpPr/>
          <p:nvPr/>
        </p:nvSpPr>
        <p:spPr>
          <a:xfrm>
            <a:off x="9178061" y="3648456"/>
            <a:ext cx="960120" cy="329184"/>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92400E"/>
                </a:solidFill>
                <a:latin typeface="Arial"/>
              </a:rPr>
              <a:t>Partial</a:t>
            </a:r>
          </a:p>
        </p:txBody>
      </p:sp>
      <p:sp>
        <p:nvSpPr>
          <p:cNvPr id="42" name="chip Yes"/>
          <p:cNvSpPr/>
          <p:nvPr/>
        </p:nvSpPr>
        <p:spPr>
          <a:xfrm>
            <a:off x="10501350" y="3648456"/>
            <a:ext cx="960120" cy="329184"/>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Arial"/>
              </a:rPr>
              <a:t>Yes</a:t>
            </a:r>
          </a:p>
        </p:txBody>
      </p:sp>
      <p:sp>
        <p:nvSpPr>
          <p:cNvPr id="43" name="row rule"/>
          <p:cNvSpPr/>
          <p:nvPr/>
        </p:nvSpPr>
        <p:spPr>
          <a:xfrm>
            <a:off x="548640" y="4078224"/>
            <a:ext cx="11094415" cy="10972"/>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w 5"/>
          <p:cNvSpPr txBox="1"/>
          <p:nvPr/>
        </p:nvSpPr>
        <p:spPr>
          <a:xfrm>
            <a:off x="548640" y="4078224"/>
            <a:ext cx="3063240" cy="530352"/>
          </a:xfrm>
          <a:prstGeom prst="rect">
            <a:avLst/>
          </a:prstGeom>
          <a:noFill/>
        </p:spPr>
        <p:txBody>
          <a:bodyPr wrap="square" anchor="ctr" lIns="0" rIns="0" tIns="0" bIns="0">
            <a:noAutofit/>
          </a:bodyPr>
          <a:lstStyle/>
          <a:p>
            <a:pPr algn="l"/>
            <a:r>
              <a:rPr sz="1700" b="0" i="0">
                <a:solidFill>
                  <a:srgbClr val="1F2937"/>
                </a:solidFill>
                <a:latin typeface="Arial"/>
              </a:rPr>
              <a:t>Tamper-evident decision audit</a:t>
            </a:r>
          </a:p>
        </p:txBody>
      </p:sp>
      <p:sp>
        <p:nvSpPr>
          <p:cNvPr id="45" name="chip No"/>
          <p:cNvSpPr/>
          <p:nvPr/>
        </p:nvSpPr>
        <p:spPr>
          <a:xfrm>
            <a:off x="3884904" y="4178808"/>
            <a:ext cx="960120" cy="329184"/>
          </a:xfrm>
          <a:prstGeom prst="roundRect">
            <a:avLst>
              <a:gd name="adj" fmla="val 50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5B6472"/>
                </a:solidFill>
                <a:latin typeface="Arial"/>
              </a:rPr>
              <a:t>No</a:t>
            </a:r>
          </a:p>
        </p:txBody>
      </p:sp>
      <p:sp>
        <p:nvSpPr>
          <p:cNvPr id="46" name="chip Partial"/>
          <p:cNvSpPr/>
          <p:nvPr/>
        </p:nvSpPr>
        <p:spPr>
          <a:xfrm>
            <a:off x="5208193" y="4178808"/>
            <a:ext cx="960120" cy="329184"/>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92400E"/>
                </a:solidFill>
                <a:latin typeface="Arial"/>
              </a:rPr>
              <a:t>Partial</a:t>
            </a:r>
          </a:p>
        </p:txBody>
      </p:sp>
      <p:sp>
        <p:nvSpPr>
          <p:cNvPr id="47" name="chip No"/>
          <p:cNvSpPr/>
          <p:nvPr/>
        </p:nvSpPr>
        <p:spPr>
          <a:xfrm>
            <a:off x="6531483" y="4178808"/>
            <a:ext cx="960120" cy="329184"/>
          </a:xfrm>
          <a:prstGeom prst="roundRect">
            <a:avLst>
              <a:gd name="adj" fmla="val 50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5B6472"/>
                </a:solidFill>
                <a:latin typeface="Arial"/>
              </a:rPr>
              <a:t>No</a:t>
            </a:r>
          </a:p>
        </p:txBody>
      </p:sp>
      <p:sp>
        <p:nvSpPr>
          <p:cNvPr id="48" name="chip No"/>
          <p:cNvSpPr/>
          <p:nvPr/>
        </p:nvSpPr>
        <p:spPr>
          <a:xfrm>
            <a:off x="7854772" y="4178808"/>
            <a:ext cx="960120" cy="329184"/>
          </a:xfrm>
          <a:prstGeom prst="roundRect">
            <a:avLst>
              <a:gd name="adj" fmla="val 50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5B6472"/>
                </a:solidFill>
                <a:latin typeface="Arial"/>
              </a:rPr>
              <a:t>No</a:t>
            </a:r>
          </a:p>
        </p:txBody>
      </p:sp>
      <p:sp>
        <p:nvSpPr>
          <p:cNvPr id="49" name="chip No"/>
          <p:cNvSpPr/>
          <p:nvPr/>
        </p:nvSpPr>
        <p:spPr>
          <a:xfrm>
            <a:off x="9178061" y="4178808"/>
            <a:ext cx="960120" cy="329184"/>
          </a:xfrm>
          <a:prstGeom prst="roundRect">
            <a:avLst>
              <a:gd name="adj" fmla="val 50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5B6472"/>
                </a:solidFill>
                <a:latin typeface="Arial"/>
              </a:rPr>
              <a:t>No</a:t>
            </a:r>
          </a:p>
        </p:txBody>
      </p:sp>
      <p:sp>
        <p:nvSpPr>
          <p:cNvPr id="50" name="chip Yes"/>
          <p:cNvSpPr/>
          <p:nvPr/>
        </p:nvSpPr>
        <p:spPr>
          <a:xfrm>
            <a:off x="10501350" y="4178808"/>
            <a:ext cx="960120" cy="329184"/>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Arial"/>
              </a:rPr>
              <a:t>Yes</a:t>
            </a:r>
          </a:p>
        </p:txBody>
      </p:sp>
      <p:sp>
        <p:nvSpPr>
          <p:cNvPr id="51" name="legend"/>
          <p:cNvSpPr txBox="1"/>
          <p:nvPr/>
        </p:nvSpPr>
        <p:spPr>
          <a:xfrm>
            <a:off x="548640" y="4736592"/>
            <a:ext cx="11094415" cy="292608"/>
          </a:xfrm>
          <a:prstGeom prst="rect">
            <a:avLst/>
          </a:prstGeom>
          <a:noFill/>
        </p:spPr>
        <p:txBody>
          <a:bodyPr wrap="square" anchor="t" lIns="0" rIns="0" tIns="0" bIns="0">
            <a:noAutofit/>
          </a:bodyPr>
          <a:lstStyle/>
          <a:p>
            <a:pPr algn="l"/>
            <a:r>
              <a:rPr sz="1300" b="0" i="0">
                <a:solidFill>
                  <a:srgbClr val="5B6472"/>
                </a:solidFill>
                <a:latin typeface="Arial"/>
              </a:rPr>
              <a:t>Yes = documented · Partial = limited, preview or tied to one platform · No = not documented · * built; accuracy pending team data</a:t>
            </a:r>
          </a:p>
        </p:txBody>
      </p:sp>
      <p:sp>
        <p:nvSpPr>
          <p:cNvPr id="52" name="source"/>
          <p:cNvSpPr txBox="1"/>
          <p:nvPr/>
        </p:nvSpPr>
        <p:spPr>
          <a:xfrm>
            <a:off x="548640" y="5047488"/>
            <a:ext cx="11094415" cy="274320"/>
          </a:xfrm>
          <a:prstGeom prst="rect">
            <a:avLst/>
          </a:prstGeom>
          <a:noFill/>
        </p:spPr>
        <p:txBody>
          <a:bodyPr wrap="square" anchor="t" lIns="0" rIns="0" tIns="0" bIns="0">
            <a:noAutofit/>
          </a:bodyPr>
          <a:lstStyle/>
          <a:p>
            <a:pPr algn="l"/>
            <a:r>
              <a:rPr sz="1200" b="0" i="0">
                <a:solidFill>
                  <a:srgbClr val="5B6472"/>
                </a:solidFill>
                <a:latin typeface="Arial"/>
              </a:rPr>
              <a:t>Source: team review of product documentation and papers, October 2026 (docs/research/competitive-analysis.md)</a:t>
            </a:r>
          </a:p>
        </p:txBody>
      </p:sp>
      <p:sp>
        <p:nvSpPr>
          <p:cNvPr id="53" name="gap box"/>
          <p:cNvSpPr/>
          <p:nvPr/>
        </p:nvSpPr>
        <p:spPr>
          <a:xfrm>
            <a:off x="548640" y="5596128"/>
            <a:ext cx="11094415" cy="621792"/>
          </a:xfrm>
          <a:prstGeom prst="roundRect">
            <a:avLst>
              <a:gd name="adj" fmla="val 20588"/>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gap text"/>
          <p:cNvSpPr txBox="1"/>
          <p:nvPr/>
        </p:nvSpPr>
        <p:spPr>
          <a:xfrm>
            <a:off x="868680" y="5596128"/>
            <a:ext cx="10454335" cy="621792"/>
          </a:xfrm>
          <a:prstGeom prst="rect">
            <a:avLst/>
          </a:prstGeom>
          <a:noFill/>
        </p:spPr>
        <p:txBody>
          <a:bodyPr wrap="square" anchor="ctr" lIns="0" rIns="0" tIns="0" bIns="0">
            <a:noAutofit/>
          </a:bodyPr>
          <a:lstStyle/>
          <a:p>
            <a:pPr algn="l"/>
            <a:r>
              <a:rPr sz="1900" b="1" i="0">
                <a:solidFill>
                  <a:srgbClr val="2DD4BF"/>
                </a:solidFill>
                <a:latin typeface="Arial"/>
              </a:rPr>
              <a:t>Gap: </a:t>
            </a:r>
            <a:r>
              <a:rPr sz="1900" b="0" i="0">
                <a:solidFill>
                  <a:srgbClr val="FFFFFF"/>
                </a:solidFill>
                <a:latin typeface="Arial"/>
              </a:rPr>
              <a:t>no reviewed system documents all five in one vendor-neutral, self-hostable component.</a:t>
            </a:r>
          </a:p>
        </p:txBody>
      </p:sp>
      <p:pic>
        <p:nvPicPr>
          <p:cNvPr id="55" name="Picture 54" descr="Mirsad logo"/>
          <p:cNvPicPr>
            <a:picLocks noChangeAspect="1"/>
          </p:cNvPicPr>
          <p:nvPr/>
        </p:nvPicPr>
        <p:blipFill>
          <a:blip r:embed="rId2"/>
          <a:stretch>
            <a:fillRect/>
          </a:stretch>
        </p:blipFill>
        <p:spPr>
          <a:xfrm>
            <a:off x="548640" y="6419088"/>
            <a:ext cx="219456" cy="219456"/>
          </a:xfrm>
          <a:prstGeom prst="rect">
            <a:avLst/>
          </a:prstGeom>
        </p:spPr>
      </p:pic>
      <p:sp>
        <p:nvSpPr>
          <p:cNvPr id="56" name="footer"/>
          <p:cNvSpPr txBox="1"/>
          <p:nvPr/>
        </p:nvSpPr>
        <p:spPr>
          <a:xfrm>
            <a:off x="859536" y="6437376"/>
            <a:ext cx="6400800" cy="219456"/>
          </a:xfrm>
          <a:prstGeom prst="rect">
            <a:avLst/>
          </a:prstGeom>
          <a:noFill/>
        </p:spPr>
        <p:txBody>
          <a:bodyPr wrap="square" anchor="t" lIns="0" rIns="0" tIns="0" bIns="0">
            <a:noAutofit/>
          </a:bodyPr>
          <a:lstStyle/>
          <a:p>
            <a:pPr algn="l"/>
            <a:r>
              <a:rPr sz="1000" b="0" i="0">
                <a:solidFill>
                  <a:srgbClr val="5B6472"/>
                </a:solidFill>
                <a:latin typeface="Arial"/>
              </a:rPr>
              <a:t>Mirsad </a:t>
            </a:r>
            <a:r>
              <a:rPr sz="1000" b="0" i="0" lang="ar-SA">
                <a:solidFill>
                  <a:srgbClr val="5B6472"/>
                </a:solidFill>
                <a:latin typeface="Arial"/>
                <a:cs typeface="Arial"/>
              </a:rPr>
              <a:t>مرصاد</a:t>
            </a:r>
            <a:r>
              <a:rPr sz="1000" b="0" i="0">
                <a:solidFill>
                  <a:srgbClr val="5B6472"/>
                </a:solidFill>
                <a:latin typeface="Arial"/>
              </a:rPr>
              <a:t>  ·  IS499 Senior Project  ·  Prince Sultan University</a:t>
            </a:r>
          </a:p>
        </p:txBody>
      </p:sp>
      <p:sp>
        <p:nvSpPr>
          <p:cNvPr id="57" name="slide number"/>
          <p:cNvSpPr txBox="1"/>
          <p:nvPr/>
        </p:nvSpPr>
        <p:spPr>
          <a:xfrm>
            <a:off x="10545775" y="6419088"/>
            <a:ext cx="1097280" cy="237744"/>
          </a:xfrm>
          <a:prstGeom prst="rect">
            <a:avLst/>
          </a:prstGeom>
          <a:noFill/>
        </p:spPr>
        <p:txBody>
          <a:bodyPr wrap="square" anchor="t" lIns="0" rIns="0" tIns="0" bIns="0">
            <a:noAutofit/>
          </a:bodyPr>
          <a:lstStyle/>
          <a:p>
            <a:pPr algn="r"/>
            <a:r>
              <a:rPr sz="1100" b="0" i="0">
                <a:solidFill>
                  <a:srgbClr val="5B6472"/>
                </a:solidFill>
                <a:latin typeface="Arial"/>
              </a:rPr>
              <a:t>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11094415" cy="731520"/>
          </a:xfrm>
        </p:spPr>
        <p:txBody>
          <a:bodyPr wrap="square" anchor="t" lIns="0" rIns="0" tIns="0" bIns="0">
            <a:noAutofit/>
          </a:bodyPr>
          <a:lstStyle/>
          <a:p>
            <a:pPr algn="l"/>
            <a:r>
              <a:rPr sz="3000" b="1" i="0">
                <a:solidFill>
                  <a:srgbClr val="0B1F3A"/>
                </a:solidFill>
                <a:latin typeface="Arial"/>
              </a:rPr>
              <a:t>26 functional and 11 non-functional requirements</a:t>
            </a:r>
          </a:p>
        </p:txBody>
      </p:sp>
      <p:sp>
        <p:nvSpPr>
          <p:cNvPr id="3" name="kicker"/>
          <p:cNvSpPr txBox="1"/>
          <p:nvPr/>
        </p:nvSpPr>
        <p:spPr>
          <a:xfrm>
            <a:off x="548640" y="274320"/>
            <a:ext cx="7315200" cy="274320"/>
          </a:xfrm>
          <a:prstGeom prst="rect">
            <a:avLst/>
          </a:prstGeom>
          <a:noFill/>
        </p:spPr>
        <p:txBody>
          <a:bodyPr wrap="square" anchor="t" lIns="0" rIns="0" tIns="0" bIns="0">
            <a:noAutofit/>
          </a:bodyPr>
          <a:lstStyle/>
          <a:p>
            <a:pPr algn="l"/>
            <a:r>
              <a:rPr sz="1200" b="1" i="0" spc="150">
                <a:solidFill>
                  <a:srgbClr val="0F766E"/>
                </a:solidFill>
                <a:latin typeface="Arial"/>
              </a:rPr>
              <a:t>ANALYSIS · REQUIREMENTS</a:t>
            </a:r>
          </a:p>
        </p:txBody>
      </p:sp>
      <p:sp>
        <p:nvSpPr>
          <p:cNvPr id="4" name="tile FR1"/>
          <p:cNvSpPr/>
          <p:nvPr/>
        </p:nvSpPr>
        <p:spPr>
          <a:xfrm>
            <a:off x="548640" y="1645920"/>
            <a:ext cx="1847088" cy="1463040"/>
          </a:xfrm>
          <a:prstGeom prst="roundRect">
            <a:avLst>
              <a:gd name="adj" fmla="val 875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1 id"/>
          <p:cNvSpPr txBox="1"/>
          <p:nvPr/>
        </p:nvSpPr>
        <p:spPr>
          <a:xfrm>
            <a:off x="731520" y="1810512"/>
            <a:ext cx="1481328" cy="274320"/>
          </a:xfrm>
          <a:prstGeom prst="rect">
            <a:avLst/>
          </a:prstGeom>
          <a:noFill/>
        </p:spPr>
        <p:txBody>
          <a:bodyPr wrap="square" anchor="t" lIns="0" rIns="0" tIns="0" bIns="0">
            <a:noAutofit/>
          </a:bodyPr>
          <a:lstStyle/>
          <a:p>
            <a:pPr algn="l"/>
            <a:r>
              <a:rPr sz="1400" b="1" i="0">
                <a:solidFill>
                  <a:srgbClr val="0F766E"/>
                </a:solidFill>
                <a:latin typeface="Arial"/>
              </a:rPr>
              <a:t>FR1</a:t>
            </a:r>
          </a:p>
        </p:txBody>
      </p:sp>
      <p:sp>
        <p:nvSpPr>
          <p:cNvPr id="6" name="FR1 name"/>
          <p:cNvSpPr txBox="1"/>
          <p:nvPr/>
        </p:nvSpPr>
        <p:spPr>
          <a:xfrm>
            <a:off x="731520" y="2103120"/>
            <a:ext cx="1481328" cy="621792"/>
          </a:xfrm>
          <a:prstGeom prst="rect">
            <a:avLst/>
          </a:prstGeom>
          <a:noFill/>
        </p:spPr>
        <p:txBody>
          <a:bodyPr wrap="square" anchor="t" lIns="0" rIns="0" tIns="0" bIns="0">
            <a:noAutofit/>
          </a:bodyPr>
          <a:lstStyle/>
          <a:p>
            <a:pPr algn="l"/>
            <a:r>
              <a:rPr sz="1800" b="1" i="0">
                <a:solidFill>
                  <a:srgbClr val="0B1F3A"/>
                </a:solidFill>
                <a:latin typeface="Arial"/>
              </a:rPr>
              <a:t>Agent interception</a:t>
            </a:r>
          </a:p>
        </p:txBody>
      </p:sp>
      <p:sp>
        <p:nvSpPr>
          <p:cNvPr id="7" name="FR1 count"/>
          <p:cNvSpPr txBox="1"/>
          <p:nvPr/>
        </p:nvSpPr>
        <p:spPr>
          <a:xfrm>
            <a:off x="731520" y="2724912"/>
            <a:ext cx="1481328" cy="274320"/>
          </a:xfrm>
          <a:prstGeom prst="rect">
            <a:avLst/>
          </a:prstGeom>
          <a:noFill/>
        </p:spPr>
        <p:txBody>
          <a:bodyPr wrap="square" anchor="t" lIns="0" rIns="0" tIns="0" bIns="0">
            <a:noAutofit/>
          </a:bodyPr>
          <a:lstStyle/>
          <a:p>
            <a:pPr algn="l"/>
            <a:r>
              <a:rPr sz="1300" b="0" i="0">
                <a:solidFill>
                  <a:srgbClr val="5B6472"/>
                </a:solidFill>
                <a:latin typeface="Arial"/>
              </a:rPr>
              <a:t>4 requirements</a:t>
            </a:r>
          </a:p>
        </p:txBody>
      </p:sp>
      <p:sp>
        <p:nvSpPr>
          <p:cNvPr id="8" name="tile FR2"/>
          <p:cNvSpPr/>
          <p:nvPr/>
        </p:nvSpPr>
        <p:spPr>
          <a:xfrm>
            <a:off x="2578608" y="1645920"/>
            <a:ext cx="1847088" cy="1463040"/>
          </a:xfrm>
          <a:prstGeom prst="roundRect">
            <a:avLst>
              <a:gd name="adj" fmla="val 875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FR2 id"/>
          <p:cNvSpPr txBox="1"/>
          <p:nvPr/>
        </p:nvSpPr>
        <p:spPr>
          <a:xfrm>
            <a:off x="2761488" y="1810512"/>
            <a:ext cx="1481328" cy="274320"/>
          </a:xfrm>
          <a:prstGeom prst="rect">
            <a:avLst/>
          </a:prstGeom>
          <a:noFill/>
        </p:spPr>
        <p:txBody>
          <a:bodyPr wrap="square" anchor="t" lIns="0" rIns="0" tIns="0" bIns="0">
            <a:noAutofit/>
          </a:bodyPr>
          <a:lstStyle/>
          <a:p>
            <a:pPr algn="l"/>
            <a:r>
              <a:rPr sz="1400" b="1" i="0">
                <a:solidFill>
                  <a:srgbClr val="0F766E"/>
                </a:solidFill>
                <a:latin typeface="Arial"/>
              </a:rPr>
              <a:t>FR2</a:t>
            </a:r>
          </a:p>
        </p:txBody>
      </p:sp>
      <p:sp>
        <p:nvSpPr>
          <p:cNvPr id="10" name="FR2 name"/>
          <p:cNvSpPr txBox="1"/>
          <p:nvPr/>
        </p:nvSpPr>
        <p:spPr>
          <a:xfrm>
            <a:off x="2761488" y="2103120"/>
            <a:ext cx="1481328" cy="621792"/>
          </a:xfrm>
          <a:prstGeom prst="rect">
            <a:avLst/>
          </a:prstGeom>
          <a:noFill/>
        </p:spPr>
        <p:txBody>
          <a:bodyPr wrap="square" anchor="t" lIns="0" rIns="0" tIns="0" bIns="0">
            <a:noAutofit/>
          </a:bodyPr>
          <a:lstStyle/>
          <a:p>
            <a:pPr algn="l"/>
            <a:r>
              <a:rPr sz="1800" b="1" i="0">
                <a:solidFill>
                  <a:srgbClr val="0B1F3A"/>
                </a:solidFill>
                <a:latin typeface="Arial"/>
              </a:rPr>
              <a:t>Policy engine</a:t>
            </a:r>
          </a:p>
        </p:txBody>
      </p:sp>
      <p:sp>
        <p:nvSpPr>
          <p:cNvPr id="11" name="FR2 count"/>
          <p:cNvSpPr txBox="1"/>
          <p:nvPr/>
        </p:nvSpPr>
        <p:spPr>
          <a:xfrm>
            <a:off x="2761488" y="2724912"/>
            <a:ext cx="1481328" cy="274320"/>
          </a:xfrm>
          <a:prstGeom prst="rect">
            <a:avLst/>
          </a:prstGeom>
          <a:noFill/>
        </p:spPr>
        <p:txBody>
          <a:bodyPr wrap="square" anchor="t" lIns="0" rIns="0" tIns="0" bIns="0">
            <a:noAutofit/>
          </a:bodyPr>
          <a:lstStyle/>
          <a:p>
            <a:pPr algn="l"/>
            <a:r>
              <a:rPr sz="1300" b="0" i="0">
                <a:solidFill>
                  <a:srgbClr val="5B6472"/>
                </a:solidFill>
                <a:latin typeface="Arial"/>
              </a:rPr>
              <a:t>5 requirements</a:t>
            </a:r>
          </a:p>
        </p:txBody>
      </p:sp>
      <p:sp>
        <p:nvSpPr>
          <p:cNvPr id="12" name="tile FR3"/>
          <p:cNvSpPr/>
          <p:nvPr/>
        </p:nvSpPr>
        <p:spPr>
          <a:xfrm>
            <a:off x="4608576" y="1645920"/>
            <a:ext cx="1847088" cy="1463040"/>
          </a:xfrm>
          <a:prstGeom prst="roundRect">
            <a:avLst>
              <a:gd name="adj" fmla="val 875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FR3 id"/>
          <p:cNvSpPr txBox="1"/>
          <p:nvPr/>
        </p:nvSpPr>
        <p:spPr>
          <a:xfrm>
            <a:off x="4791456" y="1810512"/>
            <a:ext cx="1481328" cy="274320"/>
          </a:xfrm>
          <a:prstGeom prst="rect">
            <a:avLst/>
          </a:prstGeom>
          <a:noFill/>
        </p:spPr>
        <p:txBody>
          <a:bodyPr wrap="square" anchor="t" lIns="0" rIns="0" tIns="0" bIns="0">
            <a:noAutofit/>
          </a:bodyPr>
          <a:lstStyle/>
          <a:p>
            <a:pPr algn="l"/>
            <a:r>
              <a:rPr sz="1400" b="1" i="0">
                <a:solidFill>
                  <a:srgbClr val="0F766E"/>
                </a:solidFill>
                <a:latin typeface="Arial"/>
              </a:rPr>
              <a:t>FR3</a:t>
            </a:r>
          </a:p>
        </p:txBody>
      </p:sp>
      <p:sp>
        <p:nvSpPr>
          <p:cNvPr id="14" name="FR3 name"/>
          <p:cNvSpPr txBox="1"/>
          <p:nvPr/>
        </p:nvSpPr>
        <p:spPr>
          <a:xfrm>
            <a:off x="4791456" y="2103120"/>
            <a:ext cx="1481328" cy="621792"/>
          </a:xfrm>
          <a:prstGeom prst="rect">
            <a:avLst/>
          </a:prstGeom>
          <a:noFill/>
        </p:spPr>
        <p:txBody>
          <a:bodyPr wrap="square" anchor="t" lIns="0" rIns="0" tIns="0" bIns="0">
            <a:noAutofit/>
          </a:bodyPr>
          <a:lstStyle/>
          <a:p>
            <a:pPr algn="l"/>
            <a:r>
              <a:rPr sz="1800" b="1" i="0">
                <a:solidFill>
                  <a:srgbClr val="0B1F3A"/>
                </a:solidFill>
                <a:latin typeface="Arial"/>
              </a:rPr>
              <a:t>Taint tracking</a:t>
            </a:r>
          </a:p>
        </p:txBody>
      </p:sp>
      <p:sp>
        <p:nvSpPr>
          <p:cNvPr id="15" name="FR3 count"/>
          <p:cNvSpPr txBox="1"/>
          <p:nvPr/>
        </p:nvSpPr>
        <p:spPr>
          <a:xfrm>
            <a:off x="4791456" y="2724912"/>
            <a:ext cx="1481328" cy="274320"/>
          </a:xfrm>
          <a:prstGeom prst="rect">
            <a:avLst/>
          </a:prstGeom>
          <a:noFill/>
        </p:spPr>
        <p:txBody>
          <a:bodyPr wrap="square" anchor="t" lIns="0" rIns="0" tIns="0" bIns="0">
            <a:noAutofit/>
          </a:bodyPr>
          <a:lstStyle/>
          <a:p>
            <a:pPr algn="l"/>
            <a:r>
              <a:rPr sz="1300" b="0" i="0">
                <a:solidFill>
                  <a:srgbClr val="5B6472"/>
                </a:solidFill>
                <a:latin typeface="Arial"/>
              </a:rPr>
              <a:t>4 requirements</a:t>
            </a:r>
          </a:p>
        </p:txBody>
      </p:sp>
      <p:sp>
        <p:nvSpPr>
          <p:cNvPr id="16" name="tile FR4"/>
          <p:cNvSpPr/>
          <p:nvPr/>
        </p:nvSpPr>
        <p:spPr>
          <a:xfrm>
            <a:off x="6638544" y="1645920"/>
            <a:ext cx="1847088" cy="1463040"/>
          </a:xfrm>
          <a:prstGeom prst="roundRect">
            <a:avLst>
              <a:gd name="adj" fmla="val 875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FR4 id"/>
          <p:cNvSpPr txBox="1"/>
          <p:nvPr/>
        </p:nvSpPr>
        <p:spPr>
          <a:xfrm>
            <a:off x="6821424" y="1810512"/>
            <a:ext cx="1481328" cy="274320"/>
          </a:xfrm>
          <a:prstGeom prst="rect">
            <a:avLst/>
          </a:prstGeom>
          <a:noFill/>
        </p:spPr>
        <p:txBody>
          <a:bodyPr wrap="square" anchor="t" lIns="0" rIns="0" tIns="0" bIns="0">
            <a:noAutofit/>
          </a:bodyPr>
          <a:lstStyle/>
          <a:p>
            <a:pPr algn="l"/>
            <a:r>
              <a:rPr sz="1400" b="1" i="0">
                <a:solidFill>
                  <a:srgbClr val="0F766E"/>
                </a:solidFill>
                <a:latin typeface="Arial"/>
              </a:rPr>
              <a:t>FR4</a:t>
            </a:r>
          </a:p>
        </p:txBody>
      </p:sp>
      <p:sp>
        <p:nvSpPr>
          <p:cNvPr id="18" name="FR4 name"/>
          <p:cNvSpPr txBox="1"/>
          <p:nvPr/>
        </p:nvSpPr>
        <p:spPr>
          <a:xfrm>
            <a:off x="6821424" y="2103120"/>
            <a:ext cx="1481328" cy="621792"/>
          </a:xfrm>
          <a:prstGeom prst="rect">
            <a:avLst/>
          </a:prstGeom>
          <a:noFill/>
        </p:spPr>
        <p:txBody>
          <a:bodyPr wrap="square" anchor="t" lIns="0" rIns="0" tIns="0" bIns="0">
            <a:noAutofit/>
          </a:bodyPr>
          <a:lstStyle/>
          <a:p>
            <a:pPr algn="l"/>
            <a:r>
              <a:rPr sz="1800" b="1" i="0">
                <a:solidFill>
                  <a:srgbClr val="0B1F3A"/>
                </a:solidFill>
                <a:latin typeface="Arial"/>
              </a:rPr>
              <a:t>Injection detection</a:t>
            </a:r>
          </a:p>
        </p:txBody>
      </p:sp>
      <p:sp>
        <p:nvSpPr>
          <p:cNvPr id="19" name="FR4 count"/>
          <p:cNvSpPr txBox="1"/>
          <p:nvPr/>
        </p:nvSpPr>
        <p:spPr>
          <a:xfrm>
            <a:off x="6821424" y="2724912"/>
            <a:ext cx="1481328" cy="274320"/>
          </a:xfrm>
          <a:prstGeom prst="rect">
            <a:avLst/>
          </a:prstGeom>
          <a:noFill/>
        </p:spPr>
        <p:txBody>
          <a:bodyPr wrap="square" anchor="t" lIns="0" rIns="0" tIns="0" bIns="0">
            <a:noAutofit/>
          </a:bodyPr>
          <a:lstStyle/>
          <a:p>
            <a:pPr algn="l"/>
            <a:r>
              <a:rPr sz="1300" b="0" i="0">
                <a:solidFill>
                  <a:srgbClr val="5B6472"/>
                </a:solidFill>
                <a:latin typeface="Arial"/>
              </a:rPr>
              <a:t>3 requirements</a:t>
            </a:r>
          </a:p>
        </p:txBody>
      </p:sp>
      <p:sp>
        <p:nvSpPr>
          <p:cNvPr id="20" name="tile FR5"/>
          <p:cNvSpPr/>
          <p:nvPr/>
        </p:nvSpPr>
        <p:spPr>
          <a:xfrm>
            <a:off x="548640" y="3337560"/>
            <a:ext cx="1847088" cy="1463040"/>
          </a:xfrm>
          <a:prstGeom prst="roundRect">
            <a:avLst>
              <a:gd name="adj" fmla="val 875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FR5 id"/>
          <p:cNvSpPr txBox="1"/>
          <p:nvPr/>
        </p:nvSpPr>
        <p:spPr>
          <a:xfrm>
            <a:off x="731520" y="3502152"/>
            <a:ext cx="1481328" cy="274320"/>
          </a:xfrm>
          <a:prstGeom prst="rect">
            <a:avLst/>
          </a:prstGeom>
          <a:noFill/>
        </p:spPr>
        <p:txBody>
          <a:bodyPr wrap="square" anchor="t" lIns="0" rIns="0" tIns="0" bIns="0">
            <a:noAutofit/>
          </a:bodyPr>
          <a:lstStyle/>
          <a:p>
            <a:pPr algn="l"/>
            <a:r>
              <a:rPr sz="1400" b="1" i="0">
                <a:solidFill>
                  <a:srgbClr val="0F766E"/>
                </a:solidFill>
                <a:latin typeface="Arial"/>
              </a:rPr>
              <a:t>FR5</a:t>
            </a:r>
          </a:p>
        </p:txBody>
      </p:sp>
      <p:sp>
        <p:nvSpPr>
          <p:cNvPr id="22" name="FR5 name"/>
          <p:cNvSpPr txBox="1"/>
          <p:nvPr/>
        </p:nvSpPr>
        <p:spPr>
          <a:xfrm>
            <a:off x="731520" y="3794760"/>
            <a:ext cx="1481328" cy="621792"/>
          </a:xfrm>
          <a:prstGeom prst="rect">
            <a:avLst/>
          </a:prstGeom>
          <a:noFill/>
        </p:spPr>
        <p:txBody>
          <a:bodyPr wrap="square" anchor="t" lIns="0" rIns="0" tIns="0" bIns="0">
            <a:noAutofit/>
          </a:bodyPr>
          <a:lstStyle/>
          <a:p>
            <a:pPr algn="l"/>
            <a:r>
              <a:rPr sz="1800" b="1" i="0">
                <a:solidFill>
                  <a:srgbClr val="0B1F3A"/>
                </a:solidFill>
                <a:latin typeface="Arial"/>
              </a:rPr>
              <a:t>Human approval</a:t>
            </a:r>
          </a:p>
        </p:txBody>
      </p:sp>
      <p:sp>
        <p:nvSpPr>
          <p:cNvPr id="23" name="FR5 count"/>
          <p:cNvSpPr txBox="1"/>
          <p:nvPr/>
        </p:nvSpPr>
        <p:spPr>
          <a:xfrm>
            <a:off x="731520" y="4416552"/>
            <a:ext cx="1481328" cy="274320"/>
          </a:xfrm>
          <a:prstGeom prst="rect">
            <a:avLst/>
          </a:prstGeom>
          <a:noFill/>
        </p:spPr>
        <p:txBody>
          <a:bodyPr wrap="square" anchor="t" lIns="0" rIns="0" tIns="0" bIns="0">
            <a:noAutofit/>
          </a:bodyPr>
          <a:lstStyle/>
          <a:p>
            <a:pPr algn="l"/>
            <a:r>
              <a:rPr sz="1300" b="0" i="0">
                <a:solidFill>
                  <a:srgbClr val="5B6472"/>
                </a:solidFill>
                <a:latin typeface="Arial"/>
              </a:rPr>
              <a:t>3 requirements</a:t>
            </a:r>
          </a:p>
        </p:txBody>
      </p:sp>
      <p:sp>
        <p:nvSpPr>
          <p:cNvPr id="24" name="tile FR6"/>
          <p:cNvSpPr/>
          <p:nvPr/>
        </p:nvSpPr>
        <p:spPr>
          <a:xfrm>
            <a:off x="2578608" y="3337560"/>
            <a:ext cx="1847088" cy="1463040"/>
          </a:xfrm>
          <a:prstGeom prst="roundRect">
            <a:avLst>
              <a:gd name="adj" fmla="val 875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FR6 id"/>
          <p:cNvSpPr txBox="1"/>
          <p:nvPr/>
        </p:nvSpPr>
        <p:spPr>
          <a:xfrm>
            <a:off x="2761488" y="3502152"/>
            <a:ext cx="1481328" cy="274320"/>
          </a:xfrm>
          <a:prstGeom prst="rect">
            <a:avLst/>
          </a:prstGeom>
          <a:noFill/>
        </p:spPr>
        <p:txBody>
          <a:bodyPr wrap="square" anchor="t" lIns="0" rIns="0" tIns="0" bIns="0">
            <a:noAutofit/>
          </a:bodyPr>
          <a:lstStyle/>
          <a:p>
            <a:pPr algn="l"/>
            <a:r>
              <a:rPr sz="1400" b="1" i="0">
                <a:solidFill>
                  <a:srgbClr val="0F766E"/>
                </a:solidFill>
                <a:latin typeface="Arial"/>
              </a:rPr>
              <a:t>FR6</a:t>
            </a:r>
          </a:p>
        </p:txBody>
      </p:sp>
      <p:sp>
        <p:nvSpPr>
          <p:cNvPr id="26" name="FR6 name"/>
          <p:cNvSpPr txBox="1"/>
          <p:nvPr/>
        </p:nvSpPr>
        <p:spPr>
          <a:xfrm>
            <a:off x="2761488" y="3794760"/>
            <a:ext cx="1481328" cy="621792"/>
          </a:xfrm>
          <a:prstGeom prst="rect">
            <a:avLst/>
          </a:prstGeom>
          <a:noFill/>
        </p:spPr>
        <p:txBody>
          <a:bodyPr wrap="square" anchor="t" lIns="0" rIns="0" tIns="0" bIns="0">
            <a:noAutofit/>
          </a:bodyPr>
          <a:lstStyle/>
          <a:p>
            <a:pPr algn="l"/>
            <a:r>
              <a:rPr sz="1800" b="1" i="0">
                <a:solidFill>
                  <a:srgbClr val="0B1F3A"/>
                </a:solidFill>
                <a:latin typeface="Arial"/>
              </a:rPr>
              <a:t>Audit and replay</a:t>
            </a:r>
          </a:p>
        </p:txBody>
      </p:sp>
      <p:sp>
        <p:nvSpPr>
          <p:cNvPr id="27" name="FR6 count"/>
          <p:cNvSpPr txBox="1"/>
          <p:nvPr/>
        </p:nvSpPr>
        <p:spPr>
          <a:xfrm>
            <a:off x="2761488" y="4416552"/>
            <a:ext cx="1481328" cy="274320"/>
          </a:xfrm>
          <a:prstGeom prst="rect">
            <a:avLst/>
          </a:prstGeom>
          <a:noFill/>
        </p:spPr>
        <p:txBody>
          <a:bodyPr wrap="square" anchor="t" lIns="0" rIns="0" tIns="0" bIns="0">
            <a:noAutofit/>
          </a:bodyPr>
          <a:lstStyle/>
          <a:p>
            <a:pPr algn="l"/>
            <a:r>
              <a:rPr sz="1300" b="0" i="0">
                <a:solidFill>
                  <a:srgbClr val="5B6472"/>
                </a:solidFill>
                <a:latin typeface="Arial"/>
              </a:rPr>
              <a:t>3 requirements</a:t>
            </a:r>
          </a:p>
        </p:txBody>
      </p:sp>
      <p:sp>
        <p:nvSpPr>
          <p:cNvPr id="28" name="tile FR7"/>
          <p:cNvSpPr/>
          <p:nvPr/>
        </p:nvSpPr>
        <p:spPr>
          <a:xfrm>
            <a:off x="4608576" y="3337560"/>
            <a:ext cx="1847088" cy="1463040"/>
          </a:xfrm>
          <a:prstGeom prst="roundRect">
            <a:avLst>
              <a:gd name="adj" fmla="val 875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FR7 id"/>
          <p:cNvSpPr txBox="1"/>
          <p:nvPr/>
        </p:nvSpPr>
        <p:spPr>
          <a:xfrm>
            <a:off x="4791456" y="3502152"/>
            <a:ext cx="1481328" cy="274320"/>
          </a:xfrm>
          <a:prstGeom prst="rect">
            <a:avLst/>
          </a:prstGeom>
          <a:noFill/>
        </p:spPr>
        <p:txBody>
          <a:bodyPr wrap="square" anchor="t" lIns="0" rIns="0" tIns="0" bIns="0">
            <a:noAutofit/>
          </a:bodyPr>
          <a:lstStyle/>
          <a:p>
            <a:pPr algn="l"/>
            <a:r>
              <a:rPr sz="1400" b="1" i="0">
                <a:solidFill>
                  <a:srgbClr val="0F766E"/>
                </a:solidFill>
                <a:latin typeface="Arial"/>
              </a:rPr>
              <a:t>FR7</a:t>
            </a:r>
          </a:p>
        </p:txBody>
      </p:sp>
      <p:sp>
        <p:nvSpPr>
          <p:cNvPr id="30" name="FR7 name"/>
          <p:cNvSpPr txBox="1"/>
          <p:nvPr/>
        </p:nvSpPr>
        <p:spPr>
          <a:xfrm>
            <a:off x="4791456" y="3794760"/>
            <a:ext cx="1481328" cy="621792"/>
          </a:xfrm>
          <a:prstGeom prst="rect">
            <a:avLst/>
          </a:prstGeom>
          <a:noFill/>
        </p:spPr>
        <p:txBody>
          <a:bodyPr wrap="square" anchor="t" lIns="0" rIns="0" tIns="0" bIns="0">
            <a:noAutofit/>
          </a:bodyPr>
          <a:lstStyle/>
          <a:p>
            <a:pPr algn="l"/>
            <a:r>
              <a:rPr sz="1800" b="1" i="0">
                <a:solidFill>
                  <a:srgbClr val="0B1F3A"/>
                </a:solidFill>
                <a:latin typeface="Arial"/>
              </a:rPr>
              <a:t>Admin console</a:t>
            </a:r>
          </a:p>
        </p:txBody>
      </p:sp>
      <p:sp>
        <p:nvSpPr>
          <p:cNvPr id="31" name="FR7 count"/>
          <p:cNvSpPr txBox="1"/>
          <p:nvPr/>
        </p:nvSpPr>
        <p:spPr>
          <a:xfrm>
            <a:off x="4791456" y="4416552"/>
            <a:ext cx="1481328" cy="274320"/>
          </a:xfrm>
          <a:prstGeom prst="rect">
            <a:avLst/>
          </a:prstGeom>
          <a:noFill/>
        </p:spPr>
        <p:txBody>
          <a:bodyPr wrap="square" anchor="t" lIns="0" rIns="0" tIns="0" bIns="0">
            <a:noAutofit/>
          </a:bodyPr>
          <a:lstStyle/>
          <a:p>
            <a:pPr algn="l"/>
            <a:r>
              <a:rPr sz="1300" b="0" i="0">
                <a:solidFill>
                  <a:srgbClr val="5B6472"/>
                </a:solidFill>
                <a:latin typeface="Arial"/>
              </a:rPr>
              <a:t>2 requirements</a:t>
            </a:r>
          </a:p>
        </p:txBody>
      </p:sp>
      <p:sp>
        <p:nvSpPr>
          <p:cNvPr id="32" name="tile FR8"/>
          <p:cNvSpPr/>
          <p:nvPr/>
        </p:nvSpPr>
        <p:spPr>
          <a:xfrm>
            <a:off x="6638544" y="3337560"/>
            <a:ext cx="1847088" cy="1463040"/>
          </a:xfrm>
          <a:prstGeom prst="roundRect">
            <a:avLst>
              <a:gd name="adj" fmla="val 875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FR8 id"/>
          <p:cNvSpPr txBox="1"/>
          <p:nvPr/>
        </p:nvSpPr>
        <p:spPr>
          <a:xfrm>
            <a:off x="6821424" y="3502152"/>
            <a:ext cx="1481328" cy="274320"/>
          </a:xfrm>
          <a:prstGeom prst="rect">
            <a:avLst/>
          </a:prstGeom>
          <a:noFill/>
        </p:spPr>
        <p:txBody>
          <a:bodyPr wrap="square" anchor="t" lIns="0" rIns="0" tIns="0" bIns="0">
            <a:noAutofit/>
          </a:bodyPr>
          <a:lstStyle/>
          <a:p>
            <a:pPr algn="l"/>
            <a:r>
              <a:rPr sz="1400" b="1" i="0">
                <a:solidFill>
                  <a:srgbClr val="0F766E"/>
                </a:solidFill>
                <a:latin typeface="Arial"/>
              </a:rPr>
              <a:t>FR8</a:t>
            </a:r>
          </a:p>
        </p:txBody>
      </p:sp>
      <p:sp>
        <p:nvSpPr>
          <p:cNvPr id="34" name="FR8 name"/>
          <p:cNvSpPr txBox="1"/>
          <p:nvPr/>
        </p:nvSpPr>
        <p:spPr>
          <a:xfrm>
            <a:off x="6821424" y="3794760"/>
            <a:ext cx="1481328" cy="621792"/>
          </a:xfrm>
          <a:prstGeom prst="rect">
            <a:avLst/>
          </a:prstGeom>
          <a:noFill/>
        </p:spPr>
        <p:txBody>
          <a:bodyPr wrap="square" anchor="t" lIns="0" rIns="0" tIns="0" bIns="0">
            <a:noAutofit/>
          </a:bodyPr>
          <a:lstStyle/>
          <a:p>
            <a:pPr algn="l"/>
            <a:r>
              <a:rPr sz="1800" b="1" i="0">
                <a:solidFill>
                  <a:srgbClr val="0B1F3A"/>
                </a:solidFill>
                <a:latin typeface="Arial"/>
              </a:rPr>
              <a:t>Demo and benchmark</a:t>
            </a:r>
          </a:p>
        </p:txBody>
      </p:sp>
      <p:sp>
        <p:nvSpPr>
          <p:cNvPr id="35" name="FR8 count"/>
          <p:cNvSpPr txBox="1"/>
          <p:nvPr/>
        </p:nvSpPr>
        <p:spPr>
          <a:xfrm>
            <a:off x="6821424" y="4416552"/>
            <a:ext cx="1481328" cy="274320"/>
          </a:xfrm>
          <a:prstGeom prst="rect">
            <a:avLst/>
          </a:prstGeom>
          <a:noFill/>
        </p:spPr>
        <p:txBody>
          <a:bodyPr wrap="square" anchor="t" lIns="0" rIns="0" tIns="0" bIns="0">
            <a:noAutofit/>
          </a:bodyPr>
          <a:lstStyle/>
          <a:p>
            <a:pPr algn="l"/>
            <a:r>
              <a:rPr sz="1300" b="0" i="0">
                <a:solidFill>
                  <a:srgbClr val="5B6472"/>
                </a:solidFill>
                <a:latin typeface="Arial"/>
              </a:rPr>
              <a:t>2 requirements</a:t>
            </a:r>
          </a:p>
        </p:txBody>
      </p:sp>
      <p:sp>
        <p:nvSpPr>
          <p:cNvPr id="36" name="nfr head"/>
          <p:cNvSpPr txBox="1"/>
          <p:nvPr/>
        </p:nvSpPr>
        <p:spPr>
          <a:xfrm>
            <a:off x="8851392" y="1645920"/>
            <a:ext cx="2791663" cy="365760"/>
          </a:xfrm>
          <a:prstGeom prst="rect">
            <a:avLst/>
          </a:prstGeom>
          <a:noFill/>
        </p:spPr>
        <p:txBody>
          <a:bodyPr wrap="square" anchor="t" lIns="0" rIns="0" tIns="0" bIns="0">
            <a:noAutofit/>
          </a:bodyPr>
          <a:lstStyle/>
          <a:p>
            <a:pPr algn="l"/>
            <a:r>
              <a:rPr sz="1800" b="1" i="0">
                <a:solidFill>
                  <a:srgbClr val="0B1F3A"/>
                </a:solidFill>
                <a:latin typeface="Arial"/>
              </a:rPr>
              <a:t>Key quality targets</a:t>
            </a:r>
          </a:p>
        </p:txBody>
      </p:sp>
      <p:sp>
        <p:nvSpPr>
          <p:cNvPr id="37" name="nfr value 0"/>
          <p:cNvSpPr txBox="1"/>
          <p:nvPr/>
        </p:nvSpPr>
        <p:spPr>
          <a:xfrm>
            <a:off x="8851392" y="2121408"/>
            <a:ext cx="1280160" cy="548640"/>
          </a:xfrm>
          <a:prstGeom prst="rect">
            <a:avLst/>
          </a:prstGeom>
          <a:noFill/>
        </p:spPr>
        <p:txBody>
          <a:bodyPr wrap="square" anchor="ctr" lIns="0" rIns="0" tIns="0" bIns="0">
            <a:noAutofit/>
          </a:bodyPr>
          <a:lstStyle/>
          <a:p>
            <a:pPr algn="l"/>
            <a:r>
              <a:rPr sz="2200" b="1" i="0">
                <a:solidFill>
                  <a:srgbClr val="0F766E"/>
                </a:solidFill>
                <a:latin typeface="Arial"/>
              </a:rPr>
              <a:t>≤ 200 ms</a:t>
            </a:r>
          </a:p>
        </p:txBody>
      </p:sp>
      <p:sp>
        <p:nvSpPr>
          <p:cNvPr id="38" name="nfr label 0"/>
          <p:cNvSpPr txBox="1"/>
          <p:nvPr/>
        </p:nvSpPr>
        <p:spPr>
          <a:xfrm>
            <a:off x="10177272" y="2121408"/>
            <a:ext cx="1465783" cy="603504"/>
          </a:xfrm>
          <a:prstGeom prst="rect">
            <a:avLst/>
          </a:prstGeom>
          <a:noFill/>
        </p:spPr>
        <p:txBody>
          <a:bodyPr wrap="square" anchor="ctr" lIns="0" rIns="0" tIns="0" bIns="0">
            <a:noAutofit/>
          </a:bodyPr>
          <a:lstStyle/>
          <a:p>
            <a:pPr algn="l"/>
            <a:r>
              <a:rPr sz="1400" b="0" i="0">
                <a:solidFill>
                  <a:srgbClr val="1F2937"/>
                </a:solidFill>
                <a:latin typeface="Arial"/>
              </a:rPr>
              <a:t>median added latency</a:t>
            </a:r>
          </a:p>
        </p:txBody>
      </p:sp>
      <p:sp>
        <p:nvSpPr>
          <p:cNvPr id="39" name="nfr value 1"/>
          <p:cNvSpPr txBox="1"/>
          <p:nvPr/>
        </p:nvSpPr>
        <p:spPr>
          <a:xfrm>
            <a:off x="8851392" y="2834639"/>
            <a:ext cx="1280160" cy="548640"/>
          </a:xfrm>
          <a:prstGeom prst="rect">
            <a:avLst/>
          </a:prstGeom>
          <a:noFill/>
        </p:spPr>
        <p:txBody>
          <a:bodyPr wrap="square" anchor="ctr" lIns="0" rIns="0" tIns="0" bIns="0">
            <a:noAutofit/>
          </a:bodyPr>
          <a:lstStyle/>
          <a:p>
            <a:pPr algn="l"/>
            <a:r>
              <a:rPr sz="2200" b="1" i="0">
                <a:solidFill>
                  <a:srgbClr val="0F766E"/>
                </a:solidFill>
                <a:latin typeface="Arial"/>
              </a:rPr>
              <a:t>≥ 80%</a:t>
            </a:r>
          </a:p>
        </p:txBody>
      </p:sp>
      <p:sp>
        <p:nvSpPr>
          <p:cNvPr id="40" name="nfr label 1"/>
          <p:cNvSpPr txBox="1"/>
          <p:nvPr/>
        </p:nvSpPr>
        <p:spPr>
          <a:xfrm>
            <a:off x="10177272" y="2834639"/>
            <a:ext cx="1465783" cy="603504"/>
          </a:xfrm>
          <a:prstGeom prst="rect">
            <a:avLst/>
          </a:prstGeom>
          <a:noFill/>
        </p:spPr>
        <p:txBody>
          <a:bodyPr wrap="square" anchor="ctr" lIns="0" rIns="0" tIns="0" bIns="0">
            <a:noAutofit/>
          </a:bodyPr>
          <a:lstStyle/>
          <a:p>
            <a:pPr algn="l"/>
            <a:r>
              <a:rPr sz="1400" b="0" i="0">
                <a:solidFill>
                  <a:srgbClr val="1F2937"/>
                </a:solidFill>
                <a:latin typeface="Arial"/>
              </a:rPr>
              <a:t>statement coverage</a:t>
            </a:r>
          </a:p>
        </p:txBody>
      </p:sp>
      <p:sp>
        <p:nvSpPr>
          <p:cNvPr id="41" name="nfr value 2"/>
          <p:cNvSpPr txBox="1"/>
          <p:nvPr/>
        </p:nvSpPr>
        <p:spPr>
          <a:xfrm>
            <a:off x="8851392" y="3547872"/>
            <a:ext cx="1280160" cy="548640"/>
          </a:xfrm>
          <a:prstGeom prst="rect">
            <a:avLst/>
          </a:prstGeom>
          <a:noFill/>
        </p:spPr>
        <p:txBody>
          <a:bodyPr wrap="square" anchor="ctr" lIns="0" rIns="0" tIns="0" bIns="0">
            <a:noAutofit/>
          </a:bodyPr>
          <a:lstStyle/>
          <a:p>
            <a:pPr algn="l"/>
            <a:r>
              <a:rPr sz="2200" b="1" i="0">
                <a:solidFill>
                  <a:srgbClr val="0F766E"/>
                </a:solidFill>
                <a:latin typeface="Arial"/>
              </a:rPr>
              <a:t>AR + EN</a:t>
            </a:r>
          </a:p>
        </p:txBody>
      </p:sp>
      <p:sp>
        <p:nvSpPr>
          <p:cNvPr id="42" name="nfr label 2"/>
          <p:cNvSpPr txBox="1"/>
          <p:nvPr/>
        </p:nvSpPr>
        <p:spPr>
          <a:xfrm>
            <a:off x="10177272" y="3547872"/>
            <a:ext cx="1465783" cy="603504"/>
          </a:xfrm>
          <a:prstGeom prst="rect">
            <a:avLst/>
          </a:prstGeom>
          <a:noFill/>
        </p:spPr>
        <p:txBody>
          <a:bodyPr wrap="square" anchor="ctr" lIns="0" rIns="0" tIns="0" bIns="0">
            <a:noAutofit/>
          </a:bodyPr>
          <a:lstStyle/>
          <a:p>
            <a:pPr algn="l"/>
            <a:r>
              <a:rPr sz="1400" b="0" i="0">
                <a:solidFill>
                  <a:srgbClr val="1F2937"/>
                </a:solidFill>
                <a:latin typeface="Arial"/>
              </a:rPr>
              <a:t>full right-to-left interface</a:t>
            </a:r>
          </a:p>
        </p:txBody>
      </p:sp>
      <p:sp>
        <p:nvSpPr>
          <p:cNvPr id="43" name="nfr value 3"/>
          <p:cNvSpPr txBox="1"/>
          <p:nvPr/>
        </p:nvSpPr>
        <p:spPr>
          <a:xfrm>
            <a:off x="8851392" y="4261104"/>
            <a:ext cx="1280160" cy="548640"/>
          </a:xfrm>
          <a:prstGeom prst="rect">
            <a:avLst/>
          </a:prstGeom>
          <a:noFill/>
        </p:spPr>
        <p:txBody>
          <a:bodyPr wrap="square" anchor="ctr" lIns="0" rIns="0" tIns="0" bIns="0">
            <a:noAutofit/>
          </a:bodyPr>
          <a:lstStyle/>
          <a:p>
            <a:pPr algn="l"/>
            <a:r>
              <a:rPr sz="2200" b="1" i="0">
                <a:solidFill>
                  <a:srgbClr val="0F766E"/>
                </a:solidFill>
                <a:latin typeface="Arial"/>
              </a:rPr>
              <a:t>&lt; 30 s</a:t>
            </a:r>
          </a:p>
        </p:txBody>
      </p:sp>
      <p:sp>
        <p:nvSpPr>
          <p:cNvPr id="44" name="nfr label 3"/>
          <p:cNvSpPr txBox="1"/>
          <p:nvPr/>
        </p:nvSpPr>
        <p:spPr>
          <a:xfrm>
            <a:off x="10177272" y="4261104"/>
            <a:ext cx="1465783" cy="603504"/>
          </a:xfrm>
          <a:prstGeom prst="rect">
            <a:avLst/>
          </a:prstGeom>
          <a:noFill/>
        </p:spPr>
        <p:txBody>
          <a:bodyPr wrap="square" anchor="ctr" lIns="0" rIns="0" tIns="0" bIns="0">
            <a:noAutofit/>
          </a:bodyPr>
          <a:lstStyle/>
          <a:p>
            <a:pPr algn="l"/>
            <a:r>
              <a:rPr sz="1400" b="0" i="0">
                <a:solidFill>
                  <a:srgbClr val="1F2937"/>
                </a:solidFill>
                <a:latin typeface="Arial"/>
              </a:rPr>
              <a:t>for an approver's decision</a:t>
            </a:r>
          </a:p>
        </p:txBody>
      </p:sp>
      <p:sp>
        <p:nvSpPr>
          <p:cNvPr id="45" name="sources"/>
          <p:cNvSpPr txBox="1"/>
          <p:nvPr/>
        </p:nvSpPr>
        <p:spPr>
          <a:xfrm>
            <a:off x="548640" y="5212080"/>
            <a:ext cx="11094415" cy="822960"/>
          </a:xfrm>
          <a:prstGeom prst="rect">
            <a:avLst/>
          </a:prstGeom>
          <a:noFill/>
        </p:spPr>
        <p:txBody>
          <a:bodyPr wrap="square" anchor="t" lIns="0" rIns="0" tIns="0" bIns="0">
            <a:noAutofit/>
          </a:bodyPr>
          <a:lstStyle/>
          <a:p>
            <a:pPr algn="l"/>
            <a:r>
              <a:rPr sz="1600" b="1" i="0">
                <a:solidFill>
                  <a:srgbClr val="0B1F3A"/>
                </a:solidFill>
                <a:latin typeface="Arial"/>
              </a:rPr>
              <a:t>Elicited from </a:t>
            </a:r>
            <a:r>
              <a:rPr sz="1600" b="0" i="0">
                <a:solidFill>
                  <a:srgbClr val="5B6472"/>
                </a:solidFill>
                <a:latin typeface="Arial"/>
              </a:rPr>
              <a:t>OWASP, NCA ECC, PDPL and NIST AI RMF · attack literature · competitor review · STRIDE threat model · three personas. Every requirement has an acceptance test.</a:t>
            </a:r>
          </a:p>
        </p:txBody>
      </p:sp>
      <p:pic>
        <p:nvPicPr>
          <p:cNvPr id="46" name="Picture 45" descr="Mirsad logo"/>
          <p:cNvPicPr>
            <a:picLocks noChangeAspect="1"/>
          </p:cNvPicPr>
          <p:nvPr/>
        </p:nvPicPr>
        <p:blipFill>
          <a:blip r:embed="rId2"/>
          <a:stretch>
            <a:fillRect/>
          </a:stretch>
        </p:blipFill>
        <p:spPr>
          <a:xfrm>
            <a:off x="548640" y="6419088"/>
            <a:ext cx="219456" cy="219456"/>
          </a:xfrm>
          <a:prstGeom prst="rect">
            <a:avLst/>
          </a:prstGeom>
        </p:spPr>
      </p:pic>
      <p:sp>
        <p:nvSpPr>
          <p:cNvPr id="47" name="footer"/>
          <p:cNvSpPr txBox="1"/>
          <p:nvPr/>
        </p:nvSpPr>
        <p:spPr>
          <a:xfrm>
            <a:off x="859536" y="6437376"/>
            <a:ext cx="6400800" cy="219456"/>
          </a:xfrm>
          <a:prstGeom prst="rect">
            <a:avLst/>
          </a:prstGeom>
          <a:noFill/>
        </p:spPr>
        <p:txBody>
          <a:bodyPr wrap="square" anchor="t" lIns="0" rIns="0" tIns="0" bIns="0">
            <a:noAutofit/>
          </a:bodyPr>
          <a:lstStyle/>
          <a:p>
            <a:pPr algn="l"/>
            <a:r>
              <a:rPr sz="1000" b="0" i="0">
                <a:solidFill>
                  <a:srgbClr val="5B6472"/>
                </a:solidFill>
                <a:latin typeface="Arial"/>
              </a:rPr>
              <a:t>Mirsad </a:t>
            </a:r>
            <a:r>
              <a:rPr sz="1000" b="0" i="0" lang="ar-SA">
                <a:solidFill>
                  <a:srgbClr val="5B6472"/>
                </a:solidFill>
                <a:latin typeface="Arial"/>
                <a:cs typeface="Arial"/>
              </a:rPr>
              <a:t>مرصاد</a:t>
            </a:r>
            <a:r>
              <a:rPr sz="1000" b="0" i="0">
                <a:solidFill>
                  <a:srgbClr val="5B6472"/>
                </a:solidFill>
                <a:latin typeface="Arial"/>
              </a:rPr>
              <a:t>  ·  IS499 Senior Project  ·  Prince Sultan University</a:t>
            </a:r>
          </a:p>
        </p:txBody>
      </p:sp>
      <p:sp>
        <p:nvSpPr>
          <p:cNvPr id="48" name="slide number"/>
          <p:cNvSpPr txBox="1"/>
          <p:nvPr/>
        </p:nvSpPr>
        <p:spPr>
          <a:xfrm>
            <a:off x="10545775" y="6419088"/>
            <a:ext cx="1097280" cy="237744"/>
          </a:xfrm>
          <a:prstGeom prst="rect">
            <a:avLst/>
          </a:prstGeom>
          <a:noFill/>
        </p:spPr>
        <p:txBody>
          <a:bodyPr wrap="square" anchor="t" lIns="0" rIns="0" tIns="0" bIns="0">
            <a:noAutofit/>
          </a:bodyPr>
          <a:lstStyle/>
          <a:p>
            <a:pPr algn="r"/>
            <a:r>
              <a:rPr sz="1100" b="0" i="0">
                <a:solidFill>
                  <a:srgbClr val="5B6472"/>
                </a:solidFill>
                <a:latin typeface="Arial"/>
              </a:rPr>
              <a:t>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11094415" cy="731520"/>
          </a:xfrm>
        </p:spPr>
        <p:txBody>
          <a:bodyPr wrap="square" anchor="t" lIns="0" rIns="0" tIns="0" bIns="0">
            <a:noAutofit/>
          </a:bodyPr>
          <a:lstStyle/>
          <a:p>
            <a:pPr algn="l"/>
            <a:r>
              <a:rPr sz="3000" b="1" i="0">
                <a:solidFill>
                  <a:srgbClr val="0B1F3A"/>
                </a:solidFill>
                <a:latin typeface="Arial"/>
              </a:rPr>
              <a:t>One gateway between any agent and its tools</a:t>
            </a:r>
          </a:p>
        </p:txBody>
      </p:sp>
      <p:sp>
        <p:nvSpPr>
          <p:cNvPr id="3" name="kicker"/>
          <p:cNvSpPr txBox="1"/>
          <p:nvPr/>
        </p:nvSpPr>
        <p:spPr>
          <a:xfrm>
            <a:off x="548640" y="274320"/>
            <a:ext cx="7315200" cy="274320"/>
          </a:xfrm>
          <a:prstGeom prst="rect">
            <a:avLst/>
          </a:prstGeom>
          <a:noFill/>
        </p:spPr>
        <p:txBody>
          <a:bodyPr wrap="square" anchor="t" lIns="0" rIns="0" tIns="0" bIns="0">
            <a:noAutofit/>
          </a:bodyPr>
          <a:lstStyle/>
          <a:p>
            <a:pPr algn="l"/>
            <a:r>
              <a:rPr sz="1200" b="1" i="0" spc="150">
                <a:solidFill>
                  <a:srgbClr val="0F766E"/>
                </a:solidFill>
                <a:latin typeface="Arial"/>
              </a:rPr>
              <a:t>DESIGN · ARCHITECTURE</a:t>
            </a:r>
          </a:p>
        </p:txBody>
      </p:sp>
      <p:pic>
        <p:nvPicPr>
          <p:cNvPr id="4" name="Picture 3" descr="Mirsad architecture: agents connect through adapters to the gateway call path and result path, with audit log, admin API and approval service, in front of upstream tools"/>
          <p:cNvPicPr>
            <a:picLocks noChangeAspect="1"/>
          </p:cNvPicPr>
          <p:nvPr/>
        </p:nvPicPr>
        <p:blipFill>
          <a:blip r:embed="rId2"/>
          <a:stretch>
            <a:fillRect/>
          </a:stretch>
        </p:blipFill>
        <p:spPr>
          <a:xfrm>
            <a:off x="548640" y="1417320"/>
            <a:ext cx="8549640" cy="4649599"/>
          </a:xfrm>
          <a:prstGeom prst="rect">
            <a:avLst/>
          </a:prstGeom>
        </p:spPr>
      </p:pic>
      <p:sp>
        <p:nvSpPr>
          <p:cNvPr id="5" name="badge"/>
          <p:cNvSpPr/>
          <p:nvPr/>
        </p:nvSpPr>
        <p:spPr>
          <a:xfrm>
            <a:off x="9372600" y="1600200"/>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i="0">
                <a:solidFill>
                  <a:srgbClr val="FFFFFF"/>
                </a:solidFill>
                <a:latin typeface="Arial"/>
              </a:rPr>
              <a:t>1</a:t>
            </a:r>
          </a:p>
        </p:txBody>
      </p:sp>
      <p:sp>
        <p:nvSpPr>
          <p:cNvPr id="6" name="point 1"/>
          <p:cNvSpPr txBox="1"/>
          <p:nvPr/>
        </p:nvSpPr>
        <p:spPr>
          <a:xfrm>
            <a:off x="9372600" y="2148840"/>
            <a:ext cx="2270455" cy="868680"/>
          </a:xfrm>
          <a:prstGeom prst="rect">
            <a:avLst/>
          </a:prstGeom>
          <a:noFill/>
        </p:spPr>
        <p:txBody>
          <a:bodyPr wrap="square" anchor="t" lIns="0" rIns="0" tIns="0" bIns="0">
            <a:noAutofit/>
          </a:bodyPr>
          <a:lstStyle/>
          <a:p>
            <a:pPr algn="l"/>
            <a:r>
              <a:rPr sz="1500" b="1" i="0">
                <a:solidFill>
                  <a:srgbClr val="0B1F3A"/>
                </a:solidFill>
                <a:latin typeface="Arial"/>
              </a:rPr>
              <a:t>Drop-in: </a:t>
            </a:r>
            <a:r>
              <a:rPr sz="1500" b="0" i="0">
                <a:solidFill>
                  <a:srgbClr val="1F2937"/>
                </a:solidFill>
                <a:latin typeface="Arial"/>
              </a:rPr>
              <a:t>agents only change the endpoint</a:t>
            </a:r>
          </a:p>
        </p:txBody>
      </p:sp>
      <p:sp>
        <p:nvSpPr>
          <p:cNvPr id="7" name="badge"/>
          <p:cNvSpPr/>
          <p:nvPr/>
        </p:nvSpPr>
        <p:spPr>
          <a:xfrm>
            <a:off x="9372600" y="3063240"/>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i="0">
                <a:solidFill>
                  <a:srgbClr val="FFFFFF"/>
                </a:solidFill>
                <a:latin typeface="Arial"/>
              </a:rPr>
              <a:t>2</a:t>
            </a:r>
          </a:p>
        </p:txBody>
      </p:sp>
      <p:sp>
        <p:nvSpPr>
          <p:cNvPr id="8" name="point 2"/>
          <p:cNvSpPr txBox="1"/>
          <p:nvPr/>
        </p:nvSpPr>
        <p:spPr>
          <a:xfrm>
            <a:off x="9372600" y="3611880"/>
            <a:ext cx="2270455" cy="868680"/>
          </a:xfrm>
          <a:prstGeom prst="rect">
            <a:avLst/>
          </a:prstGeom>
          <a:noFill/>
        </p:spPr>
        <p:txBody>
          <a:bodyPr wrap="square" anchor="t" lIns="0" rIns="0" tIns="0" bIns="0">
            <a:noAutofit/>
          </a:bodyPr>
          <a:lstStyle/>
          <a:p>
            <a:pPr algn="l"/>
            <a:r>
              <a:rPr sz="1500" b="1" i="0">
                <a:solidFill>
                  <a:srgbClr val="0B1F3A"/>
                </a:solidFill>
                <a:latin typeface="Arial"/>
              </a:rPr>
              <a:t>Two checkpoints: </a:t>
            </a:r>
            <a:r>
              <a:rPr sz="1500" b="0" i="0">
                <a:solidFill>
                  <a:srgbClr val="1F2937"/>
                </a:solidFill>
                <a:latin typeface="Arial"/>
              </a:rPr>
              <a:t>before a call runs and before the model reads a result</a:t>
            </a:r>
          </a:p>
        </p:txBody>
      </p:sp>
      <p:sp>
        <p:nvSpPr>
          <p:cNvPr id="9" name="badge"/>
          <p:cNvSpPr/>
          <p:nvPr/>
        </p:nvSpPr>
        <p:spPr>
          <a:xfrm>
            <a:off x="9372600" y="4526280"/>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i="0">
                <a:solidFill>
                  <a:srgbClr val="FFFFFF"/>
                </a:solidFill>
                <a:latin typeface="Arial"/>
              </a:rPr>
              <a:t>3</a:t>
            </a:r>
          </a:p>
        </p:txBody>
      </p:sp>
      <p:sp>
        <p:nvSpPr>
          <p:cNvPr id="10" name="point 3"/>
          <p:cNvSpPr txBox="1"/>
          <p:nvPr/>
        </p:nvSpPr>
        <p:spPr>
          <a:xfrm>
            <a:off x="9372600" y="5074920"/>
            <a:ext cx="2270455" cy="868680"/>
          </a:xfrm>
          <a:prstGeom prst="rect">
            <a:avLst/>
          </a:prstGeom>
          <a:noFill/>
        </p:spPr>
        <p:txBody>
          <a:bodyPr wrap="square" anchor="t" lIns="0" rIns="0" tIns="0" bIns="0">
            <a:noAutofit/>
          </a:bodyPr>
          <a:lstStyle/>
          <a:p>
            <a:pPr algn="l"/>
            <a:r>
              <a:rPr sz="1500" b="1" i="0">
                <a:solidFill>
                  <a:srgbClr val="0B1F3A"/>
                </a:solidFill>
                <a:latin typeface="Arial"/>
              </a:rPr>
              <a:t>Audited: </a:t>
            </a:r>
            <a:r>
              <a:rPr sz="1500" b="0" i="0">
                <a:solidFill>
                  <a:srgbClr val="1F2937"/>
                </a:solidFill>
                <a:latin typeface="Arial"/>
              </a:rPr>
              <a:t>every decision goes to a hash-chained log</a:t>
            </a:r>
          </a:p>
        </p:txBody>
      </p:sp>
      <p:pic>
        <p:nvPicPr>
          <p:cNvPr id="11" name="Picture 10" descr="Mirsad logo"/>
          <p:cNvPicPr>
            <a:picLocks noChangeAspect="1"/>
          </p:cNvPicPr>
          <p:nvPr/>
        </p:nvPicPr>
        <p:blipFill>
          <a:blip r:embed="rId3"/>
          <a:stretch>
            <a:fillRect/>
          </a:stretch>
        </p:blipFill>
        <p:spPr>
          <a:xfrm>
            <a:off x="548640" y="6419088"/>
            <a:ext cx="219456" cy="219456"/>
          </a:xfrm>
          <a:prstGeom prst="rect">
            <a:avLst/>
          </a:prstGeom>
        </p:spPr>
      </p:pic>
      <p:sp>
        <p:nvSpPr>
          <p:cNvPr id="12" name="footer"/>
          <p:cNvSpPr txBox="1"/>
          <p:nvPr/>
        </p:nvSpPr>
        <p:spPr>
          <a:xfrm>
            <a:off x="859536" y="6437376"/>
            <a:ext cx="6400800" cy="219456"/>
          </a:xfrm>
          <a:prstGeom prst="rect">
            <a:avLst/>
          </a:prstGeom>
          <a:noFill/>
        </p:spPr>
        <p:txBody>
          <a:bodyPr wrap="square" anchor="t" lIns="0" rIns="0" tIns="0" bIns="0">
            <a:noAutofit/>
          </a:bodyPr>
          <a:lstStyle/>
          <a:p>
            <a:pPr algn="l"/>
            <a:r>
              <a:rPr sz="1000" b="0" i="0">
                <a:solidFill>
                  <a:srgbClr val="5B6472"/>
                </a:solidFill>
                <a:latin typeface="Arial"/>
              </a:rPr>
              <a:t>Mirsad </a:t>
            </a:r>
            <a:r>
              <a:rPr sz="1000" b="0" i="0" lang="ar-SA">
                <a:solidFill>
                  <a:srgbClr val="5B6472"/>
                </a:solidFill>
                <a:latin typeface="Arial"/>
                <a:cs typeface="Arial"/>
              </a:rPr>
              <a:t>مرصاد</a:t>
            </a:r>
            <a:r>
              <a:rPr sz="1000" b="0" i="0">
                <a:solidFill>
                  <a:srgbClr val="5B6472"/>
                </a:solidFill>
                <a:latin typeface="Arial"/>
              </a:rPr>
              <a:t>  ·  IS499 Senior Project  ·  Prince Sultan University</a:t>
            </a:r>
          </a:p>
        </p:txBody>
      </p:sp>
      <p:sp>
        <p:nvSpPr>
          <p:cNvPr id="13" name="slide number"/>
          <p:cNvSpPr txBox="1"/>
          <p:nvPr/>
        </p:nvSpPr>
        <p:spPr>
          <a:xfrm>
            <a:off x="10545775" y="6419088"/>
            <a:ext cx="1097280" cy="237744"/>
          </a:xfrm>
          <a:prstGeom prst="rect">
            <a:avLst/>
          </a:prstGeom>
          <a:noFill/>
        </p:spPr>
        <p:txBody>
          <a:bodyPr wrap="square" anchor="t" lIns="0" rIns="0" tIns="0" bIns="0">
            <a:noAutofit/>
          </a:bodyPr>
          <a:lstStyle/>
          <a:p>
            <a:pPr algn="r"/>
            <a:r>
              <a:rPr sz="1100" b="0" i="0">
                <a:solidFill>
                  <a:srgbClr val="5B6472"/>
                </a:solidFill>
                <a:latin typeface="Arial"/>
              </a:rPr>
              <a:t>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11094415" cy="731520"/>
          </a:xfrm>
        </p:spPr>
        <p:txBody>
          <a:bodyPr wrap="square" anchor="t" lIns="0" rIns="0" tIns="0" bIns="0">
            <a:noAutofit/>
          </a:bodyPr>
          <a:lstStyle/>
          <a:p>
            <a:pPr algn="l"/>
            <a:r>
              <a:rPr sz="3000" b="1" i="0">
                <a:solidFill>
                  <a:srgbClr val="0B1F3A"/>
                </a:solidFill>
                <a:latin typeface="Arial"/>
              </a:rPr>
              <a:t>Every tool call is checked twice</a:t>
            </a:r>
          </a:p>
        </p:txBody>
      </p:sp>
      <p:sp>
        <p:nvSpPr>
          <p:cNvPr id="3" name="kicker"/>
          <p:cNvSpPr txBox="1"/>
          <p:nvPr/>
        </p:nvSpPr>
        <p:spPr>
          <a:xfrm>
            <a:off x="548640" y="274320"/>
            <a:ext cx="7315200" cy="274320"/>
          </a:xfrm>
          <a:prstGeom prst="rect">
            <a:avLst/>
          </a:prstGeom>
          <a:noFill/>
        </p:spPr>
        <p:txBody>
          <a:bodyPr wrap="square" anchor="t" lIns="0" rIns="0" tIns="0" bIns="0">
            <a:noAutofit/>
          </a:bodyPr>
          <a:lstStyle/>
          <a:p>
            <a:pPr algn="l"/>
            <a:r>
              <a:rPr sz="1200" b="1" i="0" spc="150">
                <a:solidFill>
                  <a:srgbClr val="0F766E"/>
                </a:solidFill>
                <a:latin typeface="Arial"/>
              </a:rPr>
              <a:t>DESIGN · HOW A TOOL CALL IS CHECKED</a:t>
            </a:r>
          </a:p>
        </p:txBody>
      </p:sp>
      <p:sp>
        <p:nvSpPr>
          <p:cNvPr id="4" name="lane BEFORE THE TOOL RUNS"/>
          <p:cNvSpPr txBox="1"/>
          <p:nvPr/>
        </p:nvSpPr>
        <p:spPr>
          <a:xfrm>
            <a:off x="548640" y="1408176"/>
            <a:ext cx="7315200" cy="274320"/>
          </a:xfrm>
          <a:prstGeom prst="rect">
            <a:avLst/>
          </a:prstGeom>
          <a:noFill/>
        </p:spPr>
        <p:txBody>
          <a:bodyPr wrap="square" anchor="t" lIns="0" rIns="0" tIns="0" bIns="0">
            <a:noAutofit/>
          </a:bodyPr>
          <a:lstStyle/>
          <a:p>
            <a:pPr algn="l"/>
            <a:r>
              <a:rPr sz="1200" b="1" i="0" spc="120">
                <a:solidFill>
                  <a:srgbClr val="0F766E"/>
                </a:solidFill>
                <a:latin typeface="Arial"/>
              </a:rPr>
              <a:t>BEFORE THE TOOL RUNS</a:t>
            </a:r>
          </a:p>
        </p:txBody>
      </p:sp>
      <p:sp>
        <p:nvSpPr>
          <p:cNvPr id="5" name="Tool call box"/>
          <p:cNvSpPr/>
          <p:nvPr/>
        </p:nvSpPr>
        <p:spPr>
          <a:xfrm>
            <a:off x="548640" y="1737360"/>
            <a:ext cx="1883664" cy="1115568"/>
          </a:xfrm>
          <a:prstGeom prst="roundRect">
            <a:avLst>
              <a:gd name="adj" fmla="val 11475"/>
            </a:avLst>
          </a:prstGeom>
          <a:solidFill>
            <a:srgbClr val="FFFFFF"/>
          </a:solidFill>
          <a:ln w="19050">
            <a:solidFill>
              <a:srgbClr val="0B1F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ool call box head"/>
          <p:cNvSpPr txBox="1"/>
          <p:nvPr/>
        </p:nvSpPr>
        <p:spPr>
          <a:xfrm>
            <a:off x="658368" y="1865376"/>
            <a:ext cx="1664208" cy="365760"/>
          </a:xfrm>
          <a:prstGeom prst="rect">
            <a:avLst/>
          </a:prstGeom>
          <a:noFill/>
        </p:spPr>
        <p:txBody>
          <a:bodyPr wrap="square" anchor="t" lIns="0" rIns="0" tIns="0" bIns="0">
            <a:noAutofit/>
          </a:bodyPr>
          <a:lstStyle/>
          <a:p>
            <a:pPr algn="ctr"/>
            <a:r>
              <a:rPr sz="1800" b="1" i="0">
                <a:solidFill>
                  <a:srgbClr val="0B1F3A"/>
                </a:solidFill>
                <a:latin typeface="Arial"/>
              </a:rPr>
              <a:t>Tool call</a:t>
            </a:r>
          </a:p>
        </p:txBody>
      </p:sp>
      <p:sp>
        <p:nvSpPr>
          <p:cNvPr id="7" name="Tool call box sub"/>
          <p:cNvSpPr txBox="1"/>
          <p:nvPr/>
        </p:nvSpPr>
        <p:spPr>
          <a:xfrm>
            <a:off x="658368" y="2249424"/>
            <a:ext cx="1664208" cy="548640"/>
          </a:xfrm>
          <a:prstGeom prst="rect">
            <a:avLst/>
          </a:prstGeom>
          <a:noFill/>
        </p:spPr>
        <p:txBody>
          <a:bodyPr wrap="square" anchor="t" lIns="0" rIns="0" tIns="0" bIns="0">
            <a:noAutofit/>
          </a:bodyPr>
          <a:lstStyle/>
          <a:p>
            <a:pPr algn="ctr"/>
            <a:r>
              <a:rPr sz="1400" b="0" i="0">
                <a:solidFill>
                  <a:srgbClr val="5B6472"/>
                </a:solidFill>
                <a:latin typeface="Arial"/>
              </a:rPr>
              <a:t>from the agent</a:t>
            </a:r>
          </a:p>
        </p:txBody>
      </p:sp>
      <p:sp>
        <p:nvSpPr>
          <p:cNvPr id="8" name="arrow"/>
          <p:cNvSpPr/>
          <p:nvPr/>
        </p:nvSpPr>
        <p:spPr>
          <a:xfrm>
            <a:off x="2503170" y="2157984"/>
            <a:ext cx="274320"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olicy box"/>
          <p:cNvSpPr/>
          <p:nvPr/>
        </p:nvSpPr>
        <p:spPr>
          <a:xfrm>
            <a:off x="2848356" y="1737360"/>
            <a:ext cx="1883664" cy="1115568"/>
          </a:xfrm>
          <a:prstGeom prst="roundRect">
            <a:avLst>
              <a:gd name="adj" fmla="val 11475"/>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Policy box head"/>
          <p:cNvSpPr txBox="1"/>
          <p:nvPr/>
        </p:nvSpPr>
        <p:spPr>
          <a:xfrm>
            <a:off x="2958084" y="1865376"/>
            <a:ext cx="1664208" cy="365760"/>
          </a:xfrm>
          <a:prstGeom prst="rect">
            <a:avLst/>
          </a:prstGeom>
          <a:noFill/>
        </p:spPr>
        <p:txBody>
          <a:bodyPr wrap="square" anchor="t" lIns="0" rIns="0" tIns="0" bIns="0">
            <a:noAutofit/>
          </a:bodyPr>
          <a:lstStyle/>
          <a:p>
            <a:pPr algn="ctr"/>
            <a:r>
              <a:rPr sz="1800" b="1" i="0">
                <a:solidFill>
                  <a:srgbClr val="0B1F3A"/>
                </a:solidFill>
                <a:latin typeface="Arial"/>
              </a:rPr>
              <a:t>Policy</a:t>
            </a:r>
          </a:p>
        </p:txBody>
      </p:sp>
      <p:sp>
        <p:nvSpPr>
          <p:cNvPr id="11" name="Policy box sub"/>
          <p:cNvSpPr txBox="1"/>
          <p:nvPr/>
        </p:nvSpPr>
        <p:spPr>
          <a:xfrm>
            <a:off x="2958084" y="2249424"/>
            <a:ext cx="1664208" cy="548640"/>
          </a:xfrm>
          <a:prstGeom prst="rect">
            <a:avLst/>
          </a:prstGeom>
          <a:noFill/>
        </p:spPr>
        <p:txBody>
          <a:bodyPr wrap="square" anchor="t" lIns="0" rIns="0" tIns="0" bIns="0">
            <a:noAutofit/>
          </a:bodyPr>
          <a:lstStyle/>
          <a:p>
            <a:pPr algn="ctr"/>
            <a:r>
              <a:rPr sz="1400" b="0" i="0">
                <a:solidFill>
                  <a:srgbClr val="5B6472"/>
                </a:solidFill>
                <a:latin typeface="Arial"/>
              </a:rPr>
              <a:t>allow-list · limits · rules</a:t>
            </a:r>
          </a:p>
        </p:txBody>
      </p:sp>
      <p:sp>
        <p:nvSpPr>
          <p:cNvPr id="12" name="arrow"/>
          <p:cNvSpPr/>
          <p:nvPr/>
        </p:nvSpPr>
        <p:spPr>
          <a:xfrm>
            <a:off x="4802886" y="2157984"/>
            <a:ext cx="274320"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aint box"/>
          <p:cNvSpPr/>
          <p:nvPr/>
        </p:nvSpPr>
        <p:spPr>
          <a:xfrm>
            <a:off x="5148072" y="1737360"/>
            <a:ext cx="1883664" cy="1115568"/>
          </a:xfrm>
          <a:prstGeom prst="roundRect">
            <a:avLst>
              <a:gd name="adj" fmla="val 11475"/>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aint box head"/>
          <p:cNvSpPr txBox="1"/>
          <p:nvPr/>
        </p:nvSpPr>
        <p:spPr>
          <a:xfrm>
            <a:off x="5257800" y="1865376"/>
            <a:ext cx="1664208" cy="365760"/>
          </a:xfrm>
          <a:prstGeom prst="rect">
            <a:avLst/>
          </a:prstGeom>
          <a:noFill/>
        </p:spPr>
        <p:txBody>
          <a:bodyPr wrap="square" anchor="t" lIns="0" rIns="0" tIns="0" bIns="0">
            <a:noAutofit/>
          </a:bodyPr>
          <a:lstStyle/>
          <a:p>
            <a:pPr algn="ctr"/>
            <a:r>
              <a:rPr sz="1800" b="1" i="0">
                <a:solidFill>
                  <a:srgbClr val="0B1F3A"/>
                </a:solidFill>
                <a:latin typeface="Arial"/>
              </a:rPr>
              <a:t>Taint</a:t>
            </a:r>
          </a:p>
        </p:txBody>
      </p:sp>
      <p:sp>
        <p:nvSpPr>
          <p:cNvPr id="15" name="Taint box sub"/>
          <p:cNvSpPr txBox="1"/>
          <p:nvPr/>
        </p:nvSpPr>
        <p:spPr>
          <a:xfrm>
            <a:off x="5257800" y="2249424"/>
            <a:ext cx="1664208" cy="548640"/>
          </a:xfrm>
          <a:prstGeom prst="rect">
            <a:avLst/>
          </a:prstGeom>
          <a:noFill/>
        </p:spPr>
        <p:txBody>
          <a:bodyPr wrap="square" anchor="t" lIns="0" rIns="0" tIns="0" bIns="0">
            <a:noAutofit/>
          </a:bodyPr>
          <a:lstStyle/>
          <a:p>
            <a:pPr algn="ctr"/>
            <a:r>
              <a:rPr sz="1400" b="0" i="0">
                <a:solidFill>
                  <a:srgbClr val="5B6472"/>
                </a:solidFill>
                <a:latin typeface="Arial"/>
              </a:rPr>
              <a:t>where did each value come from?</a:t>
            </a:r>
          </a:p>
        </p:txBody>
      </p:sp>
      <p:sp>
        <p:nvSpPr>
          <p:cNvPr id="16" name="arrow"/>
          <p:cNvSpPr/>
          <p:nvPr/>
        </p:nvSpPr>
        <p:spPr>
          <a:xfrm>
            <a:off x="7102601" y="2157984"/>
            <a:ext cx="274320"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ecide box"/>
          <p:cNvSpPr/>
          <p:nvPr/>
        </p:nvSpPr>
        <p:spPr>
          <a:xfrm>
            <a:off x="7447788" y="1737360"/>
            <a:ext cx="1883664" cy="1115568"/>
          </a:xfrm>
          <a:prstGeom prst="roundRect">
            <a:avLst>
              <a:gd name="adj" fmla="val 11475"/>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ecide box head"/>
          <p:cNvSpPr txBox="1"/>
          <p:nvPr/>
        </p:nvSpPr>
        <p:spPr>
          <a:xfrm>
            <a:off x="7557515" y="1865376"/>
            <a:ext cx="1664208" cy="365760"/>
          </a:xfrm>
          <a:prstGeom prst="rect">
            <a:avLst/>
          </a:prstGeom>
          <a:noFill/>
        </p:spPr>
        <p:txBody>
          <a:bodyPr wrap="square" anchor="t" lIns="0" rIns="0" tIns="0" bIns="0">
            <a:noAutofit/>
          </a:bodyPr>
          <a:lstStyle/>
          <a:p>
            <a:pPr algn="ctr"/>
            <a:r>
              <a:rPr sz="1800" b="1" i="0">
                <a:solidFill>
                  <a:srgbClr val="0B1F3A"/>
                </a:solidFill>
                <a:latin typeface="Arial"/>
              </a:rPr>
              <a:t>Decide</a:t>
            </a:r>
          </a:p>
        </p:txBody>
      </p:sp>
      <p:sp>
        <p:nvSpPr>
          <p:cNvPr id="19" name="Decide box sub"/>
          <p:cNvSpPr txBox="1"/>
          <p:nvPr/>
        </p:nvSpPr>
        <p:spPr>
          <a:xfrm>
            <a:off x="7557515" y="2249424"/>
            <a:ext cx="1664208" cy="548640"/>
          </a:xfrm>
          <a:prstGeom prst="rect">
            <a:avLst/>
          </a:prstGeom>
          <a:noFill/>
        </p:spPr>
        <p:txBody>
          <a:bodyPr wrap="square" anchor="t" lIns="0" rIns="0" tIns="0" bIns="0">
            <a:noAutofit/>
          </a:bodyPr>
          <a:lstStyle/>
          <a:p>
            <a:pPr algn="ctr"/>
            <a:r>
              <a:rPr sz="1400" b="0" i="0">
                <a:solidFill>
                  <a:srgbClr val="5B6472"/>
                </a:solidFill>
                <a:latin typeface="Arial"/>
              </a:rPr>
              <a:t>any deny wins</a:t>
            </a:r>
          </a:p>
        </p:txBody>
      </p:sp>
      <p:sp>
        <p:nvSpPr>
          <p:cNvPr id="20" name="arrow"/>
          <p:cNvSpPr/>
          <p:nvPr/>
        </p:nvSpPr>
        <p:spPr>
          <a:xfrm>
            <a:off x="9402318" y="2157984"/>
            <a:ext cx="274320"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ane BEFORE THE MODEL READS THE RESULT"/>
          <p:cNvSpPr txBox="1"/>
          <p:nvPr/>
        </p:nvSpPr>
        <p:spPr>
          <a:xfrm>
            <a:off x="548640" y="3191256"/>
            <a:ext cx="7315200" cy="274320"/>
          </a:xfrm>
          <a:prstGeom prst="rect">
            <a:avLst/>
          </a:prstGeom>
          <a:noFill/>
        </p:spPr>
        <p:txBody>
          <a:bodyPr wrap="square" anchor="t" lIns="0" rIns="0" tIns="0" bIns="0">
            <a:noAutofit/>
          </a:bodyPr>
          <a:lstStyle/>
          <a:p>
            <a:pPr algn="l"/>
            <a:r>
              <a:rPr sz="1200" b="1" i="0" spc="120">
                <a:solidFill>
                  <a:srgbClr val="0F766E"/>
                </a:solidFill>
                <a:latin typeface="Arial"/>
              </a:rPr>
              <a:t>BEFORE THE MODEL READS THE RESULT</a:t>
            </a:r>
          </a:p>
        </p:txBody>
      </p:sp>
      <p:sp>
        <p:nvSpPr>
          <p:cNvPr id="22" name="Tool result box"/>
          <p:cNvSpPr/>
          <p:nvPr/>
        </p:nvSpPr>
        <p:spPr>
          <a:xfrm>
            <a:off x="548640" y="3520440"/>
            <a:ext cx="1883664" cy="1115568"/>
          </a:xfrm>
          <a:prstGeom prst="roundRect">
            <a:avLst>
              <a:gd name="adj" fmla="val 11475"/>
            </a:avLst>
          </a:prstGeom>
          <a:solidFill>
            <a:srgbClr val="FFFFFF"/>
          </a:solidFill>
          <a:ln w="19050">
            <a:solidFill>
              <a:srgbClr val="0B1F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ool result box head"/>
          <p:cNvSpPr txBox="1"/>
          <p:nvPr/>
        </p:nvSpPr>
        <p:spPr>
          <a:xfrm>
            <a:off x="658368" y="3648456"/>
            <a:ext cx="1664208" cy="365760"/>
          </a:xfrm>
          <a:prstGeom prst="rect">
            <a:avLst/>
          </a:prstGeom>
          <a:noFill/>
        </p:spPr>
        <p:txBody>
          <a:bodyPr wrap="square" anchor="t" lIns="0" rIns="0" tIns="0" bIns="0">
            <a:noAutofit/>
          </a:bodyPr>
          <a:lstStyle/>
          <a:p>
            <a:pPr algn="ctr"/>
            <a:r>
              <a:rPr sz="1800" b="1" i="0">
                <a:solidFill>
                  <a:srgbClr val="0B1F3A"/>
                </a:solidFill>
                <a:latin typeface="Arial"/>
              </a:rPr>
              <a:t>Tool result</a:t>
            </a:r>
          </a:p>
        </p:txBody>
      </p:sp>
      <p:sp>
        <p:nvSpPr>
          <p:cNvPr id="24" name="Tool result box sub"/>
          <p:cNvSpPr txBox="1"/>
          <p:nvPr/>
        </p:nvSpPr>
        <p:spPr>
          <a:xfrm>
            <a:off x="658368" y="4032504"/>
            <a:ext cx="1664208" cy="548640"/>
          </a:xfrm>
          <a:prstGeom prst="rect">
            <a:avLst/>
          </a:prstGeom>
          <a:noFill/>
        </p:spPr>
        <p:txBody>
          <a:bodyPr wrap="square" anchor="t" lIns="0" rIns="0" tIns="0" bIns="0">
            <a:noAutofit/>
          </a:bodyPr>
          <a:lstStyle/>
          <a:p>
            <a:pPr algn="ctr"/>
            <a:r>
              <a:rPr sz="1400" b="0" i="0">
                <a:solidFill>
                  <a:srgbClr val="5B6472"/>
                </a:solidFill>
                <a:latin typeface="Arial"/>
              </a:rPr>
              <a:t>raw content</a:t>
            </a:r>
          </a:p>
        </p:txBody>
      </p:sp>
      <p:sp>
        <p:nvSpPr>
          <p:cNvPr id="25" name="arrow"/>
          <p:cNvSpPr/>
          <p:nvPr/>
        </p:nvSpPr>
        <p:spPr>
          <a:xfrm>
            <a:off x="2503170" y="3941063"/>
            <a:ext cx="274320"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Detector box"/>
          <p:cNvSpPr/>
          <p:nvPr/>
        </p:nvSpPr>
        <p:spPr>
          <a:xfrm>
            <a:off x="2848356" y="3520440"/>
            <a:ext cx="1883664" cy="1115568"/>
          </a:xfrm>
          <a:prstGeom prst="roundRect">
            <a:avLst>
              <a:gd name="adj" fmla="val 11475"/>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Detector box head"/>
          <p:cNvSpPr txBox="1"/>
          <p:nvPr/>
        </p:nvSpPr>
        <p:spPr>
          <a:xfrm>
            <a:off x="2958084" y="3648456"/>
            <a:ext cx="1664208" cy="365760"/>
          </a:xfrm>
          <a:prstGeom prst="rect">
            <a:avLst/>
          </a:prstGeom>
          <a:noFill/>
        </p:spPr>
        <p:txBody>
          <a:bodyPr wrap="square" anchor="t" lIns="0" rIns="0" tIns="0" bIns="0">
            <a:noAutofit/>
          </a:bodyPr>
          <a:lstStyle/>
          <a:p>
            <a:pPr algn="ctr"/>
            <a:r>
              <a:rPr sz="1800" b="1" i="0">
                <a:solidFill>
                  <a:srgbClr val="0B1F3A"/>
                </a:solidFill>
                <a:latin typeface="Arial"/>
              </a:rPr>
              <a:t>Detector</a:t>
            </a:r>
          </a:p>
        </p:txBody>
      </p:sp>
      <p:sp>
        <p:nvSpPr>
          <p:cNvPr id="28" name="Detector box sub"/>
          <p:cNvSpPr txBox="1"/>
          <p:nvPr/>
        </p:nvSpPr>
        <p:spPr>
          <a:xfrm>
            <a:off x="2958084" y="4032504"/>
            <a:ext cx="1664208" cy="548640"/>
          </a:xfrm>
          <a:prstGeom prst="rect">
            <a:avLst/>
          </a:prstGeom>
          <a:noFill/>
        </p:spPr>
        <p:txBody>
          <a:bodyPr wrap="square" anchor="t" lIns="0" rIns="0" tIns="0" bIns="0">
            <a:noAutofit/>
          </a:bodyPr>
          <a:lstStyle/>
          <a:p>
            <a:pPr algn="ctr"/>
            <a:r>
              <a:rPr sz="1400" b="0" i="0">
                <a:solidFill>
                  <a:srgbClr val="5B6472"/>
                </a:solidFill>
                <a:latin typeface="Arial"/>
              </a:rPr>
              <a:t>Arabic + English scan</a:t>
            </a:r>
          </a:p>
        </p:txBody>
      </p:sp>
      <p:sp>
        <p:nvSpPr>
          <p:cNvPr id="29" name="arrow"/>
          <p:cNvSpPr/>
          <p:nvPr/>
        </p:nvSpPr>
        <p:spPr>
          <a:xfrm>
            <a:off x="4802886" y="3941063"/>
            <a:ext cx="274320"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Sanitise box"/>
          <p:cNvSpPr/>
          <p:nvPr/>
        </p:nvSpPr>
        <p:spPr>
          <a:xfrm>
            <a:off x="5148072" y="3520440"/>
            <a:ext cx="1883664" cy="1115568"/>
          </a:xfrm>
          <a:prstGeom prst="roundRect">
            <a:avLst>
              <a:gd name="adj" fmla="val 11475"/>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anitise box head"/>
          <p:cNvSpPr txBox="1"/>
          <p:nvPr/>
        </p:nvSpPr>
        <p:spPr>
          <a:xfrm>
            <a:off x="5257800" y="3648456"/>
            <a:ext cx="1664208" cy="365760"/>
          </a:xfrm>
          <a:prstGeom prst="rect">
            <a:avLst/>
          </a:prstGeom>
          <a:noFill/>
        </p:spPr>
        <p:txBody>
          <a:bodyPr wrap="square" anchor="t" lIns="0" rIns="0" tIns="0" bIns="0">
            <a:noAutofit/>
          </a:bodyPr>
          <a:lstStyle/>
          <a:p>
            <a:pPr algn="ctr"/>
            <a:r>
              <a:rPr sz="1800" b="1" i="0">
                <a:solidFill>
                  <a:srgbClr val="0B1F3A"/>
                </a:solidFill>
                <a:latin typeface="Arial"/>
              </a:rPr>
              <a:t>Sanitise</a:t>
            </a:r>
          </a:p>
        </p:txBody>
      </p:sp>
      <p:sp>
        <p:nvSpPr>
          <p:cNvPr id="32" name="Sanitise box sub"/>
          <p:cNvSpPr txBox="1"/>
          <p:nvPr/>
        </p:nvSpPr>
        <p:spPr>
          <a:xfrm>
            <a:off x="5257800" y="4032504"/>
            <a:ext cx="1664208" cy="548640"/>
          </a:xfrm>
          <a:prstGeom prst="rect">
            <a:avLst/>
          </a:prstGeom>
          <a:noFill/>
        </p:spPr>
        <p:txBody>
          <a:bodyPr wrap="square" anchor="t" lIns="0" rIns="0" tIns="0" bIns="0">
            <a:noAutofit/>
          </a:bodyPr>
          <a:lstStyle/>
          <a:p>
            <a:pPr algn="ctr"/>
            <a:r>
              <a:rPr sz="1400" b="0" i="0">
                <a:solidFill>
                  <a:srgbClr val="5B6472"/>
                </a:solidFill>
                <a:latin typeface="Arial"/>
              </a:rPr>
              <a:t>remove or mark as data</a:t>
            </a:r>
          </a:p>
        </p:txBody>
      </p:sp>
      <p:sp>
        <p:nvSpPr>
          <p:cNvPr id="33" name="arrow"/>
          <p:cNvSpPr/>
          <p:nvPr/>
        </p:nvSpPr>
        <p:spPr>
          <a:xfrm>
            <a:off x="7102601" y="3941063"/>
            <a:ext cx="274320"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Label box"/>
          <p:cNvSpPr/>
          <p:nvPr/>
        </p:nvSpPr>
        <p:spPr>
          <a:xfrm>
            <a:off x="7447788" y="3520440"/>
            <a:ext cx="1883664" cy="1115568"/>
          </a:xfrm>
          <a:prstGeom prst="roundRect">
            <a:avLst>
              <a:gd name="adj" fmla="val 11475"/>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abel box head"/>
          <p:cNvSpPr txBox="1"/>
          <p:nvPr/>
        </p:nvSpPr>
        <p:spPr>
          <a:xfrm>
            <a:off x="7557515" y="3648456"/>
            <a:ext cx="1664208" cy="365760"/>
          </a:xfrm>
          <a:prstGeom prst="rect">
            <a:avLst/>
          </a:prstGeom>
          <a:noFill/>
        </p:spPr>
        <p:txBody>
          <a:bodyPr wrap="square" anchor="t" lIns="0" rIns="0" tIns="0" bIns="0">
            <a:noAutofit/>
          </a:bodyPr>
          <a:lstStyle/>
          <a:p>
            <a:pPr algn="ctr"/>
            <a:r>
              <a:rPr sz="1800" b="1" i="0">
                <a:solidFill>
                  <a:srgbClr val="0B1F3A"/>
                </a:solidFill>
                <a:latin typeface="Arial"/>
              </a:rPr>
              <a:t>Label</a:t>
            </a:r>
          </a:p>
        </p:txBody>
      </p:sp>
      <p:sp>
        <p:nvSpPr>
          <p:cNvPr id="36" name="Label box sub"/>
          <p:cNvSpPr txBox="1"/>
          <p:nvPr/>
        </p:nvSpPr>
        <p:spPr>
          <a:xfrm>
            <a:off x="7557515" y="4032504"/>
            <a:ext cx="1664208" cy="548640"/>
          </a:xfrm>
          <a:prstGeom prst="rect">
            <a:avLst/>
          </a:prstGeom>
          <a:noFill/>
        </p:spPr>
        <p:txBody>
          <a:bodyPr wrap="square" anchor="t" lIns="0" rIns="0" tIns="0" bIns="0">
            <a:noAutofit/>
          </a:bodyPr>
          <a:lstStyle/>
          <a:p>
            <a:pPr algn="ctr"/>
            <a:r>
              <a:rPr sz="1400" b="0" i="0">
                <a:solidFill>
                  <a:srgbClr val="5B6472"/>
                </a:solidFill>
                <a:latin typeface="Arial"/>
              </a:rPr>
              <a:t>trust · sensitivity · values</a:t>
            </a:r>
          </a:p>
        </p:txBody>
      </p:sp>
      <p:sp>
        <p:nvSpPr>
          <p:cNvPr id="37" name="arrow"/>
          <p:cNvSpPr/>
          <p:nvPr/>
        </p:nvSpPr>
        <p:spPr>
          <a:xfrm>
            <a:off x="9402318" y="3941063"/>
            <a:ext cx="274320"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o the agent box"/>
          <p:cNvSpPr/>
          <p:nvPr/>
        </p:nvSpPr>
        <p:spPr>
          <a:xfrm>
            <a:off x="9747504" y="3520440"/>
            <a:ext cx="1883664" cy="1115568"/>
          </a:xfrm>
          <a:prstGeom prst="roundRect">
            <a:avLst>
              <a:gd name="adj" fmla="val 11475"/>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o the agent box head"/>
          <p:cNvSpPr txBox="1"/>
          <p:nvPr/>
        </p:nvSpPr>
        <p:spPr>
          <a:xfrm>
            <a:off x="9857232" y="3648456"/>
            <a:ext cx="1664208" cy="365760"/>
          </a:xfrm>
          <a:prstGeom prst="rect">
            <a:avLst/>
          </a:prstGeom>
          <a:noFill/>
        </p:spPr>
        <p:txBody>
          <a:bodyPr wrap="square" anchor="t" lIns="0" rIns="0" tIns="0" bIns="0">
            <a:noAutofit/>
          </a:bodyPr>
          <a:lstStyle/>
          <a:p>
            <a:pPr algn="ctr"/>
            <a:r>
              <a:rPr sz="1800" b="1" i="0">
                <a:solidFill>
                  <a:srgbClr val="0B1F3A"/>
                </a:solidFill>
                <a:latin typeface="Arial"/>
              </a:rPr>
              <a:t>To the agent</a:t>
            </a:r>
          </a:p>
        </p:txBody>
      </p:sp>
      <p:sp>
        <p:nvSpPr>
          <p:cNvPr id="40" name="To the agent box sub"/>
          <p:cNvSpPr txBox="1"/>
          <p:nvPr/>
        </p:nvSpPr>
        <p:spPr>
          <a:xfrm>
            <a:off x="9857232" y="4032504"/>
            <a:ext cx="1664208" cy="548640"/>
          </a:xfrm>
          <a:prstGeom prst="rect">
            <a:avLst/>
          </a:prstGeom>
          <a:noFill/>
        </p:spPr>
        <p:txBody>
          <a:bodyPr wrap="square" anchor="t" lIns="0" rIns="0" tIns="0" bIns="0">
            <a:noAutofit/>
          </a:bodyPr>
          <a:lstStyle/>
          <a:p>
            <a:pPr algn="ctr"/>
            <a:r>
              <a:rPr sz="1400" b="0" i="0">
                <a:solidFill>
                  <a:srgbClr val="5B6472"/>
                </a:solidFill>
                <a:latin typeface="Arial"/>
              </a:rPr>
              <a:t>inspected result</a:t>
            </a:r>
          </a:p>
        </p:txBody>
      </p:sp>
      <p:sp>
        <p:nvSpPr>
          <p:cNvPr id="41" name="chip Allow"/>
          <p:cNvSpPr/>
          <p:nvPr/>
        </p:nvSpPr>
        <p:spPr>
          <a:xfrm>
            <a:off x="9747504" y="1737360"/>
            <a:ext cx="1883664" cy="329184"/>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Arial"/>
              </a:rPr>
              <a:t>Allow</a:t>
            </a:r>
          </a:p>
        </p:txBody>
      </p:sp>
      <p:sp>
        <p:nvSpPr>
          <p:cNvPr id="42" name="chip Ask a human"/>
          <p:cNvSpPr/>
          <p:nvPr/>
        </p:nvSpPr>
        <p:spPr>
          <a:xfrm>
            <a:off x="9747504" y="2121408"/>
            <a:ext cx="1883664" cy="329184"/>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92400E"/>
                </a:solidFill>
                <a:latin typeface="Arial"/>
              </a:rPr>
              <a:t>Ask a human</a:t>
            </a:r>
          </a:p>
        </p:txBody>
      </p:sp>
      <p:sp>
        <p:nvSpPr>
          <p:cNvPr id="43" name="chip Deny"/>
          <p:cNvSpPr/>
          <p:nvPr/>
        </p:nvSpPr>
        <p:spPr>
          <a:xfrm>
            <a:off x="9747504" y="2505456"/>
            <a:ext cx="1883664" cy="329184"/>
          </a:xfrm>
          <a:prstGeom prst="roundRect">
            <a:avLst>
              <a:gd name="adj" fmla="val 50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B91C1C"/>
                </a:solidFill>
                <a:latin typeface="Arial"/>
              </a:rPr>
              <a:t>Deny</a:t>
            </a:r>
          </a:p>
        </p:txBody>
      </p:sp>
      <p:sp>
        <p:nvSpPr>
          <p:cNvPr id="44" name="audit strip"/>
          <p:cNvSpPr/>
          <p:nvPr/>
        </p:nvSpPr>
        <p:spPr>
          <a:xfrm>
            <a:off x="548640" y="4937760"/>
            <a:ext cx="11094415" cy="457200"/>
          </a:xfrm>
          <a:prstGeom prst="roundRect">
            <a:avLst>
              <a:gd name="adj" fmla="val 24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audit text"/>
          <p:cNvSpPr txBox="1"/>
          <p:nvPr/>
        </p:nvSpPr>
        <p:spPr>
          <a:xfrm>
            <a:off x="548640" y="4937760"/>
            <a:ext cx="11094415" cy="457200"/>
          </a:xfrm>
          <a:prstGeom prst="rect">
            <a:avLst/>
          </a:prstGeom>
          <a:noFill/>
        </p:spPr>
        <p:txBody>
          <a:bodyPr wrap="square" anchor="ctr" lIns="0" rIns="0" tIns="0" bIns="0">
            <a:noAutofit/>
          </a:bodyPr>
          <a:lstStyle/>
          <a:p>
            <a:pPr algn="ctr"/>
            <a:r>
              <a:rPr sz="1700" b="1" i="0">
                <a:solidFill>
                  <a:srgbClr val="0F766E"/>
                </a:solidFill>
                <a:latin typeface="Arial"/>
              </a:rPr>
              <a:t>Every decision and inspection  →  HMAC-chained audit log</a:t>
            </a:r>
          </a:p>
        </p:txBody>
      </p:sp>
      <p:sp>
        <p:nvSpPr>
          <p:cNvPr id="46" name="example"/>
          <p:cNvSpPr txBox="1"/>
          <p:nvPr/>
        </p:nvSpPr>
        <p:spPr>
          <a:xfrm>
            <a:off x="548640" y="5577840"/>
            <a:ext cx="11094415" cy="640080"/>
          </a:xfrm>
          <a:prstGeom prst="rect">
            <a:avLst/>
          </a:prstGeom>
          <a:noFill/>
        </p:spPr>
        <p:txBody>
          <a:bodyPr wrap="square" anchor="t" lIns="0" rIns="0" tIns="0" bIns="0">
            <a:noAutofit/>
          </a:bodyPr>
          <a:lstStyle/>
          <a:p>
            <a:pPr algn="l"/>
            <a:r>
              <a:rPr sz="1700" b="1" i="0">
                <a:solidFill>
                  <a:srgbClr val="0B1F3A"/>
                </a:solidFill>
                <a:latin typeface="Arial"/>
              </a:rPr>
              <a:t>Example: </a:t>
            </a:r>
            <a:r>
              <a:rPr sz="1700" b="0" i="0">
                <a:solidFill>
                  <a:srgbClr val="1F2937"/>
                </a:solidFill>
                <a:latin typeface="Arial"/>
              </a:rPr>
              <a:t>send_email to an address seen only inside an untrusted e-mail  →  </a:t>
            </a:r>
            <a:r>
              <a:rPr sz="1600" b="0" i="0">
                <a:solidFill>
                  <a:srgbClr val="B91C1C"/>
                </a:solidFill>
                <a:latin typeface="Courier New"/>
              </a:rPr>
              <a:t>TAINT_UNTRUSTED_DESTINATION</a:t>
            </a:r>
            <a:r>
              <a:rPr sz="1700" b="1" i="0">
                <a:solidFill>
                  <a:srgbClr val="B91C1C"/>
                </a:solidFill>
                <a:latin typeface="Arial"/>
              </a:rPr>
              <a:t>  →  deny</a:t>
            </a:r>
          </a:p>
        </p:txBody>
      </p:sp>
      <p:pic>
        <p:nvPicPr>
          <p:cNvPr id="47" name="Picture 46" descr="Mirsad logo"/>
          <p:cNvPicPr>
            <a:picLocks noChangeAspect="1"/>
          </p:cNvPicPr>
          <p:nvPr/>
        </p:nvPicPr>
        <p:blipFill>
          <a:blip r:embed="rId2"/>
          <a:stretch>
            <a:fillRect/>
          </a:stretch>
        </p:blipFill>
        <p:spPr>
          <a:xfrm>
            <a:off x="548640" y="6419088"/>
            <a:ext cx="219456" cy="219456"/>
          </a:xfrm>
          <a:prstGeom prst="rect">
            <a:avLst/>
          </a:prstGeom>
        </p:spPr>
      </p:pic>
      <p:sp>
        <p:nvSpPr>
          <p:cNvPr id="48" name="footer"/>
          <p:cNvSpPr txBox="1"/>
          <p:nvPr/>
        </p:nvSpPr>
        <p:spPr>
          <a:xfrm>
            <a:off x="859536" y="6437376"/>
            <a:ext cx="6400800" cy="219456"/>
          </a:xfrm>
          <a:prstGeom prst="rect">
            <a:avLst/>
          </a:prstGeom>
          <a:noFill/>
        </p:spPr>
        <p:txBody>
          <a:bodyPr wrap="square" anchor="t" lIns="0" rIns="0" tIns="0" bIns="0">
            <a:noAutofit/>
          </a:bodyPr>
          <a:lstStyle/>
          <a:p>
            <a:pPr algn="l"/>
            <a:r>
              <a:rPr sz="1000" b="0" i="0">
                <a:solidFill>
                  <a:srgbClr val="5B6472"/>
                </a:solidFill>
                <a:latin typeface="Arial"/>
              </a:rPr>
              <a:t>Mirsad </a:t>
            </a:r>
            <a:r>
              <a:rPr sz="1000" b="0" i="0" lang="ar-SA">
                <a:solidFill>
                  <a:srgbClr val="5B6472"/>
                </a:solidFill>
                <a:latin typeface="Arial"/>
                <a:cs typeface="Arial"/>
              </a:rPr>
              <a:t>مرصاد</a:t>
            </a:r>
            <a:r>
              <a:rPr sz="1000" b="0" i="0">
                <a:solidFill>
                  <a:srgbClr val="5B6472"/>
                </a:solidFill>
                <a:latin typeface="Arial"/>
              </a:rPr>
              <a:t>  ·  IS499 Senior Project  ·  Prince Sultan University</a:t>
            </a:r>
          </a:p>
        </p:txBody>
      </p:sp>
      <p:sp>
        <p:nvSpPr>
          <p:cNvPr id="49" name="slide number"/>
          <p:cNvSpPr txBox="1"/>
          <p:nvPr/>
        </p:nvSpPr>
        <p:spPr>
          <a:xfrm>
            <a:off x="10545775" y="6419088"/>
            <a:ext cx="1097280" cy="237744"/>
          </a:xfrm>
          <a:prstGeom prst="rect">
            <a:avLst/>
          </a:prstGeom>
          <a:noFill/>
        </p:spPr>
        <p:txBody>
          <a:bodyPr wrap="square" anchor="t" lIns="0" rIns="0" tIns="0" bIns="0">
            <a:noAutofit/>
          </a:bodyPr>
          <a:lstStyle/>
          <a:p>
            <a:pPr algn="r"/>
            <a:r>
              <a:rPr sz="1100" b="0" i="0">
                <a:solidFill>
                  <a:srgbClr val="5B6472"/>
                </a:solidFill>
                <a:latin typeface="Arial"/>
              </a:rPr>
              <a:t>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11094415" cy="731520"/>
          </a:xfrm>
        </p:spPr>
        <p:txBody>
          <a:bodyPr wrap="square" anchor="t" lIns="0" rIns="0" tIns="0" bIns="0">
            <a:noAutofit/>
          </a:bodyPr>
          <a:lstStyle/>
          <a:p>
            <a:pPr algn="l"/>
            <a:r>
              <a:rPr sz="3000" b="1" i="0">
                <a:solidFill>
                  <a:srgbClr val="0B1F3A"/>
                </a:solidFill>
                <a:latin typeface="Arial"/>
              </a:rPr>
              <a:t>Policy decides actions; taint tracks where data came from</a:t>
            </a:r>
          </a:p>
        </p:txBody>
      </p:sp>
      <p:sp>
        <p:nvSpPr>
          <p:cNvPr id="3" name="kicker"/>
          <p:cNvSpPr txBox="1"/>
          <p:nvPr/>
        </p:nvSpPr>
        <p:spPr>
          <a:xfrm>
            <a:off x="548640" y="274320"/>
            <a:ext cx="7315200" cy="274320"/>
          </a:xfrm>
          <a:prstGeom prst="rect">
            <a:avLst/>
          </a:prstGeom>
          <a:noFill/>
        </p:spPr>
        <p:txBody>
          <a:bodyPr wrap="square" anchor="t" lIns="0" rIns="0" tIns="0" bIns="0">
            <a:noAutofit/>
          </a:bodyPr>
          <a:lstStyle/>
          <a:p>
            <a:pPr algn="l"/>
            <a:r>
              <a:rPr sz="1200" b="1" i="0" spc="150">
                <a:solidFill>
                  <a:srgbClr val="0F766E"/>
                </a:solidFill>
                <a:latin typeface="Arial"/>
              </a:rPr>
              <a:t>DESIGN · POLICY AND TAINT</a:t>
            </a:r>
          </a:p>
        </p:txBody>
      </p:sp>
      <p:sp>
        <p:nvSpPr>
          <p:cNvPr id="4" name="policy caption"/>
          <p:cNvSpPr txBox="1"/>
          <p:nvPr/>
        </p:nvSpPr>
        <p:spPr>
          <a:xfrm>
            <a:off x="548640" y="1481328"/>
            <a:ext cx="5257800" cy="274320"/>
          </a:xfrm>
          <a:prstGeom prst="rect">
            <a:avLst/>
          </a:prstGeom>
          <a:noFill/>
        </p:spPr>
        <p:txBody>
          <a:bodyPr wrap="square" anchor="t" lIns="0" rIns="0" tIns="0" bIns="0">
            <a:noAutofit/>
          </a:bodyPr>
          <a:lstStyle/>
          <a:p>
            <a:pPr algn="l"/>
            <a:r>
              <a:rPr sz="1300" b="0" i="0">
                <a:solidFill>
                  <a:srgbClr val="5B6472"/>
                </a:solidFill>
                <a:latin typeface="Courier New"/>
              </a:rPr>
              <a:t>configs/policies/default.yaml (excerpt)</a:t>
            </a:r>
          </a:p>
        </p:txBody>
      </p:sp>
      <p:sp>
        <p:nvSpPr>
          <p:cNvPr id="5" name="code panel"/>
          <p:cNvSpPr/>
          <p:nvPr/>
        </p:nvSpPr>
        <p:spPr>
          <a:xfrm>
            <a:off x="548640" y="1810512"/>
            <a:ext cx="5257800" cy="3154680"/>
          </a:xfrm>
          <a:prstGeom prst="roundRect">
            <a:avLst>
              <a:gd name="adj" fmla="val 4057"/>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olicy code"/>
          <p:cNvSpPr txBox="1"/>
          <p:nvPr/>
        </p:nvSpPr>
        <p:spPr>
          <a:xfrm>
            <a:off x="822959" y="2011680"/>
            <a:ext cx="4800600" cy="2834640"/>
          </a:xfrm>
          <a:prstGeom prst="rect">
            <a:avLst/>
          </a:prstGeom>
          <a:noFill/>
        </p:spPr>
        <p:txBody>
          <a:bodyPr wrap="square" anchor="t" lIns="0" rIns="0" tIns="0" bIns="0">
            <a:noAutofit/>
          </a:bodyPr>
          <a:lstStyle/>
          <a:p>
            <a:pPr algn="l"/>
            <a:r>
              <a:rPr sz="1300" b="0" i="0">
                <a:solidFill>
                  <a:srgbClr val="2DD4BF"/>
                </a:solidFill>
                <a:latin typeface="Courier New"/>
              </a:rPr>
              <a:t>send_email:</a:t>
            </a:r>
            <a:r>
              <a:rPr sz="1300" b="0" i="0">
                <a:solidFill>
                  <a:srgbClr val="FFFFFF"/>
                </a:solidFill>
                <a:latin typeface="Courier New"/>
              </a:rPr>
              <a:t/>
            </a:r>
          </a:p>
          <a:p>
            <a:pPr algn="l"/>
            <a:r>
              <a:rPr sz="1300" b="0" i="0">
                <a:solidFill>
                  <a:srgbClr val="2DD4BF"/>
                </a:solidFill>
                <a:latin typeface="Courier New"/>
              </a:rPr>
              <a:t>  allow:</a:t>
            </a:r>
            <a:r>
              <a:rPr sz="1300" b="0" i="0">
                <a:solidFill>
                  <a:srgbClr val="FFFFFF"/>
                </a:solidFill>
                <a:latin typeface="Courier New"/>
              </a:rPr>
              <a:t> true</a:t>
            </a:r>
          </a:p>
          <a:p>
            <a:pPr algn="l"/>
            <a:r>
              <a:rPr sz="1300" b="0" i="0">
                <a:solidFill>
                  <a:srgbClr val="2DD4BF"/>
                </a:solidFill>
                <a:latin typeface="Courier New"/>
              </a:rPr>
              <a:t>  sink:</a:t>
            </a:r>
            <a:r>
              <a:rPr sz="1300" b="0" i="0">
                <a:solidFill>
                  <a:srgbClr val="FFFFFF"/>
                </a:solidFill>
                <a:latin typeface="Courier New"/>
              </a:rPr>
              <a:t> dynamic</a:t>
            </a:r>
          </a:p>
          <a:p>
            <a:pPr algn="l"/>
            <a:r>
              <a:rPr sz="1300" b="0" i="0">
                <a:solidFill>
                  <a:srgbClr val="2DD4BF"/>
                </a:solidFill>
                <a:latin typeface="Courier New"/>
              </a:rPr>
              <a:t>  sink_params:</a:t>
            </a:r>
            <a:r>
              <a:rPr sz="1300" b="0" i="0">
                <a:solidFill>
                  <a:srgbClr val="FFFFFF"/>
                </a:solidFill>
                <a:latin typeface="Courier New"/>
              </a:rPr>
              <a:t> [to, cc, bcc]</a:t>
            </a:r>
          </a:p>
          <a:p>
            <a:pPr algn="l"/>
            <a:r>
              <a:rPr sz="1300" b="0" i="0">
                <a:solidFill>
                  <a:srgbClr val="2DD4BF"/>
                </a:solidFill>
                <a:latin typeface="Courier New"/>
              </a:rPr>
              <a:t>  risk:</a:t>
            </a:r>
            <a:r>
              <a:rPr sz="1300" b="0" i="0">
                <a:solidFill>
                  <a:srgbClr val="FFFFFF"/>
                </a:solidFill>
                <a:latin typeface="Courier New"/>
              </a:rPr>
              <a:t> medium</a:t>
            </a:r>
          </a:p>
          <a:p>
            <a:pPr algn="l"/>
            <a:r>
              <a:rPr sz="1300" b="0" i="0">
                <a:solidFill>
                  <a:srgbClr val="2DD4BF"/>
                </a:solidFill>
                <a:latin typeface="Courier New"/>
              </a:rPr>
              <a:t>  constraints:</a:t>
            </a:r>
            <a:r>
              <a:rPr sz="1300" b="0" i="0">
                <a:solidFill>
                  <a:srgbClr val="FFFFFF"/>
                </a:solidFill>
                <a:latin typeface="Courier New"/>
              </a:rPr>
              <a:t/>
            </a:r>
          </a:p>
          <a:p>
            <a:pPr algn="l"/>
            <a:r>
              <a:rPr sz="1300" b="0" i="0">
                <a:solidFill>
                  <a:srgbClr val="2DD4BF"/>
                </a:solidFill>
                <a:latin typeface="Courier New"/>
              </a:rPr>
              <a:t>    to:</a:t>
            </a:r>
            <a:r>
              <a:rPr sz="1300" b="0" i="0">
                <a:solidFill>
                  <a:srgbClr val="FFFFFF"/>
                </a:solidFill>
                <a:latin typeface="Courier New"/>
              </a:rPr>
              <a:t> {domain_in: [najd-trading.example],</a:t>
            </a:r>
          </a:p>
          <a:p>
            <a:pPr algn="l"/>
            <a:r>
              <a:rPr sz="1300" b="0" i="0">
                <a:solidFill>
                  <a:srgbClr val="FFFFFF"/>
                </a:solidFill>
                <a:latin typeface="Courier New"/>
              </a:rPr>
              <a:t>         on_violation: require_approval}</a:t>
            </a:r>
          </a:p>
          <a:p>
            <a:pPr algn="l"/>
            <a:r>
              <a:rPr sz="1300" b="0" i="0">
                <a:solidFill>
                  <a:srgbClr val="2DD4BF"/>
                </a:solidFill>
                <a:latin typeface="Courier New"/>
              </a:rPr>
              <a:t>delete_customer:</a:t>
            </a:r>
            <a:r>
              <a:rPr sz="1300" b="0" i="0">
                <a:solidFill>
                  <a:srgbClr val="FFFFFF"/>
                </a:solidFill>
                <a:latin typeface="Courier New"/>
              </a:rPr>
              <a:t/>
            </a:r>
          </a:p>
          <a:p>
            <a:pPr algn="l"/>
            <a:r>
              <a:rPr sz="1300" b="0" i="0">
                <a:solidFill>
                  <a:srgbClr val="FFFFFF"/>
                </a:solidFill>
                <a:latin typeface="Courier New"/>
              </a:rPr>
              <a:t>  {risk: critical, approval: always}</a:t>
            </a:r>
          </a:p>
          <a:p>
            <a:pPr algn="l"/>
            <a:r>
              <a:rPr sz="1300" b="0" i="0">
                <a:solidFill>
                  <a:srgbClr val="2DD4BF"/>
                </a:solidFill>
                <a:latin typeface="Courier New"/>
              </a:rPr>
              <a:t>"*":</a:t>
            </a:r>
            <a:r>
              <a:rPr sz="1300" b="0" i="0">
                <a:solidFill>
                  <a:srgbClr val="FFFFFF"/>
                </a:solidFill>
                <a:latin typeface="Courier New"/>
              </a:rPr>
              <a:t> {allow: false}</a:t>
            </a:r>
          </a:p>
        </p:txBody>
      </p:sp>
      <p:sp>
        <p:nvSpPr>
          <p:cNvPr id="7" name="policy note"/>
          <p:cNvSpPr txBox="1"/>
          <p:nvPr/>
        </p:nvSpPr>
        <p:spPr>
          <a:xfrm>
            <a:off x="548640" y="5120640"/>
            <a:ext cx="5257800" cy="640080"/>
          </a:xfrm>
          <a:prstGeom prst="rect">
            <a:avLst/>
          </a:prstGeom>
          <a:noFill/>
        </p:spPr>
        <p:txBody>
          <a:bodyPr wrap="square" anchor="t" lIns="0" rIns="0" tIns="0" bIns="0">
            <a:noAutofit/>
          </a:bodyPr>
          <a:lstStyle/>
          <a:p>
            <a:pPr algn="l"/>
            <a:r>
              <a:rPr sz="1500" b="0" i="0">
                <a:solidFill>
                  <a:srgbClr val="5B6472"/>
                </a:solidFill>
                <a:latin typeface="Arial"/>
              </a:rPr>
              <a:t>Unlisted tools are denied; policies are validated, versioned and activated without a restart.</a:t>
            </a:r>
          </a:p>
        </p:txBody>
      </p:sp>
      <p:sp>
        <p:nvSpPr>
          <p:cNvPr id="8" name="taint head"/>
          <p:cNvSpPr txBox="1"/>
          <p:nvPr/>
        </p:nvSpPr>
        <p:spPr>
          <a:xfrm>
            <a:off x="6217920" y="1481328"/>
            <a:ext cx="5425135" cy="320040"/>
          </a:xfrm>
          <a:prstGeom prst="rect">
            <a:avLst/>
          </a:prstGeom>
          <a:noFill/>
        </p:spPr>
        <p:txBody>
          <a:bodyPr wrap="square" anchor="t" lIns="0" rIns="0" tIns="0" bIns="0">
            <a:noAutofit/>
          </a:bodyPr>
          <a:lstStyle/>
          <a:p>
            <a:pPr algn="l"/>
            <a:r>
              <a:rPr sz="1800" b="1" i="0">
                <a:solidFill>
                  <a:srgbClr val="0B1F3A"/>
                </a:solidFill>
                <a:latin typeface="Arial"/>
              </a:rPr>
              <a:t>Taint rules in the default policy</a:t>
            </a:r>
          </a:p>
        </p:txBody>
      </p:sp>
      <p:sp>
        <p:nvSpPr>
          <p:cNvPr id="9" name="rule line"/>
          <p:cNvSpPr/>
          <p:nvPr/>
        </p:nvSpPr>
        <p:spPr>
          <a:xfrm>
            <a:off x="6217920" y="2788920"/>
            <a:ext cx="5425135" cy="10972"/>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ule code 0"/>
          <p:cNvSpPr txBox="1"/>
          <p:nvPr/>
        </p:nvSpPr>
        <p:spPr>
          <a:xfrm>
            <a:off x="6217920" y="1965960"/>
            <a:ext cx="4007815" cy="274320"/>
          </a:xfrm>
          <a:prstGeom prst="rect">
            <a:avLst/>
          </a:prstGeom>
          <a:noFill/>
        </p:spPr>
        <p:txBody>
          <a:bodyPr wrap="square" anchor="t" lIns="0" rIns="0" tIns="0" bIns="0">
            <a:noAutofit/>
          </a:bodyPr>
          <a:lstStyle/>
          <a:p>
            <a:pPr algn="l"/>
            <a:r>
              <a:rPr sz="1200" b="0" i="0">
                <a:solidFill>
                  <a:srgbClr val="0F766E"/>
                </a:solidFill>
                <a:latin typeface="Courier New"/>
              </a:rPr>
              <a:t>TAINT_UNTRUSTED_TO_EXTERNAL</a:t>
            </a:r>
          </a:p>
        </p:txBody>
      </p:sp>
      <p:sp>
        <p:nvSpPr>
          <p:cNvPr id="11" name="rule desc 0"/>
          <p:cNvSpPr txBox="1"/>
          <p:nvPr/>
        </p:nvSpPr>
        <p:spPr>
          <a:xfrm>
            <a:off x="6217920" y="2240280"/>
            <a:ext cx="4007815" cy="548640"/>
          </a:xfrm>
          <a:prstGeom prst="rect">
            <a:avLst/>
          </a:prstGeom>
          <a:noFill/>
        </p:spPr>
        <p:txBody>
          <a:bodyPr wrap="square" anchor="t" lIns="0" rIns="0" tIns="0" bIns="0">
            <a:noAutofit/>
          </a:bodyPr>
          <a:lstStyle/>
          <a:p>
            <a:pPr algn="l"/>
            <a:r>
              <a:rPr sz="1700" b="0" i="0">
                <a:solidFill>
                  <a:srgbClr val="1F2937"/>
                </a:solidFill>
                <a:latin typeface="Arial"/>
              </a:rPr>
              <a:t>Untrusted content read, then a call to an external destination</a:t>
            </a:r>
          </a:p>
        </p:txBody>
      </p:sp>
      <p:sp>
        <p:nvSpPr>
          <p:cNvPr id="12" name="chip Approval"/>
          <p:cNvSpPr/>
          <p:nvPr/>
        </p:nvSpPr>
        <p:spPr>
          <a:xfrm>
            <a:off x="10362895" y="2194560"/>
            <a:ext cx="1280160" cy="365760"/>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92400E"/>
                </a:solidFill>
                <a:latin typeface="Arial"/>
              </a:rPr>
              <a:t>Approval</a:t>
            </a:r>
          </a:p>
        </p:txBody>
      </p:sp>
      <p:sp>
        <p:nvSpPr>
          <p:cNvPr id="13" name="rule line"/>
          <p:cNvSpPr/>
          <p:nvPr/>
        </p:nvSpPr>
        <p:spPr>
          <a:xfrm>
            <a:off x="6217920" y="3703320"/>
            <a:ext cx="5425135" cy="10972"/>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ule code 1"/>
          <p:cNvSpPr txBox="1"/>
          <p:nvPr/>
        </p:nvSpPr>
        <p:spPr>
          <a:xfrm>
            <a:off x="6217920" y="2880360"/>
            <a:ext cx="4007815" cy="274320"/>
          </a:xfrm>
          <a:prstGeom prst="rect">
            <a:avLst/>
          </a:prstGeom>
          <a:noFill/>
        </p:spPr>
        <p:txBody>
          <a:bodyPr wrap="square" anchor="t" lIns="0" rIns="0" tIns="0" bIns="0">
            <a:noAutofit/>
          </a:bodyPr>
          <a:lstStyle/>
          <a:p>
            <a:pPr algn="l"/>
            <a:r>
              <a:rPr sz="1200" b="0" i="0">
                <a:solidFill>
                  <a:srgbClr val="0F766E"/>
                </a:solidFill>
                <a:latin typeface="Courier New"/>
              </a:rPr>
              <a:t>TAINT_CONFIDENTIAL_TO_EXTERNAL</a:t>
            </a:r>
          </a:p>
        </p:txBody>
      </p:sp>
      <p:sp>
        <p:nvSpPr>
          <p:cNvPr id="15" name="rule desc 1"/>
          <p:cNvSpPr txBox="1"/>
          <p:nvPr/>
        </p:nvSpPr>
        <p:spPr>
          <a:xfrm>
            <a:off x="6217920" y="3154680"/>
            <a:ext cx="4007815" cy="548640"/>
          </a:xfrm>
          <a:prstGeom prst="rect">
            <a:avLst/>
          </a:prstGeom>
          <a:noFill/>
        </p:spPr>
        <p:txBody>
          <a:bodyPr wrap="square" anchor="t" lIns="0" rIns="0" tIns="0" bIns="0">
            <a:noAutofit/>
          </a:bodyPr>
          <a:lstStyle/>
          <a:p>
            <a:pPr algn="l"/>
            <a:r>
              <a:rPr sz="1700" b="0" i="0">
                <a:solidFill>
                  <a:srgbClr val="1F2937"/>
                </a:solidFill>
                <a:latin typeface="Arial"/>
              </a:rPr>
              <a:t>Confidential values sent to an external destination</a:t>
            </a:r>
          </a:p>
        </p:txBody>
      </p:sp>
      <p:sp>
        <p:nvSpPr>
          <p:cNvPr id="16" name="chip Approval"/>
          <p:cNvSpPr/>
          <p:nvPr/>
        </p:nvSpPr>
        <p:spPr>
          <a:xfrm>
            <a:off x="10362895" y="3108960"/>
            <a:ext cx="1280160" cy="365760"/>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92400E"/>
                </a:solidFill>
                <a:latin typeface="Arial"/>
              </a:rPr>
              <a:t>Approval</a:t>
            </a:r>
          </a:p>
        </p:txBody>
      </p:sp>
      <p:sp>
        <p:nvSpPr>
          <p:cNvPr id="17" name="rule line"/>
          <p:cNvSpPr/>
          <p:nvPr/>
        </p:nvSpPr>
        <p:spPr>
          <a:xfrm>
            <a:off x="6217920" y="4617720"/>
            <a:ext cx="5425135" cy="10972"/>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ule code 2"/>
          <p:cNvSpPr txBox="1"/>
          <p:nvPr/>
        </p:nvSpPr>
        <p:spPr>
          <a:xfrm>
            <a:off x="6217920" y="3794759"/>
            <a:ext cx="4007815" cy="274320"/>
          </a:xfrm>
          <a:prstGeom prst="rect">
            <a:avLst/>
          </a:prstGeom>
          <a:noFill/>
        </p:spPr>
        <p:txBody>
          <a:bodyPr wrap="square" anchor="t" lIns="0" rIns="0" tIns="0" bIns="0">
            <a:noAutofit/>
          </a:bodyPr>
          <a:lstStyle/>
          <a:p>
            <a:pPr algn="l"/>
            <a:r>
              <a:rPr sz="1200" b="0" i="0">
                <a:solidFill>
                  <a:srgbClr val="0F766E"/>
                </a:solidFill>
                <a:latin typeface="Courier New"/>
              </a:rPr>
              <a:t>TAINT_UNTRUSTED_DESTINATION</a:t>
            </a:r>
          </a:p>
        </p:txBody>
      </p:sp>
      <p:sp>
        <p:nvSpPr>
          <p:cNvPr id="19" name="rule desc 2"/>
          <p:cNvSpPr txBox="1"/>
          <p:nvPr/>
        </p:nvSpPr>
        <p:spPr>
          <a:xfrm>
            <a:off x="6217920" y="4069079"/>
            <a:ext cx="4007815" cy="548640"/>
          </a:xfrm>
          <a:prstGeom prst="rect">
            <a:avLst/>
          </a:prstGeom>
          <a:noFill/>
        </p:spPr>
        <p:txBody>
          <a:bodyPr wrap="square" anchor="t" lIns="0" rIns="0" tIns="0" bIns="0">
            <a:noAutofit/>
          </a:bodyPr>
          <a:lstStyle/>
          <a:p>
            <a:pPr algn="l"/>
            <a:r>
              <a:rPr sz="1700" b="0" i="0">
                <a:solidFill>
                  <a:srgbClr val="1F2937"/>
                </a:solidFill>
                <a:latin typeface="Arial"/>
              </a:rPr>
              <a:t>Destination chosen by untrusted content</a:t>
            </a:r>
          </a:p>
        </p:txBody>
      </p:sp>
      <p:sp>
        <p:nvSpPr>
          <p:cNvPr id="20" name="chip Deny"/>
          <p:cNvSpPr/>
          <p:nvPr/>
        </p:nvSpPr>
        <p:spPr>
          <a:xfrm>
            <a:off x="10362895" y="4023359"/>
            <a:ext cx="1280160" cy="365760"/>
          </a:xfrm>
          <a:prstGeom prst="roundRect">
            <a:avLst>
              <a:gd name="adj" fmla="val 50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B91C1C"/>
                </a:solidFill>
                <a:latin typeface="Arial"/>
              </a:rPr>
              <a:t>Deny</a:t>
            </a:r>
          </a:p>
        </p:txBody>
      </p:sp>
      <p:sp>
        <p:nvSpPr>
          <p:cNvPr id="21" name="rule line"/>
          <p:cNvSpPr/>
          <p:nvPr/>
        </p:nvSpPr>
        <p:spPr>
          <a:xfrm>
            <a:off x="6217920" y="5532120"/>
            <a:ext cx="5425135" cy="10972"/>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ule code 3"/>
          <p:cNvSpPr txBox="1"/>
          <p:nvPr/>
        </p:nvSpPr>
        <p:spPr>
          <a:xfrm>
            <a:off x="6217920" y="4709159"/>
            <a:ext cx="4007815" cy="274320"/>
          </a:xfrm>
          <a:prstGeom prst="rect">
            <a:avLst/>
          </a:prstGeom>
          <a:noFill/>
        </p:spPr>
        <p:txBody>
          <a:bodyPr wrap="square" anchor="t" lIns="0" rIns="0" tIns="0" bIns="0">
            <a:noAutofit/>
          </a:bodyPr>
          <a:lstStyle/>
          <a:p>
            <a:pPr algn="l"/>
            <a:r>
              <a:rPr sz="1200" b="0" i="0">
                <a:solidFill>
                  <a:srgbClr val="0F766E"/>
                </a:solidFill>
                <a:latin typeface="Courier New"/>
              </a:rPr>
              <a:t>TAINT_AFTER_INJECTION</a:t>
            </a:r>
          </a:p>
        </p:txBody>
      </p:sp>
      <p:sp>
        <p:nvSpPr>
          <p:cNvPr id="23" name="rule desc 3"/>
          <p:cNvSpPr txBox="1"/>
          <p:nvPr/>
        </p:nvSpPr>
        <p:spPr>
          <a:xfrm>
            <a:off x="6217920" y="4983479"/>
            <a:ext cx="4007815" cy="548640"/>
          </a:xfrm>
          <a:prstGeom prst="rect">
            <a:avLst/>
          </a:prstGeom>
          <a:noFill/>
        </p:spPr>
        <p:txBody>
          <a:bodyPr wrap="square" anchor="t" lIns="0" rIns="0" tIns="0" bIns="0">
            <a:noAutofit/>
          </a:bodyPr>
          <a:lstStyle/>
          <a:p>
            <a:pPr algn="l"/>
            <a:r>
              <a:rPr sz="1700" b="0" i="0">
                <a:solidFill>
                  <a:srgbClr val="1F2937"/>
                </a:solidFill>
                <a:latin typeface="Arial"/>
              </a:rPr>
              <a:t>High-risk tool after an injection was detected</a:t>
            </a:r>
          </a:p>
        </p:txBody>
      </p:sp>
      <p:sp>
        <p:nvSpPr>
          <p:cNvPr id="24" name="chip Approval"/>
          <p:cNvSpPr/>
          <p:nvPr/>
        </p:nvSpPr>
        <p:spPr>
          <a:xfrm>
            <a:off x="10362895" y="4937759"/>
            <a:ext cx="1280160" cy="365760"/>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92400E"/>
                </a:solidFill>
                <a:latin typeface="Arial"/>
              </a:rPr>
              <a:t>Approval</a:t>
            </a:r>
          </a:p>
        </p:txBody>
      </p:sp>
      <p:sp>
        <p:nvSpPr>
          <p:cNvPr id="25" name="taint note"/>
          <p:cNvSpPr txBox="1"/>
          <p:nvPr/>
        </p:nvSpPr>
        <p:spPr>
          <a:xfrm>
            <a:off x="6217920" y="5577840"/>
            <a:ext cx="5425135" cy="640080"/>
          </a:xfrm>
          <a:prstGeom prst="rect">
            <a:avLst/>
          </a:prstGeom>
          <a:noFill/>
        </p:spPr>
        <p:txBody>
          <a:bodyPr wrap="square" anchor="t" lIns="0" rIns="0" tIns="0" bIns="0">
            <a:noAutofit/>
          </a:bodyPr>
          <a:lstStyle/>
          <a:p>
            <a:pPr algn="l"/>
            <a:r>
              <a:rPr sz="1500" b="0" i="0">
                <a:solidFill>
                  <a:srgbClr val="5B6472"/>
                </a:solidFill>
                <a:latin typeface="Arial"/>
              </a:rPr>
              <a:t>Evidence names the source tool, call and field.</a:t>
            </a:r>
          </a:p>
        </p:txBody>
      </p:sp>
      <p:pic>
        <p:nvPicPr>
          <p:cNvPr id="26" name="Picture 25" descr="Mirsad logo"/>
          <p:cNvPicPr>
            <a:picLocks noChangeAspect="1"/>
          </p:cNvPicPr>
          <p:nvPr/>
        </p:nvPicPr>
        <p:blipFill>
          <a:blip r:embed="rId2"/>
          <a:stretch>
            <a:fillRect/>
          </a:stretch>
        </p:blipFill>
        <p:spPr>
          <a:xfrm>
            <a:off x="548640" y="6419088"/>
            <a:ext cx="219456" cy="219456"/>
          </a:xfrm>
          <a:prstGeom prst="rect">
            <a:avLst/>
          </a:prstGeom>
        </p:spPr>
      </p:pic>
      <p:sp>
        <p:nvSpPr>
          <p:cNvPr id="27" name="footer"/>
          <p:cNvSpPr txBox="1"/>
          <p:nvPr/>
        </p:nvSpPr>
        <p:spPr>
          <a:xfrm>
            <a:off x="859536" y="6437376"/>
            <a:ext cx="6400800" cy="219456"/>
          </a:xfrm>
          <a:prstGeom prst="rect">
            <a:avLst/>
          </a:prstGeom>
          <a:noFill/>
        </p:spPr>
        <p:txBody>
          <a:bodyPr wrap="square" anchor="t" lIns="0" rIns="0" tIns="0" bIns="0">
            <a:noAutofit/>
          </a:bodyPr>
          <a:lstStyle/>
          <a:p>
            <a:pPr algn="l"/>
            <a:r>
              <a:rPr sz="1000" b="0" i="0">
                <a:solidFill>
                  <a:srgbClr val="5B6472"/>
                </a:solidFill>
                <a:latin typeface="Arial"/>
              </a:rPr>
              <a:t>Mirsad </a:t>
            </a:r>
            <a:r>
              <a:rPr sz="1000" b="0" i="0" lang="ar-SA">
                <a:solidFill>
                  <a:srgbClr val="5B6472"/>
                </a:solidFill>
                <a:latin typeface="Arial"/>
                <a:cs typeface="Arial"/>
              </a:rPr>
              <a:t>مرصاد</a:t>
            </a:r>
            <a:r>
              <a:rPr sz="1000" b="0" i="0">
                <a:solidFill>
                  <a:srgbClr val="5B6472"/>
                </a:solidFill>
                <a:latin typeface="Arial"/>
              </a:rPr>
              <a:t>  ·  IS499 Senior Project  ·  Prince Sultan University</a:t>
            </a:r>
          </a:p>
        </p:txBody>
      </p:sp>
      <p:sp>
        <p:nvSpPr>
          <p:cNvPr id="28" name="slide number"/>
          <p:cNvSpPr txBox="1"/>
          <p:nvPr/>
        </p:nvSpPr>
        <p:spPr>
          <a:xfrm>
            <a:off x="10545775" y="6419088"/>
            <a:ext cx="1097280" cy="237744"/>
          </a:xfrm>
          <a:prstGeom prst="rect">
            <a:avLst/>
          </a:prstGeom>
          <a:noFill/>
        </p:spPr>
        <p:txBody>
          <a:bodyPr wrap="square" anchor="t" lIns="0" rIns="0" tIns="0" bIns="0">
            <a:noAutofit/>
          </a:bodyPr>
          <a:lstStyle/>
          <a:p>
            <a:pPr algn="r"/>
            <a:r>
              <a:rPr sz="1100" b="0" i="0">
                <a:solidFill>
                  <a:srgbClr val="5B6472"/>
                </a:solidFill>
                <a:latin typeface="Arial"/>
              </a:rPr>
              <a:t>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11094415" cy="731520"/>
          </a:xfrm>
        </p:spPr>
        <p:txBody>
          <a:bodyPr wrap="square" anchor="t" lIns="0" rIns="0" tIns="0" bIns="0">
            <a:noAutofit/>
          </a:bodyPr>
          <a:lstStyle/>
          <a:p>
            <a:pPr algn="l"/>
            <a:r>
              <a:rPr sz="3000" b="1" i="0">
                <a:solidFill>
                  <a:srgbClr val="0B1F3A"/>
                </a:solidFill>
                <a:latin typeface="Arial"/>
              </a:rPr>
              <a:t>Detection, human approval and a verifiable record</a:t>
            </a:r>
          </a:p>
        </p:txBody>
      </p:sp>
      <p:sp>
        <p:nvSpPr>
          <p:cNvPr id="3" name="kicker"/>
          <p:cNvSpPr txBox="1"/>
          <p:nvPr/>
        </p:nvSpPr>
        <p:spPr>
          <a:xfrm>
            <a:off x="548640" y="274320"/>
            <a:ext cx="7315200" cy="274320"/>
          </a:xfrm>
          <a:prstGeom prst="rect">
            <a:avLst/>
          </a:prstGeom>
          <a:noFill/>
        </p:spPr>
        <p:txBody>
          <a:bodyPr wrap="square" anchor="t" lIns="0" rIns="0" tIns="0" bIns="0">
            <a:noAutofit/>
          </a:bodyPr>
          <a:lstStyle/>
          <a:p>
            <a:pPr algn="l"/>
            <a:r>
              <a:rPr sz="1200" b="1" i="0" spc="150">
                <a:solidFill>
                  <a:srgbClr val="0F766E"/>
                </a:solidFill>
                <a:latin typeface="Arial"/>
              </a:rPr>
              <a:t>DESIGN · DETECTOR, APPROVAL, AUDIT</a:t>
            </a:r>
          </a:p>
        </p:txBody>
      </p:sp>
      <p:sp>
        <p:nvSpPr>
          <p:cNvPr id="4" name="card Injection detector"/>
          <p:cNvSpPr/>
          <p:nvPr/>
        </p:nvSpPr>
        <p:spPr>
          <a:xfrm>
            <a:off x="548640" y="1600200"/>
            <a:ext cx="3456432" cy="4526280"/>
          </a:xfrm>
          <a:prstGeom prst="roundRect">
            <a:avLst>
              <a:gd name="adj" fmla="val 4761"/>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icon Injection detector"/>
          <p:cNvSpPr/>
          <p:nvPr/>
        </p:nvSpPr>
        <p:spPr>
          <a:xfrm>
            <a:off x="914400" y="1965960"/>
            <a:ext cx="713232" cy="713232"/>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400" b="1" i="0" lang="ar-SA">
                <a:solidFill>
                  <a:srgbClr val="FFFFFF"/>
                </a:solidFill>
                <a:latin typeface="Arial"/>
                <a:cs typeface="Arial"/>
              </a:rPr>
              <a:t>ع</a:t>
            </a:r>
          </a:p>
        </p:txBody>
      </p:sp>
      <p:sp>
        <p:nvSpPr>
          <p:cNvPr id="6" name="head Injection detector"/>
          <p:cNvSpPr txBox="1"/>
          <p:nvPr/>
        </p:nvSpPr>
        <p:spPr>
          <a:xfrm>
            <a:off x="914400" y="2834640"/>
            <a:ext cx="2724911" cy="457200"/>
          </a:xfrm>
          <a:prstGeom prst="rect">
            <a:avLst/>
          </a:prstGeom>
          <a:noFill/>
        </p:spPr>
        <p:txBody>
          <a:bodyPr wrap="square" anchor="t" lIns="0" rIns="0" tIns="0" bIns="0">
            <a:noAutofit/>
          </a:bodyPr>
          <a:lstStyle/>
          <a:p>
            <a:pPr algn="l"/>
            <a:r>
              <a:rPr sz="2400" b="1" i="0">
                <a:solidFill>
                  <a:srgbClr val="0B1F3A"/>
                </a:solidFill>
                <a:latin typeface="Arial"/>
              </a:rPr>
              <a:t>Injection detector</a:t>
            </a:r>
          </a:p>
        </p:txBody>
      </p:sp>
      <p:sp>
        <p:nvSpPr>
          <p:cNvPr id="7" name="dot"/>
          <p:cNvSpPr/>
          <p:nvPr/>
        </p:nvSpPr>
        <p:spPr>
          <a:xfrm>
            <a:off x="932688" y="3529584"/>
            <a:ext cx="109728" cy="10972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Injection detector line 0"/>
          <p:cNvSpPr txBox="1"/>
          <p:nvPr/>
        </p:nvSpPr>
        <p:spPr>
          <a:xfrm>
            <a:off x="1170432" y="3410712"/>
            <a:ext cx="2468879" cy="822960"/>
          </a:xfrm>
          <a:prstGeom prst="rect">
            <a:avLst/>
          </a:prstGeom>
          <a:noFill/>
        </p:spPr>
        <p:txBody>
          <a:bodyPr wrap="square" anchor="t" lIns="0" rIns="0" tIns="0" bIns="0">
            <a:noAutofit/>
          </a:bodyPr>
          <a:lstStyle/>
          <a:p>
            <a:pPr algn="l"/>
            <a:r>
              <a:rPr sz="1800" b="0" i="0">
                <a:solidFill>
                  <a:srgbClr val="1F2937"/>
                </a:solidFill>
                <a:latin typeface="Arial"/>
              </a:rPr>
              <a:t>Undoes hidden-character and Arabic spelling tricks</a:t>
            </a:r>
          </a:p>
        </p:txBody>
      </p:sp>
      <p:sp>
        <p:nvSpPr>
          <p:cNvPr id="9" name="dot"/>
          <p:cNvSpPr/>
          <p:nvPr/>
        </p:nvSpPr>
        <p:spPr>
          <a:xfrm>
            <a:off x="932688" y="4425696"/>
            <a:ext cx="109728" cy="10972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njection detector line 1"/>
          <p:cNvSpPr txBox="1"/>
          <p:nvPr/>
        </p:nvSpPr>
        <p:spPr>
          <a:xfrm>
            <a:off x="1170432" y="4306824"/>
            <a:ext cx="2468879" cy="822960"/>
          </a:xfrm>
          <a:prstGeom prst="rect">
            <a:avLst/>
          </a:prstGeom>
          <a:noFill/>
        </p:spPr>
        <p:txBody>
          <a:bodyPr wrap="square" anchor="t" lIns="0" rIns="0" tIns="0" bIns="0">
            <a:noAutofit/>
          </a:bodyPr>
          <a:lstStyle/>
          <a:p>
            <a:pPr algn="l"/>
            <a:r>
              <a:rPr sz="1800" b="0" i="0">
                <a:solidFill>
                  <a:srgbClr val="1F2937"/>
                </a:solidFill>
                <a:latin typeface="Arial"/>
              </a:rPr>
              <a:t>Scores text with rules and an n-gram model</a:t>
            </a:r>
          </a:p>
        </p:txBody>
      </p:sp>
      <p:sp>
        <p:nvSpPr>
          <p:cNvPr id="11" name="fact Injection detector"/>
          <p:cNvSpPr/>
          <p:nvPr/>
        </p:nvSpPr>
        <p:spPr>
          <a:xfrm>
            <a:off x="868680" y="5120640"/>
            <a:ext cx="2816352" cy="457200"/>
          </a:xfrm>
          <a:prstGeom prst="roundRect">
            <a:avLst>
              <a:gd name="adj" fmla="val 24000"/>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fact text Injection detector"/>
          <p:cNvSpPr txBox="1"/>
          <p:nvPr/>
        </p:nvSpPr>
        <p:spPr>
          <a:xfrm>
            <a:off x="868680" y="5120640"/>
            <a:ext cx="2816352" cy="457200"/>
          </a:xfrm>
          <a:prstGeom prst="rect">
            <a:avLst/>
          </a:prstGeom>
          <a:noFill/>
        </p:spPr>
        <p:txBody>
          <a:bodyPr wrap="square" anchor="ctr" lIns="0" rIns="0" tIns="0" bIns="0">
            <a:noAutofit/>
          </a:bodyPr>
          <a:lstStyle/>
          <a:p>
            <a:pPr algn="ctr"/>
            <a:r>
              <a:rPr sz="1500" b="1" i="0">
                <a:solidFill>
                  <a:srgbClr val="0F766E"/>
                </a:solidFill>
                <a:latin typeface="Arial"/>
              </a:rPr>
              <a:t>158 rules · EN · AR · Arabizi</a:t>
            </a:r>
          </a:p>
        </p:txBody>
      </p:sp>
      <p:sp>
        <p:nvSpPr>
          <p:cNvPr id="13" name="note Injection detector"/>
          <p:cNvSpPr txBox="1"/>
          <p:nvPr/>
        </p:nvSpPr>
        <p:spPr>
          <a:xfrm>
            <a:off x="914400" y="5669280"/>
            <a:ext cx="2724911" cy="320040"/>
          </a:xfrm>
          <a:prstGeom prst="rect">
            <a:avLst/>
          </a:prstGeom>
          <a:noFill/>
        </p:spPr>
        <p:txBody>
          <a:bodyPr wrap="square" anchor="t" lIns="0" rIns="0" tIns="0" bIns="0">
            <a:noAutofit/>
          </a:bodyPr>
          <a:lstStyle/>
          <a:p>
            <a:pPr algn="ctr"/>
            <a:r>
              <a:rPr sz="1300" b="0" i="1">
                <a:solidFill>
                  <a:srgbClr val="5B6472"/>
                </a:solidFill>
                <a:latin typeface="Arial"/>
              </a:rPr>
              <a:t>A signal, not the boundary</a:t>
            </a:r>
          </a:p>
        </p:txBody>
      </p:sp>
      <p:sp>
        <p:nvSpPr>
          <p:cNvPr id="14" name="card Human approval"/>
          <p:cNvSpPr/>
          <p:nvPr/>
        </p:nvSpPr>
        <p:spPr>
          <a:xfrm>
            <a:off x="4366259" y="1600200"/>
            <a:ext cx="3456432" cy="4526280"/>
          </a:xfrm>
          <a:prstGeom prst="roundRect">
            <a:avLst>
              <a:gd name="adj" fmla="val 4761"/>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icon Human approval"/>
          <p:cNvSpPr/>
          <p:nvPr/>
        </p:nvSpPr>
        <p:spPr>
          <a:xfrm>
            <a:off x="4732020" y="1965960"/>
            <a:ext cx="713232" cy="713232"/>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400" b="1" i="0">
                <a:solidFill>
                  <a:srgbClr val="FFFFFF"/>
                </a:solidFill>
                <a:latin typeface="Arial"/>
              </a:rPr>
              <a:t>✓</a:t>
            </a:r>
          </a:p>
        </p:txBody>
      </p:sp>
      <p:sp>
        <p:nvSpPr>
          <p:cNvPr id="16" name="head Human approval"/>
          <p:cNvSpPr txBox="1"/>
          <p:nvPr/>
        </p:nvSpPr>
        <p:spPr>
          <a:xfrm>
            <a:off x="4732020" y="2834640"/>
            <a:ext cx="2724911" cy="457200"/>
          </a:xfrm>
          <a:prstGeom prst="rect">
            <a:avLst/>
          </a:prstGeom>
          <a:noFill/>
        </p:spPr>
        <p:txBody>
          <a:bodyPr wrap="square" anchor="t" lIns="0" rIns="0" tIns="0" bIns="0">
            <a:noAutofit/>
          </a:bodyPr>
          <a:lstStyle/>
          <a:p>
            <a:pPr algn="l"/>
            <a:r>
              <a:rPr sz="2400" b="1" i="0">
                <a:solidFill>
                  <a:srgbClr val="0B1F3A"/>
                </a:solidFill>
                <a:latin typeface="Arial"/>
              </a:rPr>
              <a:t>Human approval</a:t>
            </a:r>
          </a:p>
        </p:txBody>
      </p:sp>
      <p:sp>
        <p:nvSpPr>
          <p:cNvPr id="17" name="dot"/>
          <p:cNvSpPr/>
          <p:nvPr/>
        </p:nvSpPr>
        <p:spPr>
          <a:xfrm>
            <a:off x="4750307" y="3529584"/>
            <a:ext cx="109728" cy="10972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uman approval line 0"/>
          <p:cNvSpPr txBox="1"/>
          <p:nvPr/>
        </p:nvSpPr>
        <p:spPr>
          <a:xfrm>
            <a:off x="4988051" y="3410712"/>
            <a:ext cx="2468879" cy="822960"/>
          </a:xfrm>
          <a:prstGeom prst="rect">
            <a:avLst/>
          </a:prstGeom>
          <a:noFill/>
        </p:spPr>
        <p:txBody>
          <a:bodyPr wrap="square" anchor="t" lIns="0" rIns="0" tIns="0" bIns="0">
            <a:noAutofit/>
          </a:bodyPr>
          <a:lstStyle/>
          <a:p>
            <a:pPr algn="l"/>
            <a:r>
              <a:rPr sz="1800" b="0" i="0">
                <a:solidFill>
                  <a:srgbClr val="1F2937"/>
                </a:solidFill>
                <a:latin typeface="Arial"/>
              </a:rPr>
              <a:t>Arabic/English summary: what, why, data source</a:t>
            </a:r>
          </a:p>
        </p:txBody>
      </p:sp>
      <p:sp>
        <p:nvSpPr>
          <p:cNvPr id="19" name="dot"/>
          <p:cNvSpPr/>
          <p:nvPr/>
        </p:nvSpPr>
        <p:spPr>
          <a:xfrm>
            <a:off x="4750307" y="4425696"/>
            <a:ext cx="109728" cy="10972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uman approval line 1"/>
          <p:cNvSpPr txBox="1"/>
          <p:nvPr/>
        </p:nvSpPr>
        <p:spPr>
          <a:xfrm>
            <a:off x="4988051" y="4306824"/>
            <a:ext cx="2468879" cy="822960"/>
          </a:xfrm>
          <a:prstGeom prst="rect">
            <a:avLst/>
          </a:prstGeom>
          <a:noFill/>
        </p:spPr>
        <p:txBody>
          <a:bodyPr wrap="square" anchor="t" lIns="0" rIns="0" tIns="0" bIns="0">
            <a:noAutofit/>
          </a:bodyPr>
          <a:lstStyle/>
          <a:p>
            <a:pPr algn="l"/>
            <a:r>
              <a:rPr sz="1800" b="0" i="0">
                <a:solidFill>
                  <a:srgbClr val="1F2937"/>
                </a:solidFill>
                <a:latin typeface="Arial"/>
              </a:rPr>
              <a:t>Pushed to the approver's phone</a:t>
            </a:r>
          </a:p>
        </p:txBody>
      </p:sp>
      <p:sp>
        <p:nvSpPr>
          <p:cNvPr id="21" name="fact Human approval"/>
          <p:cNvSpPr/>
          <p:nvPr/>
        </p:nvSpPr>
        <p:spPr>
          <a:xfrm>
            <a:off x="4686299" y="5120640"/>
            <a:ext cx="2816352" cy="457200"/>
          </a:xfrm>
          <a:prstGeom prst="roundRect">
            <a:avLst>
              <a:gd name="adj" fmla="val 24000"/>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fact text Human approval"/>
          <p:cNvSpPr txBox="1"/>
          <p:nvPr/>
        </p:nvSpPr>
        <p:spPr>
          <a:xfrm>
            <a:off x="4686299" y="5120640"/>
            <a:ext cx="2816352" cy="457200"/>
          </a:xfrm>
          <a:prstGeom prst="rect">
            <a:avLst/>
          </a:prstGeom>
          <a:noFill/>
        </p:spPr>
        <p:txBody>
          <a:bodyPr wrap="square" anchor="ctr" lIns="0" rIns="0" tIns="0" bIns="0">
            <a:noAutofit/>
          </a:bodyPr>
          <a:lstStyle/>
          <a:p>
            <a:pPr algn="ctr"/>
            <a:r>
              <a:rPr sz="1500" b="1" i="0">
                <a:solidFill>
                  <a:srgbClr val="0F766E"/>
                </a:solidFill>
                <a:latin typeface="Arial"/>
              </a:rPr>
              <a:t>No answer in 120 s → deny</a:t>
            </a:r>
          </a:p>
        </p:txBody>
      </p:sp>
      <p:sp>
        <p:nvSpPr>
          <p:cNvPr id="23" name="note Human approval"/>
          <p:cNvSpPr txBox="1"/>
          <p:nvPr/>
        </p:nvSpPr>
        <p:spPr>
          <a:xfrm>
            <a:off x="4732020" y="5669280"/>
            <a:ext cx="2724911" cy="320040"/>
          </a:xfrm>
          <a:prstGeom prst="rect">
            <a:avLst/>
          </a:prstGeom>
          <a:noFill/>
        </p:spPr>
        <p:txBody>
          <a:bodyPr wrap="square" anchor="t" lIns="0" rIns="0" tIns="0" bIns="0">
            <a:noAutofit/>
          </a:bodyPr>
          <a:lstStyle/>
          <a:p>
            <a:pPr algn="ctr"/>
            <a:r>
              <a:rPr sz="1300" b="0" i="1">
                <a:solidFill>
                  <a:srgbClr val="5B6472"/>
                </a:solidFill>
                <a:latin typeface="Arial"/>
              </a:rPr>
              <a:t>Fail-safe by design</a:t>
            </a:r>
          </a:p>
        </p:txBody>
      </p:sp>
      <p:sp>
        <p:nvSpPr>
          <p:cNvPr id="24" name="card Audit log"/>
          <p:cNvSpPr/>
          <p:nvPr/>
        </p:nvSpPr>
        <p:spPr>
          <a:xfrm>
            <a:off x="8183879" y="1600200"/>
            <a:ext cx="3456432" cy="4526280"/>
          </a:xfrm>
          <a:prstGeom prst="roundRect">
            <a:avLst>
              <a:gd name="adj" fmla="val 4761"/>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icon Audit log"/>
          <p:cNvSpPr/>
          <p:nvPr/>
        </p:nvSpPr>
        <p:spPr>
          <a:xfrm>
            <a:off x="8549640" y="1965960"/>
            <a:ext cx="713232" cy="713232"/>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400" b="1" i="0">
                <a:solidFill>
                  <a:srgbClr val="FFFFFF"/>
                </a:solidFill>
                <a:latin typeface="Arial"/>
              </a:rPr>
              <a:t>#</a:t>
            </a:r>
          </a:p>
        </p:txBody>
      </p:sp>
      <p:sp>
        <p:nvSpPr>
          <p:cNvPr id="26" name="head Audit log"/>
          <p:cNvSpPr txBox="1"/>
          <p:nvPr/>
        </p:nvSpPr>
        <p:spPr>
          <a:xfrm>
            <a:off x="8549640" y="2834640"/>
            <a:ext cx="2724911" cy="457200"/>
          </a:xfrm>
          <a:prstGeom prst="rect">
            <a:avLst/>
          </a:prstGeom>
          <a:noFill/>
        </p:spPr>
        <p:txBody>
          <a:bodyPr wrap="square" anchor="t" lIns="0" rIns="0" tIns="0" bIns="0">
            <a:noAutofit/>
          </a:bodyPr>
          <a:lstStyle/>
          <a:p>
            <a:pPr algn="l"/>
            <a:r>
              <a:rPr sz="2400" b="1" i="0">
                <a:solidFill>
                  <a:srgbClr val="0B1F3A"/>
                </a:solidFill>
                <a:latin typeface="Arial"/>
              </a:rPr>
              <a:t>Audit log</a:t>
            </a:r>
          </a:p>
        </p:txBody>
      </p:sp>
      <p:sp>
        <p:nvSpPr>
          <p:cNvPr id="27" name="dot"/>
          <p:cNvSpPr/>
          <p:nvPr/>
        </p:nvSpPr>
        <p:spPr>
          <a:xfrm>
            <a:off x="8567928" y="3529584"/>
            <a:ext cx="109728" cy="10972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Audit log line 0"/>
          <p:cNvSpPr txBox="1"/>
          <p:nvPr/>
        </p:nvSpPr>
        <p:spPr>
          <a:xfrm>
            <a:off x="8805672" y="3410712"/>
            <a:ext cx="2468879" cy="822960"/>
          </a:xfrm>
          <a:prstGeom prst="rect">
            <a:avLst/>
          </a:prstGeom>
          <a:noFill/>
        </p:spPr>
        <p:txBody>
          <a:bodyPr wrap="square" anchor="t" lIns="0" rIns="0" tIns="0" bIns="0">
            <a:noAutofit/>
          </a:bodyPr>
          <a:lstStyle/>
          <a:p>
            <a:pPr algn="l"/>
            <a:r>
              <a:rPr sz="1800" b="0" i="0">
                <a:solidFill>
                  <a:srgbClr val="1F2937"/>
                </a:solidFill>
                <a:latin typeface="Arial"/>
              </a:rPr>
              <a:t>Hash chain (HMAC-SHA-256); IDs masked</a:t>
            </a:r>
          </a:p>
        </p:txBody>
      </p:sp>
      <p:sp>
        <p:nvSpPr>
          <p:cNvPr id="29" name="dot"/>
          <p:cNvSpPr/>
          <p:nvPr/>
        </p:nvSpPr>
        <p:spPr>
          <a:xfrm>
            <a:off x="8567928" y="4425696"/>
            <a:ext cx="109728" cy="10972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Audit log line 1"/>
          <p:cNvSpPr txBox="1"/>
          <p:nvPr/>
        </p:nvSpPr>
        <p:spPr>
          <a:xfrm>
            <a:off x="8805672" y="4306824"/>
            <a:ext cx="2468879" cy="822960"/>
          </a:xfrm>
          <a:prstGeom prst="rect">
            <a:avLst/>
          </a:prstGeom>
          <a:noFill/>
        </p:spPr>
        <p:txBody>
          <a:bodyPr wrap="square" anchor="t" lIns="0" rIns="0" tIns="0" bIns="0">
            <a:noAutofit/>
          </a:bodyPr>
          <a:lstStyle/>
          <a:p>
            <a:pPr algn="l"/>
            <a:r>
              <a:rPr sz="1800" b="0" i="0">
                <a:solidFill>
                  <a:srgbClr val="1F2937"/>
                </a:solidFill>
                <a:latin typeface="Arial"/>
              </a:rPr>
              <a:t>Verify the chain, replay any decision</a:t>
            </a:r>
          </a:p>
        </p:txBody>
      </p:sp>
      <p:sp>
        <p:nvSpPr>
          <p:cNvPr id="31" name="fact Audit log"/>
          <p:cNvSpPr/>
          <p:nvPr/>
        </p:nvSpPr>
        <p:spPr>
          <a:xfrm>
            <a:off x="8503919" y="5120640"/>
            <a:ext cx="2816352" cy="457200"/>
          </a:xfrm>
          <a:prstGeom prst="roundRect">
            <a:avLst>
              <a:gd name="adj" fmla="val 24000"/>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fact text Audit log"/>
          <p:cNvSpPr txBox="1"/>
          <p:nvPr/>
        </p:nvSpPr>
        <p:spPr>
          <a:xfrm>
            <a:off x="8503919" y="5120640"/>
            <a:ext cx="2816352" cy="457200"/>
          </a:xfrm>
          <a:prstGeom prst="rect">
            <a:avLst/>
          </a:prstGeom>
          <a:noFill/>
        </p:spPr>
        <p:txBody>
          <a:bodyPr wrap="square" anchor="ctr" lIns="0" rIns="0" tIns="0" bIns="0">
            <a:noAutofit/>
          </a:bodyPr>
          <a:lstStyle/>
          <a:p>
            <a:pPr algn="ctr"/>
            <a:r>
              <a:rPr sz="1500" b="1" i="0">
                <a:solidFill>
                  <a:srgbClr val="0F766E"/>
                </a:solidFill>
                <a:latin typeface="Arial"/>
              </a:rPr>
              <a:t>Edit, delete, reorder → detected</a:t>
            </a:r>
          </a:p>
        </p:txBody>
      </p:sp>
      <p:sp>
        <p:nvSpPr>
          <p:cNvPr id="33" name="note Audit log"/>
          <p:cNvSpPr txBox="1"/>
          <p:nvPr/>
        </p:nvSpPr>
        <p:spPr>
          <a:xfrm>
            <a:off x="8549640" y="5669280"/>
            <a:ext cx="2724911" cy="320040"/>
          </a:xfrm>
          <a:prstGeom prst="rect">
            <a:avLst/>
          </a:prstGeom>
          <a:noFill/>
        </p:spPr>
        <p:txBody>
          <a:bodyPr wrap="square" anchor="t" lIns="0" rIns="0" tIns="0" bIns="0">
            <a:noAutofit/>
          </a:bodyPr>
          <a:lstStyle/>
          <a:p>
            <a:pPr algn="ctr"/>
            <a:r>
              <a:rPr sz="1300" b="0" i="1">
                <a:solidFill>
                  <a:srgbClr val="5B6472"/>
                </a:solidFill>
                <a:latin typeface="Arial"/>
              </a:rPr>
              <a:t>Evidence for auditors</a:t>
            </a:r>
          </a:p>
        </p:txBody>
      </p:sp>
      <p:pic>
        <p:nvPicPr>
          <p:cNvPr id="34" name="Picture 33" descr="Mirsad logo"/>
          <p:cNvPicPr>
            <a:picLocks noChangeAspect="1"/>
          </p:cNvPicPr>
          <p:nvPr/>
        </p:nvPicPr>
        <p:blipFill>
          <a:blip r:embed="rId2"/>
          <a:stretch>
            <a:fillRect/>
          </a:stretch>
        </p:blipFill>
        <p:spPr>
          <a:xfrm>
            <a:off x="548640" y="6419088"/>
            <a:ext cx="219456" cy="219456"/>
          </a:xfrm>
          <a:prstGeom prst="rect">
            <a:avLst/>
          </a:prstGeom>
        </p:spPr>
      </p:pic>
      <p:sp>
        <p:nvSpPr>
          <p:cNvPr id="35" name="footer"/>
          <p:cNvSpPr txBox="1"/>
          <p:nvPr/>
        </p:nvSpPr>
        <p:spPr>
          <a:xfrm>
            <a:off x="859536" y="6437376"/>
            <a:ext cx="6400800" cy="219456"/>
          </a:xfrm>
          <a:prstGeom prst="rect">
            <a:avLst/>
          </a:prstGeom>
          <a:noFill/>
        </p:spPr>
        <p:txBody>
          <a:bodyPr wrap="square" anchor="t" lIns="0" rIns="0" tIns="0" bIns="0">
            <a:noAutofit/>
          </a:bodyPr>
          <a:lstStyle/>
          <a:p>
            <a:pPr algn="l"/>
            <a:r>
              <a:rPr sz="1000" b="0" i="0">
                <a:solidFill>
                  <a:srgbClr val="5B6472"/>
                </a:solidFill>
                <a:latin typeface="Arial"/>
              </a:rPr>
              <a:t>Mirsad </a:t>
            </a:r>
            <a:r>
              <a:rPr sz="1000" b="0" i="0" lang="ar-SA">
                <a:solidFill>
                  <a:srgbClr val="5B6472"/>
                </a:solidFill>
                <a:latin typeface="Arial"/>
                <a:cs typeface="Arial"/>
              </a:rPr>
              <a:t>مرصاد</a:t>
            </a:r>
            <a:r>
              <a:rPr sz="1000" b="0" i="0">
                <a:solidFill>
                  <a:srgbClr val="5B6472"/>
                </a:solidFill>
                <a:latin typeface="Arial"/>
              </a:rPr>
              <a:t>  ·  IS499 Senior Project  ·  Prince Sultan University</a:t>
            </a:r>
          </a:p>
        </p:txBody>
      </p:sp>
      <p:sp>
        <p:nvSpPr>
          <p:cNvPr id="36" name="slide number"/>
          <p:cNvSpPr txBox="1"/>
          <p:nvPr/>
        </p:nvSpPr>
        <p:spPr>
          <a:xfrm>
            <a:off x="10545775" y="6419088"/>
            <a:ext cx="1097280" cy="237744"/>
          </a:xfrm>
          <a:prstGeom prst="rect">
            <a:avLst/>
          </a:prstGeom>
          <a:noFill/>
        </p:spPr>
        <p:txBody>
          <a:bodyPr wrap="square" anchor="t" lIns="0" rIns="0" tIns="0" bIns="0">
            <a:noAutofit/>
          </a:bodyPr>
          <a:lstStyle/>
          <a:p>
            <a:pPr algn="r"/>
            <a:r>
              <a:rPr sz="1100" b="0" i="0">
                <a:solidFill>
                  <a:srgbClr val="5B6472"/>
                </a:solidFill>
                <a:latin typeface="Arial"/>
              </a:rP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11094415" cy="731520"/>
          </a:xfrm>
        </p:spPr>
        <p:txBody>
          <a:bodyPr wrap="square" anchor="t" lIns="0" rIns="0" tIns="0" bIns="0">
            <a:noAutofit/>
          </a:bodyPr>
          <a:lstStyle/>
          <a:p>
            <a:pPr algn="l"/>
            <a:r>
              <a:rPr sz="3000" b="1" i="0">
                <a:solidFill>
                  <a:srgbClr val="0B1F3A"/>
                </a:solidFill>
                <a:latin typeface="Arial"/>
              </a:rPr>
              <a:t>Bilingual dashboard and installable approver app</a:t>
            </a:r>
          </a:p>
        </p:txBody>
      </p:sp>
      <p:sp>
        <p:nvSpPr>
          <p:cNvPr id="3" name="kicker"/>
          <p:cNvSpPr txBox="1"/>
          <p:nvPr/>
        </p:nvSpPr>
        <p:spPr>
          <a:xfrm>
            <a:off x="548640" y="274320"/>
            <a:ext cx="7315200" cy="274320"/>
          </a:xfrm>
          <a:prstGeom prst="rect">
            <a:avLst/>
          </a:prstGeom>
          <a:noFill/>
        </p:spPr>
        <p:txBody>
          <a:bodyPr wrap="square" anchor="t" lIns="0" rIns="0" tIns="0" bIns="0">
            <a:noAutofit/>
          </a:bodyPr>
          <a:lstStyle/>
          <a:p>
            <a:pPr algn="l"/>
            <a:r>
              <a:rPr sz="1200" b="1" i="0" spc="150">
                <a:solidFill>
                  <a:srgbClr val="0F766E"/>
                </a:solidFill>
                <a:latin typeface="Arial"/>
              </a:rPr>
              <a:t>IMPLEMENTATION · USER INTERFACES</a:t>
            </a:r>
          </a:p>
        </p:txBody>
      </p:sp>
      <p:pic>
        <p:nvPicPr>
          <p:cNvPr id="4" name="Picture 3" descr="Admin dashboard overview in English"/>
          <p:cNvPicPr>
            <a:picLocks noChangeAspect="1"/>
          </p:cNvPicPr>
          <p:nvPr/>
        </p:nvPicPr>
        <p:blipFill>
          <a:blip r:embed="rId2"/>
          <a:stretch>
            <a:fillRect/>
          </a:stretch>
        </p:blipFill>
        <p:spPr>
          <a:xfrm>
            <a:off x="548640" y="1481328"/>
            <a:ext cx="3703320" cy="2314575"/>
          </a:xfrm>
          <a:prstGeom prst="rect">
            <a:avLst/>
          </a:prstGeom>
        </p:spPr>
      </p:pic>
      <p:pic>
        <p:nvPicPr>
          <p:cNvPr id="5" name="Picture 4" descr="Activity and audit log page in Arabic, right-to-left"/>
          <p:cNvPicPr>
            <a:picLocks noChangeAspect="1"/>
          </p:cNvPicPr>
          <p:nvPr/>
        </p:nvPicPr>
        <p:blipFill>
          <a:blip r:embed="rId3"/>
          <a:stretch>
            <a:fillRect/>
          </a:stretch>
        </p:blipFill>
        <p:spPr>
          <a:xfrm>
            <a:off x="548640" y="3960495"/>
            <a:ext cx="3703320" cy="2314575"/>
          </a:xfrm>
          <a:prstGeom prst="rect">
            <a:avLst/>
          </a:prstGeom>
        </p:spPr>
      </p:pic>
      <p:pic>
        <p:nvPicPr>
          <p:cNvPr id="6" name="Picture 5" descr="Approver app: request detail with summary and Approve/Deny"/>
          <p:cNvPicPr>
            <a:picLocks noChangeAspect="1"/>
          </p:cNvPicPr>
          <p:nvPr/>
        </p:nvPicPr>
        <p:blipFill>
          <a:blip r:embed="rId4"/>
          <a:stretch>
            <a:fillRect/>
          </a:stretch>
        </p:blipFill>
        <p:spPr>
          <a:xfrm>
            <a:off x="4617720" y="1481328"/>
            <a:ext cx="1994670" cy="4315968"/>
          </a:xfrm>
          <a:prstGeom prst="rect">
            <a:avLst/>
          </a:prstGeom>
        </p:spPr>
      </p:pic>
      <p:pic>
        <p:nvPicPr>
          <p:cNvPr id="7" name="Picture 6" descr="Approver app: pending requests in Arabic"/>
          <p:cNvPicPr>
            <a:picLocks noChangeAspect="1"/>
          </p:cNvPicPr>
          <p:nvPr/>
        </p:nvPicPr>
        <p:blipFill>
          <a:blip r:embed="rId5"/>
          <a:stretch>
            <a:fillRect/>
          </a:stretch>
        </p:blipFill>
        <p:spPr>
          <a:xfrm>
            <a:off x="6840665" y="1481328"/>
            <a:ext cx="1994670" cy="4315968"/>
          </a:xfrm>
          <a:prstGeom prst="rect">
            <a:avLst/>
          </a:prstGeom>
        </p:spPr>
      </p:pic>
      <p:sp>
        <p:nvSpPr>
          <p:cNvPr id="8" name="phone caption"/>
          <p:cNvSpPr txBox="1"/>
          <p:nvPr/>
        </p:nvSpPr>
        <p:spPr>
          <a:xfrm>
            <a:off x="4617720" y="5870448"/>
            <a:ext cx="4217290" cy="274320"/>
          </a:xfrm>
          <a:prstGeom prst="rect">
            <a:avLst/>
          </a:prstGeom>
          <a:noFill/>
        </p:spPr>
        <p:txBody>
          <a:bodyPr wrap="square" anchor="t" lIns="0" rIns="0" tIns="0" bIns="0">
            <a:noAutofit/>
          </a:bodyPr>
          <a:lstStyle/>
          <a:p>
            <a:pPr algn="ctr"/>
            <a:r>
              <a:rPr sz="1200" b="0" i="0">
                <a:solidFill>
                  <a:srgbClr val="5B6472"/>
                </a:solidFill>
                <a:latin typeface="Arial"/>
              </a:rPr>
              <a:t>Approver app: request detail (EN) · queue (AR)</a:t>
            </a:r>
          </a:p>
        </p:txBody>
      </p:sp>
      <p:sp>
        <p:nvSpPr>
          <p:cNvPr id="9" name="ui head 0"/>
          <p:cNvSpPr txBox="1"/>
          <p:nvPr/>
        </p:nvSpPr>
        <p:spPr>
          <a:xfrm>
            <a:off x="9200770" y="1554480"/>
            <a:ext cx="2442284" cy="365760"/>
          </a:xfrm>
          <a:prstGeom prst="rect">
            <a:avLst/>
          </a:prstGeom>
          <a:noFill/>
        </p:spPr>
        <p:txBody>
          <a:bodyPr wrap="square" anchor="t" lIns="0" rIns="0" tIns="0" bIns="0">
            <a:noAutofit/>
          </a:bodyPr>
          <a:lstStyle/>
          <a:p>
            <a:pPr algn="l"/>
            <a:r>
              <a:rPr sz="1800" b="1" i="0">
                <a:solidFill>
                  <a:srgbClr val="0B1F3A"/>
                </a:solidFill>
                <a:latin typeface="Arial"/>
              </a:rPr>
              <a:t>Admin dashboard</a:t>
            </a:r>
          </a:p>
        </p:txBody>
      </p:sp>
      <p:sp>
        <p:nvSpPr>
          <p:cNvPr id="10" name="ui body 0"/>
          <p:cNvSpPr txBox="1"/>
          <p:nvPr/>
        </p:nvSpPr>
        <p:spPr>
          <a:xfrm>
            <a:off x="9200770" y="1938528"/>
            <a:ext cx="2442284" cy="1005840"/>
          </a:xfrm>
          <a:prstGeom prst="rect">
            <a:avLst/>
          </a:prstGeom>
          <a:noFill/>
        </p:spPr>
        <p:txBody>
          <a:bodyPr wrap="square" anchor="t" lIns="0" rIns="0" tIns="0" bIns="0">
            <a:noAutofit/>
          </a:bodyPr>
          <a:lstStyle/>
          <a:p>
            <a:pPr algn="l"/>
            <a:r>
              <a:rPr sz="1600" b="0" i="0">
                <a:solidFill>
                  <a:srgbClr val="1F2937"/>
                </a:solidFill>
                <a:latin typeface="Arial"/>
              </a:rPr>
              <a:t>Live statistics, audit log, policies, agents, detector playground</a:t>
            </a:r>
          </a:p>
        </p:txBody>
      </p:sp>
      <p:sp>
        <p:nvSpPr>
          <p:cNvPr id="11" name="ui head 1"/>
          <p:cNvSpPr txBox="1"/>
          <p:nvPr/>
        </p:nvSpPr>
        <p:spPr>
          <a:xfrm>
            <a:off x="9200770" y="3035808"/>
            <a:ext cx="2442284" cy="365760"/>
          </a:xfrm>
          <a:prstGeom prst="rect">
            <a:avLst/>
          </a:prstGeom>
          <a:noFill/>
        </p:spPr>
        <p:txBody>
          <a:bodyPr wrap="square" anchor="t" lIns="0" rIns="0" tIns="0" bIns="0">
            <a:noAutofit/>
          </a:bodyPr>
          <a:lstStyle/>
          <a:p>
            <a:pPr algn="l"/>
            <a:r>
              <a:rPr sz="1800" b="1" i="0">
                <a:solidFill>
                  <a:srgbClr val="0B1F3A"/>
                </a:solidFill>
                <a:latin typeface="Arial"/>
              </a:rPr>
              <a:t>English and Arabic</a:t>
            </a:r>
          </a:p>
        </p:txBody>
      </p:sp>
      <p:sp>
        <p:nvSpPr>
          <p:cNvPr id="12" name="ui body 1"/>
          <p:cNvSpPr txBox="1"/>
          <p:nvPr/>
        </p:nvSpPr>
        <p:spPr>
          <a:xfrm>
            <a:off x="9200770" y="3419856"/>
            <a:ext cx="2442284" cy="1005840"/>
          </a:xfrm>
          <a:prstGeom prst="rect">
            <a:avLst/>
          </a:prstGeom>
          <a:noFill/>
        </p:spPr>
        <p:txBody>
          <a:bodyPr wrap="square" anchor="t" lIns="0" rIns="0" tIns="0" bIns="0">
            <a:noAutofit/>
          </a:bodyPr>
          <a:lstStyle/>
          <a:p>
            <a:pPr algn="l"/>
            <a:r>
              <a:rPr sz="1600" b="0" i="0">
                <a:solidFill>
                  <a:srgbClr val="1F2937"/>
                </a:solidFill>
                <a:latin typeface="Arial"/>
              </a:rPr>
              <a:t>Full right-to-left layout with one toggle</a:t>
            </a:r>
          </a:p>
        </p:txBody>
      </p:sp>
      <p:sp>
        <p:nvSpPr>
          <p:cNvPr id="13" name="ui head 2"/>
          <p:cNvSpPr txBox="1"/>
          <p:nvPr/>
        </p:nvSpPr>
        <p:spPr>
          <a:xfrm>
            <a:off x="9200770" y="4517136"/>
            <a:ext cx="2442284" cy="365760"/>
          </a:xfrm>
          <a:prstGeom prst="rect">
            <a:avLst/>
          </a:prstGeom>
          <a:noFill/>
        </p:spPr>
        <p:txBody>
          <a:bodyPr wrap="square" anchor="t" lIns="0" rIns="0" tIns="0" bIns="0">
            <a:noAutofit/>
          </a:bodyPr>
          <a:lstStyle/>
          <a:p>
            <a:pPr algn="l"/>
            <a:r>
              <a:rPr sz="1800" b="1" i="0">
                <a:solidFill>
                  <a:srgbClr val="0B1F3A"/>
                </a:solidFill>
                <a:latin typeface="Arial"/>
              </a:rPr>
              <a:t>Approver app (PWA)</a:t>
            </a:r>
          </a:p>
        </p:txBody>
      </p:sp>
      <p:sp>
        <p:nvSpPr>
          <p:cNvPr id="14" name="ui body 2"/>
          <p:cNvSpPr txBox="1"/>
          <p:nvPr/>
        </p:nvSpPr>
        <p:spPr>
          <a:xfrm>
            <a:off x="9200770" y="4901184"/>
            <a:ext cx="2442284" cy="1005840"/>
          </a:xfrm>
          <a:prstGeom prst="rect">
            <a:avLst/>
          </a:prstGeom>
          <a:noFill/>
        </p:spPr>
        <p:txBody>
          <a:bodyPr wrap="square" anchor="t" lIns="0" rIns="0" tIns="0" bIns="0">
            <a:noAutofit/>
          </a:bodyPr>
          <a:lstStyle/>
          <a:p>
            <a:pPr algn="l"/>
            <a:r>
              <a:rPr sz="1600" b="0" i="0">
                <a:solidFill>
                  <a:srgbClr val="1F2937"/>
                </a:solidFill>
                <a:latin typeface="Arial"/>
              </a:rPr>
              <a:t>Installs on Android and iOS; push alerts; one-tap decision</a:t>
            </a:r>
          </a:p>
        </p:txBody>
      </p:sp>
      <p:pic>
        <p:nvPicPr>
          <p:cNvPr id="15" name="Picture 14" descr="Mirsad logo"/>
          <p:cNvPicPr>
            <a:picLocks noChangeAspect="1"/>
          </p:cNvPicPr>
          <p:nvPr/>
        </p:nvPicPr>
        <p:blipFill>
          <a:blip r:embed="rId6"/>
          <a:stretch>
            <a:fillRect/>
          </a:stretch>
        </p:blipFill>
        <p:spPr>
          <a:xfrm>
            <a:off x="548640" y="6419088"/>
            <a:ext cx="219456" cy="219456"/>
          </a:xfrm>
          <a:prstGeom prst="rect">
            <a:avLst/>
          </a:prstGeom>
        </p:spPr>
      </p:pic>
      <p:sp>
        <p:nvSpPr>
          <p:cNvPr id="16" name="footer"/>
          <p:cNvSpPr txBox="1"/>
          <p:nvPr/>
        </p:nvSpPr>
        <p:spPr>
          <a:xfrm>
            <a:off x="859536" y="6437376"/>
            <a:ext cx="6400800" cy="219456"/>
          </a:xfrm>
          <a:prstGeom prst="rect">
            <a:avLst/>
          </a:prstGeom>
          <a:noFill/>
        </p:spPr>
        <p:txBody>
          <a:bodyPr wrap="square" anchor="t" lIns="0" rIns="0" tIns="0" bIns="0">
            <a:noAutofit/>
          </a:bodyPr>
          <a:lstStyle/>
          <a:p>
            <a:pPr algn="l"/>
            <a:r>
              <a:rPr sz="1000" b="0" i="0">
                <a:solidFill>
                  <a:srgbClr val="5B6472"/>
                </a:solidFill>
                <a:latin typeface="Arial"/>
              </a:rPr>
              <a:t>Mirsad </a:t>
            </a:r>
            <a:r>
              <a:rPr sz="1000" b="0" i="0" lang="ar-SA">
                <a:solidFill>
                  <a:srgbClr val="5B6472"/>
                </a:solidFill>
                <a:latin typeface="Arial"/>
                <a:cs typeface="Arial"/>
              </a:rPr>
              <a:t>مرصاد</a:t>
            </a:r>
            <a:r>
              <a:rPr sz="1000" b="0" i="0">
                <a:solidFill>
                  <a:srgbClr val="5B6472"/>
                </a:solidFill>
                <a:latin typeface="Arial"/>
              </a:rPr>
              <a:t>  ·  IS499 Senior Project  ·  Prince Sultan University</a:t>
            </a:r>
          </a:p>
        </p:txBody>
      </p:sp>
      <p:sp>
        <p:nvSpPr>
          <p:cNvPr id="17" name="slide number"/>
          <p:cNvSpPr txBox="1"/>
          <p:nvPr/>
        </p:nvSpPr>
        <p:spPr>
          <a:xfrm>
            <a:off x="10545775" y="6419088"/>
            <a:ext cx="1097280" cy="237744"/>
          </a:xfrm>
          <a:prstGeom prst="rect">
            <a:avLst/>
          </a:prstGeom>
          <a:noFill/>
        </p:spPr>
        <p:txBody>
          <a:bodyPr wrap="square" anchor="t" lIns="0" rIns="0" tIns="0" bIns="0">
            <a:noAutofit/>
          </a:bodyPr>
          <a:lstStyle/>
          <a:p>
            <a:pPr algn="r"/>
            <a:r>
              <a:rPr sz="1100" b="0" i="0">
                <a:solidFill>
                  <a:srgbClr val="5B6472"/>
                </a:solidFill>
                <a:latin typeface="Arial"/>
              </a:rP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11094415" cy="731520"/>
          </a:xfrm>
        </p:spPr>
        <p:txBody>
          <a:bodyPr wrap="square" anchor="t" lIns="0" rIns="0" tIns="0" bIns="0">
            <a:noAutofit/>
          </a:bodyPr>
          <a:lstStyle/>
          <a:p>
            <a:pPr algn="l"/>
            <a:r>
              <a:rPr sz="3000" b="1" i="0">
                <a:solidFill>
                  <a:srgbClr val="0B1F3A"/>
                </a:solidFill>
                <a:latin typeface="Arial"/>
              </a:rPr>
              <a:t>Scrum, DevSecOps and an engineering contract</a:t>
            </a:r>
          </a:p>
        </p:txBody>
      </p:sp>
      <p:sp>
        <p:nvSpPr>
          <p:cNvPr id="3" name="kicker"/>
          <p:cNvSpPr txBox="1"/>
          <p:nvPr/>
        </p:nvSpPr>
        <p:spPr>
          <a:xfrm>
            <a:off x="548640" y="274320"/>
            <a:ext cx="7315200" cy="274320"/>
          </a:xfrm>
          <a:prstGeom prst="rect">
            <a:avLst/>
          </a:prstGeom>
          <a:noFill/>
        </p:spPr>
        <p:txBody>
          <a:bodyPr wrap="square" anchor="t" lIns="0" rIns="0" tIns="0" bIns="0">
            <a:noAutofit/>
          </a:bodyPr>
          <a:lstStyle/>
          <a:p>
            <a:pPr algn="l"/>
            <a:r>
              <a:rPr sz="1200" b="1" i="0" spc="150">
                <a:solidFill>
                  <a:srgbClr val="0F766E"/>
                </a:solidFill>
                <a:latin typeface="Arial"/>
              </a:rPr>
              <a:t>PROCESS · METHODOLOGY AND MANAGEMENT</a:t>
            </a:r>
          </a:p>
        </p:txBody>
      </p:sp>
      <p:sp>
        <p:nvSpPr>
          <p:cNvPr id="4" name="badge"/>
          <p:cNvSpPr/>
          <p:nvPr/>
        </p:nvSpPr>
        <p:spPr>
          <a:xfrm>
            <a:off x="548640" y="1600200"/>
            <a:ext cx="566928" cy="566928"/>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i="0">
                <a:solidFill>
                  <a:srgbClr val="FFFFFF"/>
                </a:solidFill>
                <a:latin typeface="Arial"/>
              </a:rPr>
              <a:t>S</a:t>
            </a:r>
          </a:p>
        </p:txBody>
      </p:sp>
      <p:sp>
        <p:nvSpPr>
          <p:cNvPr id="5" name="practice 0"/>
          <p:cNvSpPr txBox="1"/>
          <p:nvPr/>
        </p:nvSpPr>
        <p:spPr>
          <a:xfrm>
            <a:off x="1280160" y="1581912"/>
            <a:ext cx="2697480" cy="365760"/>
          </a:xfrm>
          <a:prstGeom prst="rect">
            <a:avLst/>
          </a:prstGeom>
          <a:noFill/>
        </p:spPr>
        <p:txBody>
          <a:bodyPr wrap="square" anchor="t" lIns="0" rIns="0" tIns="0" bIns="0">
            <a:noAutofit/>
          </a:bodyPr>
          <a:lstStyle/>
          <a:p>
            <a:pPr algn="l"/>
            <a:r>
              <a:rPr sz="1900" b="1" i="0">
                <a:solidFill>
                  <a:srgbClr val="0B1F3A"/>
                </a:solidFill>
                <a:latin typeface="Arial"/>
              </a:rPr>
              <a:t>Scrum</a:t>
            </a:r>
          </a:p>
        </p:txBody>
      </p:sp>
      <p:sp>
        <p:nvSpPr>
          <p:cNvPr id="6" name="practice body 0"/>
          <p:cNvSpPr txBox="1"/>
          <p:nvPr/>
        </p:nvSpPr>
        <p:spPr>
          <a:xfrm>
            <a:off x="1280160" y="1965960"/>
            <a:ext cx="2697480" cy="868680"/>
          </a:xfrm>
          <a:prstGeom prst="rect">
            <a:avLst/>
          </a:prstGeom>
          <a:noFill/>
        </p:spPr>
        <p:txBody>
          <a:bodyPr wrap="square" anchor="t" lIns="0" rIns="0" tIns="0" bIns="0">
            <a:noAutofit/>
          </a:bodyPr>
          <a:lstStyle/>
          <a:p>
            <a:pPr algn="l"/>
            <a:r>
              <a:rPr sz="1600" b="0" i="0">
                <a:solidFill>
                  <a:srgbClr val="1F2937"/>
                </a:solidFill>
                <a:latin typeface="Arial"/>
              </a:rPr>
              <a:t>17 two-week sprints over two semesters</a:t>
            </a:r>
          </a:p>
        </p:txBody>
      </p:sp>
      <p:sp>
        <p:nvSpPr>
          <p:cNvPr id="7" name="badge"/>
          <p:cNvSpPr/>
          <p:nvPr/>
        </p:nvSpPr>
        <p:spPr>
          <a:xfrm>
            <a:off x="548640" y="3063240"/>
            <a:ext cx="566928" cy="566928"/>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i="0">
                <a:solidFill>
                  <a:srgbClr val="FFFFFF"/>
                </a:solidFill>
                <a:latin typeface="Arial"/>
              </a:rPr>
              <a:t>C</a:t>
            </a:r>
          </a:p>
        </p:txBody>
      </p:sp>
      <p:sp>
        <p:nvSpPr>
          <p:cNvPr id="8" name="practice 1"/>
          <p:cNvSpPr txBox="1"/>
          <p:nvPr/>
        </p:nvSpPr>
        <p:spPr>
          <a:xfrm>
            <a:off x="1280160" y="3044952"/>
            <a:ext cx="2697480" cy="365760"/>
          </a:xfrm>
          <a:prstGeom prst="rect">
            <a:avLst/>
          </a:prstGeom>
          <a:noFill/>
        </p:spPr>
        <p:txBody>
          <a:bodyPr wrap="square" anchor="t" lIns="0" rIns="0" tIns="0" bIns="0">
            <a:noAutofit/>
          </a:bodyPr>
          <a:lstStyle/>
          <a:p>
            <a:pPr algn="l"/>
            <a:r>
              <a:rPr sz="1900" b="1" i="0">
                <a:solidFill>
                  <a:srgbClr val="0B1F3A"/>
                </a:solidFill>
                <a:latin typeface="Arial"/>
              </a:rPr>
              <a:t>Engineering contract</a:t>
            </a:r>
          </a:p>
        </p:txBody>
      </p:sp>
      <p:sp>
        <p:nvSpPr>
          <p:cNvPr id="9" name="practice body 1"/>
          <p:cNvSpPr txBox="1"/>
          <p:nvPr/>
        </p:nvSpPr>
        <p:spPr>
          <a:xfrm>
            <a:off x="1280160" y="3429000"/>
            <a:ext cx="2697480" cy="868680"/>
          </a:xfrm>
          <a:prstGeom prst="rect">
            <a:avLst/>
          </a:prstGeom>
          <a:noFill/>
        </p:spPr>
        <p:txBody>
          <a:bodyPr wrap="square" anchor="t" lIns="0" rIns="0" tIns="0" bIns="0">
            <a:noAutofit/>
          </a:bodyPr>
          <a:lstStyle/>
          <a:p>
            <a:pPr algn="l"/>
            <a:r>
              <a:rPr sz="1600" b="0" i="0">
                <a:solidFill>
                  <a:srgbClr val="1F2937"/>
                </a:solidFill>
                <a:latin typeface="Arial"/>
              </a:rPr>
              <a:t>Interfaces fixed first; five parallel workstreams</a:t>
            </a:r>
          </a:p>
        </p:txBody>
      </p:sp>
      <p:sp>
        <p:nvSpPr>
          <p:cNvPr id="10" name="badge"/>
          <p:cNvSpPr/>
          <p:nvPr/>
        </p:nvSpPr>
        <p:spPr>
          <a:xfrm>
            <a:off x="548640" y="4526280"/>
            <a:ext cx="566928" cy="566928"/>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600" b="1" i="0">
                <a:solidFill>
                  <a:srgbClr val="FFFFFF"/>
                </a:solidFill>
                <a:latin typeface="Arial"/>
              </a:rPr>
              <a:t>CI</a:t>
            </a:r>
          </a:p>
        </p:txBody>
      </p:sp>
      <p:sp>
        <p:nvSpPr>
          <p:cNvPr id="11" name="practice 2"/>
          <p:cNvSpPr txBox="1"/>
          <p:nvPr/>
        </p:nvSpPr>
        <p:spPr>
          <a:xfrm>
            <a:off x="1280160" y="4507992"/>
            <a:ext cx="2697480" cy="365760"/>
          </a:xfrm>
          <a:prstGeom prst="rect">
            <a:avLst/>
          </a:prstGeom>
          <a:noFill/>
        </p:spPr>
        <p:txBody>
          <a:bodyPr wrap="square" anchor="t" lIns="0" rIns="0" tIns="0" bIns="0">
            <a:noAutofit/>
          </a:bodyPr>
          <a:lstStyle/>
          <a:p>
            <a:pPr algn="l"/>
            <a:r>
              <a:rPr sz="1900" b="1" i="0">
                <a:solidFill>
                  <a:srgbClr val="0B1F3A"/>
                </a:solidFill>
                <a:latin typeface="Arial"/>
              </a:rPr>
              <a:t>DevSecOps</a:t>
            </a:r>
          </a:p>
        </p:txBody>
      </p:sp>
      <p:sp>
        <p:nvSpPr>
          <p:cNvPr id="12" name="practice body 2"/>
          <p:cNvSpPr txBox="1"/>
          <p:nvPr/>
        </p:nvSpPr>
        <p:spPr>
          <a:xfrm>
            <a:off x="1280160" y="4892040"/>
            <a:ext cx="2697480" cy="868680"/>
          </a:xfrm>
          <a:prstGeom prst="rect">
            <a:avLst/>
          </a:prstGeom>
          <a:noFill/>
        </p:spPr>
        <p:txBody>
          <a:bodyPr wrap="square" anchor="t" lIns="0" rIns="0" tIns="0" bIns="0">
            <a:noAutofit/>
          </a:bodyPr>
          <a:lstStyle/>
          <a:p>
            <a:pPr algn="l"/>
            <a:r>
              <a:rPr sz="1600" b="0" i="0">
                <a:solidFill>
                  <a:srgbClr val="1F2937"/>
                </a:solidFill>
                <a:latin typeface="Arial"/>
              </a:rPr>
              <a:t>Every pull request: review, lint, tests, Bandit, pip-audit</a:t>
            </a:r>
          </a:p>
        </p:txBody>
      </p:sp>
      <p:sp>
        <p:nvSpPr>
          <p:cNvPr id="13" name="month line"/>
          <p:cNvSpPr/>
          <p:nvPr/>
        </p:nvSpPr>
        <p:spPr>
          <a:xfrm>
            <a:off x="6537959" y="2304288"/>
            <a:ext cx="7315" cy="3520440"/>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month"/>
          <p:cNvSpPr txBox="1"/>
          <p:nvPr/>
        </p:nvSpPr>
        <p:spPr>
          <a:xfrm>
            <a:off x="6565392" y="5861304"/>
            <a:ext cx="548640" cy="274320"/>
          </a:xfrm>
          <a:prstGeom prst="rect">
            <a:avLst/>
          </a:prstGeom>
          <a:noFill/>
        </p:spPr>
        <p:txBody>
          <a:bodyPr wrap="square" anchor="t" lIns="0" rIns="0" tIns="0" bIns="0">
            <a:noAutofit/>
          </a:bodyPr>
          <a:lstStyle/>
          <a:p>
            <a:pPr algn="l"/>
            <a:r>
              <a:rPr sz="1200" b="0" i="0">
                <a:solidFill>
                  <a:srgbClr val="5B6472"/>
                </a:solidFill>
                <a:latin typeface="Arial"/>
              </a:rPr>
              <a:t>Sep</a:t>
            </a:r>
          </a:p>
        </p:txBody>
      </p:sp>
      <p:sp>
        <p:nvSpPr>
          <p:cNvPr id="15" name="month line"/>
          <p:cNvSpPr/>
          <p:nvPr/>
        </p:nvSpPr>
        <p:spPr>
          <a:xfrm>
            <a:off x="7098959" y="2304288"/>
            <a:ext cx="7315" cy="3520440"/>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month"/>
          <p:cNvSpPr txBox="1"/>
          <p:nvPr/>
        </p:nvSpPr>
        <p:spPr>
          <a:xfrm>
            <a:off x="7126391" y="5861304"/>
            <a:ext cx="548640" cy="274320"/>
          </a:xfrm>
          <a:prstGeom prst="rect">
            <a:avLst/>
          </a:prstGeom>
          <a:noFill/>
        </p:spPr>
        <p:txBody>
          <a:bodyPr wrap="square" anchor="t" lIns="0" rIns="0" tIns="0" bIns="0">
            <a:noAutofit/>
          </a:bodyPr>
          <a:lstStyle/>
          <a:p>
            <a:pPr algn="l"/>
            <a:r>
              <a:rPr sz="1200" b="0" i="0">
                <a:solidFill>
                  <a:srgbClr val="5B6472"/>
                </a:solidFill>
                <a:latin typeface="Arial"/>
              </a:rPr>
              <a:t>Oct</a:t>
            </a:r>
          </a:p>
        </p:txBody>
      </p:sp>
      <p:sp>
        <p:nvSpPr>
          <p:cNvPr id="17" name="month line"/>
          <p:cNvSpPr/>
          <p:nvPr/>
        </p:nvSpPr>
        <p:spPr>
          <a:xfrm>
            <a:off x="7678658" y="2304288"/>
            <a:ext cx="7315" cy="3520440"/>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month"/>
          <p:cNvSpPr txBox="1"/>
          <p:nvPr/>
        </p:nvSpPr>
        <p:spPr>
          <a:xfrm>
            <a:off x="7706090" y="5861304"/>
            <a:ext cx="548640" cy="274320"/>
          </a:xfrm>
          <a:prstGeom prst="rect">
            <a:avLst/>
          </a:prstGeom>
          <a:noFill/>
        </p:spPr>
        <p:txBody>
          <a:bodyPr wrap="square" anchor="t" lIns="0" rIns="0" tIns="0" bIns="0">
            <a:noAutofit/>
          </a:bodyPr>
          <a:lstStyle/>
          <a:p>
            <a:pPr algn="l"/>
            <a:r>
              <a:rPr sz="1200" b="0" i="0">
                <a:solidFill>
                  <a:srgbClr val="5B6472"/>
                </a:solidFill>
                <a:latin typeface="Arial"/>
              </a:rPr>
              <a:t>Nov</a:t>
            </a:r>
          </a:p>
        </p:txBody>
      </p:sp>
      <p:sp>
        <p:nvSpPr>
          <p:cNvPr id="19" name="month line"/>
          <p:cNvSpPr/>
          <p:nvPr/>
        </p:nvSpPr>
        <p:spPr>
          <a:xfrm>
            <a:off x="8239658" y="2304288"/>
            <a:ext cx="7315" cy="3520440"/>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month"/>
          <p:cNvSpPr txBox="1"/>
          <p:nvPr/>
        </p:nvSpPr>
        <p:spPr>
          <a:xfrm>
            <a:off x="8267090" y="5861304"/>
            <a:ext cx="548640" cy="274320"/>
          </a:xfrm>
          <a:prstGeom prst="rect">
            <a:avLst/>
          </a:prstGeom>
          <a:noFill/>
        </p:spPr>
        <p:txBody>
          <a:bodyPr wrap="square" anchor="t" lIns="0" rIns="0" tIns="0" bIns="0">
            <a:noAutofit/>
          </a:bodyPr>
          <a:lstStyle/>
          <a:p>
            <a:pPr algn="l"/>
            <a:r>
              <a:rPr sz="1200" b="0" i="0">
                <a:solidFill>
                  <a:srgbClr val="5B6472"/>
                </a:solidFill>
                <a:latin typeface="Arial"/>
              </a:rPr>
              <a:t>Dec</a:t>
            </a:r>
          </a:p>
        </p:txBody>
      </p:sp>
      <p:sp>
        <p:nvSpPr>
          <p:cNvPr id="21" name="month line"/>
          <p:cNvSpPr/>
          <p:nvPr/>
        </p:nvSpPr>
        <p:spPr>
          <a:xfrm>
            <a:off x="8819357" y="2304288"/>
            <a:ext cx="7315" cy="3520440"/>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month"/>
          <p:cNvSpPr txBox="1"/>
          <p:nvPr/>
        </p:nvSpPr>
        <p:spPr>
          <a:xfrm>
            <a:off x="8846789" y="5861304"/>
            <a:ext cx="548640" cy="274320"/>
          </a:xfrm>
          <a:prstGeom prst="rect">
            <a:avLst/>
          </a:prstGeom>
          <a:noFill/>
        </p:spPr>
        <p:txBody>
          <a:bodyPr wrap="square" anchor="t" lIns="0" rIns="0" tIns="0" bIns="0">
            <a:noAutofit/>
          </a:bodyPr>
          <a:lstStyle/>
          <a:p>
            <a:pPr algn="l"/>
            <a:r>
              <a:rPr sz="1200" b="0" i="0">
                <a:solidFill>
                  <a:srgbClr val="5B6472"/>
                </a:solidFill>
                <a:latin typeface="Arial"/>
              </a:rPr>
              <a:t>Jan</a:t>
            </a:r>
          </a:p>
        </p:txBody>
      </p:sp>
      <p:sp>
        <p:nvSpPr>
          <p:cNvPr id="23" name="month line"/>
          <p:cNvSpPr/>
          <p:nvPr/>
        </p:nvSpPr>
        <p:spPr>
          <a:xfrm>
            <a:off x="9399057" y="2304288"/>
            <a:ext cx="7315" cy="3520440"/>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month"/>
          <p:cNvSpPr txBox="1"/>
          <p:nvPr/>
        </p:nvSpPr>
        <p:spPr>
          <a:xfrm>
            <a:off x="9426489" y="5861304"/>
            <a:ext cx="548640" cy="274320"/>
          </a:xfrm>
          <a:prstGeom prst="rect">
            <a:avLst/>
          </a:prstGeom>
          <a:noFill/>
        </p:spPr>
        <p:txBody>
          <a:bodyPr wrap="square" anchor="t" lIns="0" rIns="0" tIns="0" bIns="0">
            <a:noAutofit/>
          </a:bodyPr>
          <a:lstStyle/>
          <a:p>
            <a:pPr algn="l"/>
            <a:r>
              <a:rPr sz="1200" b="0" i="0">
                <a:solidFill>
                  <a:srgbClr val="5B6472"/>
                </a:solidFill>
                <a:latin typeface="Arial"/>
              </a:rPr>
              <a:t>Feb</a:t>
            </a:r>
          </a:p>
        </p:txBody>
      </p:sp>
      <p:sp>
        <p:nvSpPr>
          <p:cNvPr id="25" name="month line"/>
          <p:cNvSpPr/>
          <p:nvPr/>
        </p:nvSpPr>
        <p:spPr>
          <a:xfrm>
            <a:off x="9922656" y="2304288"/>
            <a:ext cx="7315" cy="3520440"/>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month"/>
          <p:cNvSpPr txBox="1"/>
          <p:nvPr/>
        </p:nvSpPr>
        <p:spPr>
          <a:xfrm>
            <a:off x="9950088" y="5861304"/>
            <a:ext cx="548640" cy="274320"/>
          </a:xfrm>
          <a:prstGeom prst="rect">
            <a:avLst/>
          </a:prstGeom>
          <a:noFill/>
        </p:spPr>
        <p:txBody>
          <a:bodyPr wrap="square" anchor="t" lIns="0" rIns="0" tIns="0" bIns="0">
            <a:noAutofit/>
          </a:bodyPr>
          <a:lstStyle/>
          <a:p>
            <a:pPr algn="l"/>
            <a:r>
              <a:rPr sz="1200" b="0" i="0">
                <a:solidFill>
                  <a:srgbClr val="5B6472"/>
                </a:solidFill>
                <a:latin typeface="Arial"/>
              </a:rPr>
              <a:t>Mar</a:t>
            </a:r>
          </a:p>
        </p:txBody>
      </p:sp>
      <p:sp>
        <p:nvSpPr>
          <p:cNvPr id="27" name="month line"/>
          <p:cNvSpPr/>
          <p:nvPr/>
        </p:nvSpPr>
        <p:spPr>
          <a:xfrm>
            <a:off x="10502356" y="2304288"/>
            <a:ext cx="7315" cy="3520440"/>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month"/>
          <p:cNvSpPr txBox="1"/>
          <p:nvPr/>
        </p:nvSpPr>
        <p:spPr>
          <a:xfrm>
            <a:off x="10529788" y="5861304"/>
            <a:ext cx="548640" cy="274320"/>
          </a:xfrm>
          <a:prstGeom prst="rect">
            <a:avLst/>
          </a:prstGeom>
          <a:noFill/>
        </p:spPr>
        <p:txBody>
          <a:bodyPr wrap="square" anchor="t" lIns="0" rIns="0" tIns="0" bIns="0">
            <a:noAutofit/>
          </a:bodyPr>
          <a:lstStyle/>
          <a:p>
            <a:pPr algn="l"/>
            <a:r>
              <a:rPr sz="1200" b="0" i="0">
                <a:solidFill>
                  <a:srgbClr val="5B6472"/>
                </a:solidFill>
                <a:latin typeface="Arial"/>
              </a:rPr>
              <a:t>Apr</a:t>
            </a:r>
          </a:p>
        </p:txBody>
      </p:sp>
      <p:sp>
        <p:nvSpPr>
          <p:cNvPr id="29" name="month line"/>
          <p:cNvSpPr/>
          <p:nvPr/>
        </p:nvSpPr>
        <p:spPr>
          <a:xfrm>
            <a:off x="11063355" y="2304288"/>
            <a:ext cx="7315" cy="3520440"/>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month"/>
          <p:cNvSpPr txBox="1"/>
          <p:nvPr/>
        </p:nvSpPr>
        <p:spPr>
          <a:xfrm>
            <a:off x="11090787" y="5861304"/>
            <a:ext cx="548640" cy="274320"/>
          </a:xfrm>
          <a:prstGeom prst="rect">
            <a:avLst/>
          </a:prstGeom>
          <a:noFill/>
        </p:spPr>
        <p:txBody>
          <a:bodyPr wrap="square" anchor="t" lIns="0" rIns="0" tIns="0" bIns="0">
            <a:noAutofit/>
          </a:bodyPr>
          <a:lstStyle/>
          <a:p>
            <a:pPr algn="l"/>
            <a:r>
              <a:rPr sz="1200" b="0" i="0">
                <a:solidFill>
                  <a:srgbClr val="5B6472"/>
                </a:solidFill>
                <a:latin typeface="Arial"/>
              </a:rPr>
              <a:t>May</a:t>
            </a:r>
          </a:p>
        </p:txBody>
      </p:sp>
      <p:sp>
        <p:nvSpPr>
          <p:cNvPr id="31" name="month line"/>
          <p:cNvSpPr/>
          <p:nvPr/>
        </p:nvSpPr>
        <p:spPr>
          <a:xfrm>
            <a:off x="11643055" y="2304288"/>
            <a:ext cx="7315" cy="3520440"/>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sem1"/>
          <p:cNvSpPr txBox="1"/>
          <p:nvPr/>
        </p:nvSpPr>
        <p:spPr>
          <a:xfrm>
            <a:off x="6537959" y="1938528"/>
            <a:ext cx="2281397" cy="256032"/>
          </a:xfrm>
          <a:prstGeom prst="rect">
            <a:avLst/>
          </a:prstGeom>
          <a:noFill/>
        </p:spPr>
        <p:txBody>
          <a:bodyPr wrap="square" anchor="t" lIns="0" rIns="0" tIns="0" bIns="0">
            <a:noAutofit/>
          </a:bodyPr>
          <a:lstStyle/>
          <a:p>
            <a:pPr algn="ctr"/>
            <a:r>
              <a:rPr sz="1200" b="0" i="0">
                <a:solidFill>
                  <a:srgbClr val="5B6472"/>
                </a:solidFill>
                <a:latin typeface="Arial"/>
              </a:rPr>
              <a:t>Senior Project I · Fall 2026</a:t>
            </a:r>
          </a:p>
        </p:txBody>
      </p:sp>
      <p:sp>
        <p:nvSpPr>
          <p:cNvPr id="33" name="sem2"/>
          <p:cNvSpPr txBox="1"/>
          <p:nvPr/>
        </p:nvSpPr>
        <p:spPr>
          <a:xfrm>
            <a:off x="8819357" y="1938528"/>
            <a:ext cx="2823697" cy="256032"/>
          </a:xfrm>
          <a:prstGeom prst="rect">
            <a:avLst/>
          </a:prstGeom>
          <a:noFill/>
        </p:spPr>
        <p:txBody>
          <a:bodyPr wrap="square" anchor="t" lIns="0" rIns="0" tIns="0" bIns="0">
            <a:noAutofit/>
          </a:bodyPr>
          <a:lstStyle/>
          <a:p>
            <a:pPr algn="ctr"/>
            <a:r>
              <a:rPr sz="1200" b="0" i="0">
                <a:solidFill>
                  <a:srgbClr val="5B6472"/>
                </a:solidFill>
                <a:latin typeface="Arial"/>
              </a:rPr>
              <a:t>Senior Project II · Spring 2027</a:t>
            </a:r>
          </a:p>
        </p:txBody>
      </p:sp>
      <p:sp>
        <p:nvSpPr>
          <p:cNvPr id="34" name="phase 0"/>
          <p:cNvSpPr txBox="1"/>
          <p:nvPr/>
        </p:nvSpPr>
        <p:spPr>
          <a:xfrm>
            <a:off x="4297679" y="2350008"/>
            <a:ext cx="2130552" cy="496388"/>
          </a:xfrm>
          <a:prstGeom prst="rect">
            <a:avLst/>
          </a:prstGeom>
          <a:noFill/>
        </p:spPr>
        <p:txBody>
          <a:bodyPr wrap="square" anchor="ctr" lIns="0" rIns="0" tIns="0" bIns="0">
            <a:noAutofit/>
          </a:bodyPr>
          <a:lstStyle/>
          <a:p>
            <a:pPr algn="l"/>
            <a:r>
              <a:rPr sz="1400" b="0" i="0">
                <a:solidFill>
                  <a:srgbClr val="1F2937"/>
                </a:solidFill>
                <a:latin typeface="Arial"/>
              </a:rPr>
              <a:t>Investigation and requirements</a:t>
            </a:r>
          </a:p>
        </p:txBody>
      </p:sp>
      <p:sp>
        <p:nvSpPr>
          <p:cNvPr id="35" name="bar 0"/>
          <p:cNvSpPr/>
          <p:nvPr/>
        </p:nvSpPr>
        <p:spPr>
          <a:xfrm>
            <a:off x="6537959" y="2469141"/>
            <a:ext cx="1009799" cy="258122"/>
          </a:xfrm>
          <a:prstGeom prst="roundRect">
            <a:avLst>
              <a:gd name="adj" fmla="val 21255"/>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phase 1"/>
          <p:cNvSpPr txBox="1"/>
          <p:nvPr/>
        </p:nvSpPr>
        <p:spPr>
          <a:xfrm>
            <a:off x="4297679" y="2846396"/>
            <a:ext cx="2130552" cy="496388"/>
          </a:xfrm>
          <a:prstGeom prst="rect">
            <a:avLst/>
          </a:prstGeom>
          <a:noFill/>
        </p:spPr>
        <p:txBody>
          <a:bodyPr wrap="square" anchor="ctr" lIns="0" rIns="0" tIns="0" bIns="0">
            <a:noAutofit/>
          </a:bodyPr>
          <a:lstStyle/>
          <a:p>
            <a:pPr algn="l"/>
            <a:r>
              <a:rPr sz="1400" b="0" i="0">
                <a:solidFill>
                  <a:srgbClr val="1F2937"/>
                </a:solidFill>
                <a:latin typeface="Arial"/>
              </a:rPr>
              <a:t>Design</a:t>
            </a:r>
          </a:p>
        </p:txBody>
      </p:sp>
      <p:sp>
        <p:nvSpPr>
          <p:cNvPr id="37" name="bar 1"/>
          <p:cNvSpPr/>
          <p:nvPr/>
        </p:nvSpPr>
        <p:spPr>
          <a:xfrm>
            <a:off x="7416859" y="2965529"/>
            <a:ext cx="523599" cy="258122"/>
          </a:xfrm>
          <a:prstGeom prst="roundRect">
            <a:avLst>
              <a:gd name="adj" fmla="val 21255"/>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phase 2"/>
          <p:cNvSpPr txBox="1"/>
          <p:nvPr/>
        </p:nvSpPr>
        <p:spPr>
          <a:xfrm>
            <a:off x="4297679" y="3342785"/>
            <a:ext cx="2130552" cy="496388"/>
          </a:xfrm>
          <a:prstGeom prst="rect">
            <a:avLst/>
          </a:prstGeom>
          <a:noFill/>
        </p:spPr>
        <p:txBody>
          <a:bodyPr wrap="square" anchor="ctr" lIns="0" rIns="0" tIns="0" bIns="0">
            <a:noAutofit/>
          </a:bodyPr>
          <a:lstStyle/>
          <a:p>
            <a:pPr algn="l"/>
            <a:r>
              <a:rPr sz="1400" b="0" i="0">
                <a:solidFill>
                  <a:srgbClr val="1F2937"/>
                </a:solidFill>
                <a:latin typeface="Arial"/>
              </a:rPr>
              <a:t>Prototype (Senior Project I)</a:t>
            </a:r>
          </a:p>
        </p:txBody>
      </p:sp>
      <p:sp>
        <p:nvSpPr>
          <p:cNvPr id="39" name="bar 2"/>
          <p:cNvSpPr/>
          <p:nvPr/>
        </p:nvSpPr>
        <p:spPr>
          <a:xfrm>
            <a:off x="7940458" y="3461918"/>
            <a:ext cx="729299" cy="258122"/>
          </a:xfrm>
          <a:prstGeom prst="roundRect">
            <a:avLst>
              <a:gd name="adj" fmla="val 21255"/>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phase 3"/>
          <p:cNvSpPr txBox="1"/>
          <p:nvPr/>
        </p:nvSpPr>
        <p:spPr>
          <a:xfrm>
            <a:off x="4297679" y="3839173"/>
            <a:ext cx="2130552" cy="496388"/>
          </a:xfrm>
          <a:prstGeom prst="rect">
            <a:avLst/>
          </a:prstGeom>
          <a:noFill/>
        </p:spPr>
        <p:txBody>
          <a:bodyPr wrap="square" anchor="ctr" lIns="0" rIns="0" tIns="0" bIns="0">
            <a:noAutofit/>
          </a:bodyPr>
          <a:lstStyle/>
          <a:p>
            <a:pPr algn="l"/>
            <a:r>
              <a:rPr sz="1400" b="0" i="0">
                <a:solidFill>
                  <a:srgbClr val="1F2937"/>
                </a:solidFill>
                <a:latin typeface="Arial"/>
              </a:rPr>
              <a:t>Implementation I</a:t>
            </a:r>
          </a:p>
        </p:txBody>
      </p:sp>
      <p:sp>
        <p:nvSpPr>
          <p:cNvPr id="41" name="bar 3"/>
          <p:cNvSpPr/>
          <p:nvPr/>
        </p:nvSpPr>
        <p:spPr>
          <a:xfrm>
            <a:off x="8987657" y="3958306"/>
            <a:ext cx="766699" cy="258122"/>
          </a:xfrm>
          <a:prstGeom prst="roundRect">
            <a:avLst>
              <a:gd name="adj" fmla="val 21255"/>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phase 4"/>
          <p:cNvSpPr txBox="1"/>
          <p:nvPr/>
        </p:nvSpPr>
        <p:spPr>
          <a:xfrm>
            <a:off x="4297679" y="4335562"/>
            <a:ext cx="2130552" cy="496388"/>
          </a:xfrm>
          <a:prstGeom prst="rect">
            <a:avLst/>
          </a:prstGeom>
          <a:noFill/>
        </p:spPr>
        <p:txBody>
          <a:bodyPr wrap="square" anchor="ctr" lIns="0" rIns="0" tIns="0" bIns="0">
            <a:noAutofit/>
          </a:bodyPr>
          <a:lstStyle/>
          <a:p>
            <a:pPr algn="l"/>
            <a:r>
              <a:rPr sz="1400" b="0" i="0">
                <a:solidFill>
                  <a:srgbClr val="1F2937"/>
                </a:solidFill>
                <a:latin typeface="Arial"/>
              </a:rPr>
              <a:t>Implementation II</a:t>
            </a:r>
          </a:p>
        </p:txBody>
      </p:sp>
      <p:sp>
        <p:nvSpPr>
          <p:cNvPr id="43" name="bar 4"/>
          <p:cNvSpPr/>
          <p:nvPr/>
        </p:nvSpPr>
        <p:spPr>
          <a:xfrm>
            <a:off x="9399057" y="4454695"/>
            <a:ext cx="878899" cy="258122"/>
          </a:xfrm>
          <a:prstGeom prst="roundRect">
            <a:avLst>
              <a:gd name="adj" fmla="val 21255"/>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phase 5"/>
          <p:cNvSpPr txBox="1"/>
          <p:nvPr/>
        </p:nvSpPr>
        <p:spPr>
          <a:xfrm>
            <a:off x="4297679" y="4831950"/>
            <a:ext cx="2130552" cy="496388"/>
          </a:xfrm>
          <a:prstGeom prst="rect">
            <a:avLst/>
          </a:prstGeom>
          <a:noFill/>
        </p:spPr>
        <p:txBody>
          <a:bodyPr wrap="square" anchor="ctr" lIns="0" rIns="0" tIns="0" bIns="0">
            <a:noAutofit/>
          </a:bodyPr>
          <a:lstStyle/>
          <a:p>
            <a:pPr algn="l"/>
            <a:r>
              <a:rPr sz="1400" b="0" i="0">
                <a:solidFill>
                  <a:srgbClr val="1F2937"/>
                </a:solidFill>
                <a:latin typeface="Arial"/>
              </a:rPr>
              <a:t>Testing and evaluation</a:t>
            </a:r>
          </a:p>
        </p:txBody>
      </p:sp>
      <p:sp>
        <p:nvSpPr>
          <p:cNvPr id="45" name="bar 5"/>
          <p:cNvSpPr/>
          <p:nvPr/>
        </p:nvSpPr>
        <p:spPr>
          <a:xfrm>
            <a:off x="10090956" y="4951084"/>
            <a:ext cx="766699" cy="258122"/>
          </a:xfrm>
          <a:prstGeom prst="roundRect">
            <a:avLst>
              <a:gd name="adj" fmla="val 21255"/>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phase 6"/>
          <p:cNvSpPr txBox="1"/>
          <p:nvPr/>
        </p:nvSpPr>
        <p:spPr>
          <a:xfrm>
            <a:off x="4297679" y="5328339"/>
            <a:ext cx="2130552" cy="496388"/>
          </a:xfrm>
          <a:prstGeom prst="rect">
            <a:avLst/>
          </a:prstGeom>
          <a:noFill/>
        </p:spPr>
        <p:txBody>
          <a:bodyPr wrap="square" anchor="ctr" lIns="0" rIns="0" tIns="0" bIns="0">
            <a:noAutofit/>
          </a:bodyPr>
          <a:lstStyle/>
          <a:p>
            <a:pPr algn="l"/>
            <a:r>
              <a:rPr sz="1400" b="0" i="0">
                <a:solidFill>
                  <a:srgbClr val="1F2937"/>
                </a:solidFill>
                <a:latin typeface="Arial"/>
              </a:rPr>
              <a:t>Finalization</a:t>
            </a:r>
          </a:p>
        </p:txBody>
      </p:sp>
      <p:sp>
        <p:nvSpPr>
          <p:cNvPr id="47" name="bar 6"/>
          <p:cNvSpPr/>
          <p:nvPr/>
        </p:nvSpPr>
        <p:spPr>
          <a:xfrm>
            <a:off x="10670656" y="5447472"/>
            <a:ext cx="747999" cy="258122"/>
          </a:xfrm>
          <a:prstGeom prst="roundRect">
            <a:avLst>
              <a:gd name="adj" fmla="val 21255"/>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milestone M1"/>
          <p:cNvSpPr/>
          <p:nvPr/>
        </p:nvSpPr>
        <p:spPr>
          <a:xfrm>
            <a:off x="7353675" y="1527048"/>
            <a:ext cx="201168" cy="201168"/>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ms label M1"/>
          <p:cNvSpPr txBox="1"/>
          <p:nvPr/>
        </p:nvSpPr>
        <p:spPr>
          <a:xfrm>
            <a:off x="7179939" y="1700784"/>
            <a:ext cx="548640" cy="237744"/>
          </a:xfrm>
          <a:prstGeom prst="rect">
            <a:avLst/>
          </a:prstGeom>
          <a:noFill/>
        </p:spPr>
        <p:txBody>
          <a:bodyPr wrap="square" anchor="t" lIns="0" rIns="0" tIns="0" bIns="0">
            <a:noAutofit/>
          </a:bodyPr>
          <a:lstStyle/>
          <a:p>
            <a:pPr algn="ctr"/>
            <a:r>
              <a:rPr sz="1100" b="1" i="0">
                <a:solidFill>
                  <a:srgbClr val="92400E"/>
                </a:solidFill>
                <a:latin typeface="Arial"/>
              </a:rPr>
              <a:t>M1</a:t>
            </a:r>
          </a:p>
        </p:txBody>
      </p:sp>
      <p:sp>
        <p:nvSpPr>
          <p:cNvPr id="50" name="milestone M2"/>
          <p:cNvSpPr/>
          <p:nvPr/>
        </p:nvSpPr>
        <p:spPr>
          <a:xfrm>
            <a:off x="7839874" y="1527048"/>
            <a:ext cx="201168" cy="201168"/>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ms label M2"/>
          <p:cNvSpPr txBox="1"/>
          <p:nvPr/>
        </p:nvSpPr>
        <p:spPr>
          <a:xfrm>
            <a:off x="7666138" y="1700784"/>
            <a:ext cx="548640" cy="237744"/>
          </a:xfrm>
          <a:prstGeom prst="rect">
            <a:avLst/>
          </a:prstGeom>
          <a:noFill/>
        </p:spPr>
        <p:txBody>
          <a:bodyPr wrap="square" anchor="t" lIns="0" rIns="0" tIns="0" bIns="0">
            <a:noAutofit/>
          </a:bodyPr>
          <a:lstStyle/>
          <a:p>
            <a:pPr algn="ctr"/>
            <a:r>
              <a:rPr sz="1100" b="1" i="0">
                <a:solidFill>
                  <a:srgbClr val="92400E"/>
                </a:solidFill>
                <a:latin typeface="Arial"/>
              </a:rPr>
              <a:t>M2</a:t>
            </a:r>
          </a:p>
        </p:txBody>
      </p:sp>
      <p:sp>
        <p:nvSpPr>
          <p:cNvPr id="52" name="milestone M3"/>
          <p:cNvSpPr/>
          <p:nvPr/>
        </p:nvSpPr>
        <p:spPr>
          <a:xfrm>
            <a:off x="8494374" y="1527048"/>
            <a:ext cx="201168" cy="201168"/>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ms label M3"/>
          <p:cNvSpPr txBox="1"/>
          <p:nvPr/>
        </p:nvSpPr>
        <p:spPr>
          <a:xfrm>
            <a:off x="8320638" y="1700784"/>
            <a:ext cx="548640" cy="237744"/>
          </a:xfrm>
          <a:prstGeom prst="rect">
            <a:avLst/>
          </a:prstGeom>
          <a:noFill/>
        </p:spPr>
        <p:txBody>
          <a:bodyPr wrap="square" anchor="t" lIns="0" rIns="0" tIns="0" bIns="0">
            <a:noAutofit/>
          </a:bodyPr>
          <a:lstStyle/>
          <a:p>
            <a:pPr algn="ctr"/>
            <a:r>
              <a:rPr sz="1100" b="1" i="0">
                <a:solidFill>
                  <a:srgbClr val="92400E"/>
                </a:solidFill>
                <a:latin typeface="Arial"/>
              </a:rPr>
              <a:t>M3</a:t>
            </a:r>
          </a:p>
        </p:txBody>
      </p:sp>
      <p:sp>
        <p:nvSpPr>
          <p:cNvPr id="54" name="milestone M4"/>
          <p:cNvSpPr/>
          <p:nvPr/>
        </p:nvSpPr>
        <p:spPr>
          <a:xfrm>
            <a:off x="9653772" y="1527048"/>
            <a:ext cx="201168" cy="201168"/>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ms label M4"/>
          <p:cNvSpPr txBox="1"/>
          <p:nvPr/>
        </p:nvSpPr>
        <p:spPr>
          <a:xfrm>
            <a:off x="9480036" y="1700784"/>
            <a:ext cx="548640" cy="237744"/>
          </a:xfrm>
          <a:prstGeom prst="rect">
            <a:avLst/>
          </a:prstGeom>
          <a:noFill/>
        </p:spPr>
        <p:txBody>
          <a:bodyPr wrap="square" anchor="t" lIns="0" rIns="0" tIns="0" bIns="0">
            <a:noAutofit/>
          </a:bodyPr>
          <a:lstStyle/>
          <a:p>
            <a:pPr algn="ctr"/>
            <a:r>
              <a:rPr sz="1100" b="1" i="0">
                <a:solidFill>
                  <a:srgbClr val="92400E"/>
                </a:solidFill>
                <a:latin typeface="Arial"/>
              </a:rPr>
              <a:t>M4</a:t>
            </a:r>
          </a:p>
        </p:txBody>
      </p:sp>
      <p:sp>
        <p:nvSpPr>
          <p:cNvPr id="56" name="milestone M5"/>
          <p:cNvSpPr/>
          <p:nvPr/>
        </p:nvSpPr>
        <p:spPr>
          <a:xfrm>
            <a:off x="10177372" y="1527048"/>
            <a:ext cx="201168" cy="201168"/>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ms label M5"/>
          <p:cNvSpPr txBox="1"/>
          <p:nvPr/>
        </p:nvSpPr>
        <p:spPr>
          <a:xfrm>
            <a:off x="10003636" y="1700784"/>
            <a:ext cx="548640" cy="237744"/>
          </a:xfrm>
          <a:prstGeom prst="rect">
            <a:avLst/>
          </a:prstGeom>
          <a:noFill/>
        </p:spPr>
        <p:txBody>
          <a:bodyPr wrap="square" anchor="t" lIns="0" rIns="0" tIns="0" bIns="0">
            <a:noAutofit/>
          </a:bodyPr>
          <a:lstStyle/>
          <a:p>
            <a:pPr algn="ctr"/>
            <a:r>
              <a:rPr sz="1100" b="1" i="0">
                <a:solidFill>
                  <a:srgbClr val="92400E"/>
                </a:solidFill>
                <a:latin typeface="Arial"/>
              </a:rPr>
              <a:t>M5</a:t>
            </a:r>
          </a:p>
        </p:txBody>
      </p:sp>
      <p:sp>
        <p:nvSpPr>
          <p:cNvPr id="58" name="milestone M6"/>
          <p:cNvSpPr/>
          <p:nvPr/>
        </p:nvSpPr>
        <p:spPr>
          <a:xfrm>
            <a:off x="10757071" y="1527048"/>
            <a:ext cx="201168" cy="201168"/>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ms label M6"/>
          <p:cNvSpPr txBox="1"/>
          <p:nvPr/>
        </p:nvSpPr>
        <p:spPr>
          <a:xfrm>
            <a:off x="10583335" y="1700784"/>
            <a:ext cx="548640" cy="237744"/>
          </a:xfrm>
          <a:prstGeom prst="rect">
            <a:avLst/>
          </a:prstGeom>
          <a:noFill/>
        </p:spPr>
        <p:txBody>
          <a:bodyPr wrap="square" anchor="t" lIns="0" rIns="0" tIns="0" bIns="0">
            <a:noAutofit/>
          </a:bodyPr>
          <a:lstStyle/>
          <a:p>
            <a:pPr algn="ctr"/>
            <a:r>
              <a:rPr sz="1100" b="1" i="0">
                <a:solidFill>
                  <a:srgbClr val="92400E"/>
                </a:solidFill>
                <a:latin typeface="Arial"/>
              </a:rPr>
              <a:t>M6</a:t>
            </a:r>
          </a:p>
        </p:txBody>
      </p:sp>
      <p:sp>
        <p:nvSpPr>
          <p:cNvPr id="60" name="milestone M7"/>
          <p:cNvSpPr/>
          <p:nvPr/>
        </p:nvSpPr>
        <p:spPr>
          <a:xfrm>
            <a:off x="11318071" y="1527048"/>
            <a:ext cx="201168" cy="201168"/>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ms label M7"/>
          <p:cNvSpPr txBox="1"/>
          <p:nvPr/>
        </p:nvSpPr>
        <p:spPr>
          <a:xfrm>
            <a:off x="11144335" y="1700784"/>
            <a:ext cx="548640" cy="237744"/>
          </a:xfrm>
          <a:prstGeom prst="rect">
            <a:avLst/>
          </a:prstGeom>
          <a:noFill/>
        </p:spPr>
        <p:txBody>
          <a:bodyPr wrap="square" anchor="t" lIns="0" rIns="0" tIns="0" bIns="0">
            <a:noAutofit/>
          </a:bodyPr>
          <a:lstStyle/>
          <a:p>
            <a:pPr algn="ctr"/>
            <a:r>
              <a:rPr sz="1100" b="1" i="0">
                <a:solidFill>
                  <a:srgbClr val="92400E"/>
                </a:solidFill>
                <a:latin typeface="Arial"/>
              </a:rPr>
              <a:t>M7</a:t>
            </a:r>
          </a:p>
        </p:txBody>
      </p:sp>
      <p:pic>
        <p:nvPicPr>
          <p:cNvPr id="62" name="Picture 61" descr="Mirsad logo"/>
          <p:cNvPicPr>
            <a:picLocks noChangeAspect="1"/>
          </p:cNvPicPr>
          <p:nvPr/>
        </p:nvPicPr>
        <p:blipFill>
          <a:blip r:embed="rId2"/>
          <a:stretch>
            <a:fillRect/>
          </a:stretch>
        </p:blipFill>
        <p:spPr>
          <a:xfrm>
            <a:off x="548640" y="6419088"/>
            <a:ext cx="219456" cy="219456"/>
          </a:xfrm>
          <a:prstGeom prst="rect">
            <a:avLst/>
          </a:prstGeom>
        </p:spPr>
      </p:pic>
      <p:sp>
        <p:nvSpPr>
          <p:cNvPr id="63" name="footer"/>
          <p:cNvSpPr txBox="1"/>
          <p:nvPr/>
        </p:nvSpPr>
        <p:spPr>
          <a:xfrm>
            <a:off x="859536" y="6437376"/>
            <a:ext cx="6400800" cy="219456"/>
          </a:xfrm>
          <a:prstGeom prst="rect">
            <a:avLst/>
          </a:prstGeom>
          <a:noFill/>
        </p:spPr>
        <p:txBody>
          <a:bodyPr wrap="square" anchor="t" lIns="0" rIns="0" tIns="0" bIns="0">
            <a:noAutofit/>
          </a:bodyPr>
          <a:lstStyle/>
          <a:p>
            <a:pPr algn="l"/>
            <a:r>
              <a:rPr sz="1000" b="0" i="0">
                <a:solidFill>
                  <a:srgbClr val="5B6472"/>
                </a:solidFill>
                <a:latin typeface="Arial"/>
              </a:rPr>
              <a:t>Mirsad </a:t>
            </a:r>
            <a:r>
              <a:rPr sz="1000" b="0" i="0" lang="ar-SA">
                <a:solidFill>
                  <a:srgbClr val="5B6472"/>
                </a:solidFill>
                <a:latin typeface="Arial"/>
                <a:cs typeface="Arial"/>
              </a:rPr>
              <a:t>مرصاد</a:t>
            </a:r>
            <a:r>
              <a:rPr sz="1000" b="0" i="0">
                <a:solidFill>
                  <a:srgbClr val="5B6472"/>
                </a:solidFill>
                <a:latin typeface="Arial"/>
              </a:rPr>
              <a:t>  ·  IS499 Senior Project  ·  Prince Sultan University</a:t>
            </a:r>
          </a:p>
        </p:txBody>
      </p:sp>
      <p:sp>
        <p:nvSpPr>
          <p:cNvPr id="64" name="slide number"/>
          <p:cNvSpPr txBox="1"/>
          <p:nvPr/>
        </p:nvSpPr>
        <p:spPr>
          <a:xfrm>
            <a:off x="10545775" y="6419088"/>
            <a:ext cx="1097280" cy="237744"/>
          </a:xfrm>
          <a:prstGeom prst="rect">
            <a:avLst/>
          </a:prstGeom>
          <a:noFill/>
        </p:spPr>
        <p:txBody>
          <a:bodyPr wrap="square" anchor="t" lIns="0" rIns="0" tIns="0" bIns="0">
            <a:noAutofit/>
          </a:bodyPr>
          <a:lstStyle/>
          <a:p>
            <a:pPr algn="r"/>
            <a:r>
              <a:rPr sz="1100" b="0" i="0">
                <a:solidFill>
                  <a:srgbClr val="5B6472"/>
                </a:solidFill>
                <a:latin typeface="Arial"/>
              </a:rP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11094415" cy="731520"/>
          </a:xfrm>
        </p:spPr>
        <p:txBody>
          <a:bodyPr wrap="square" anchor="t" lIns="0" rIns="0" tIns="0" bIns="0">
            <a:noAutofit/>
          </a:bodyPr>
          <a:lstStyle/>
          <a:p>
            <a:pPr algn="l"/>
            <a:r>
              <a:rPr sz="3000" b="1" i="0">
                <a:solidFill>
                  <a:srgbClr val="0B1F3A"/>
                </a:solidFill>
                <a:latin typeface="Arial"/>
              </a:rPr>
              <a:t>Testing and quality evidence</a:t>
            </a:r>
          </a:p>
        </p:txBody>
      </p:sp>
      <p:sp>
        <p:nvSpPr>
          <p:cNvPr id="3" name="kicker"/>
          <p:cNvSpPr txBox="1"/>
          <p:nvPr/>
        </p:nvSpPr>
        <p:spPr>
          <a:xfrm>
            <a:off x="548640" y="274320"/>
            <a:ext cx="7315200" cy="274320"/>
          </a:xfrm>
          <a:prstGeom prst="rect">
            <a:avLst/>
          </a:prstGeom>
          <a:noFill/>
        </p:spPr>
        <p:txBody>
          <a:bodyPr wrap="square" anchor="t" lIns="0" rIns="0" tIns="0" bIns="0">
            <a:noAutofit/>
          </a:bodyPr>
          <a:lstStyle/>
          <a:p>
            <a:pPr algn="l"/>
            <a:r>
              <a:rPr sz="1200" b="1" i="0" spc="150">
                <a:solidFill>
                  <a:srgbClr val="0F766E"/>
                </a:solidFill>
                <a:latin typeface="Arial"/>
              </a:rPr>
              <a:t>TESTING · VERIFICATION</a:t>
            </a:r>
          </a:p>
        </p:txBody>
      </p:sp>
      <p:sp>
        <p:nvSpPr>
          <p:cNvPr id="4" name="tile 0"/>
          <p:cNvSpPr/>
          <p:nvPr/>
        </p:nvSpPr>
        <p:spPr>
          <a:xfrm>
            <a:off x="548640" y="1554480"/>
            <a:ext cx="2057948" cy="1463040"/>
          </a:xfrm>
          <a:prstGeom prst="roundRect">
            <a:avLst>
              <a:gd name="adj" fmla="val 875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ile value 0"/>
          <p:cNvSpPr txBox="1"/>
          <p:nvPr/>
        </p:nvSpPr>
        <p:spPr>
          <a:xfrm>
            <a:off x="731520" y="1682496"/>
            <a:ext cx="1692188" cy="566928"/>
          </a:xfrm>
          <a:prstGeom prst="rect">
            <a:avLst/>
          </a:prstGeom>
          <a:noFill/>
        </p:spPr>
        <p:txBody>
          <a:bodyPr wrap="square" anchor="t" lIns="0" rIns="0" tIns="0" bIns="0">
            <a:noAutofit/>
          </a:bodyPr>
          <a:lstStyle/>
          <a:p>
            <a:pPr algn="l"/>
            <a:r>
              <a:rPr sz="3000" b="1" i="0">
                <a:solidFill>
                  <a:srgbClr val="0B1F3A"/>
                </a:solidFill>
                <a:latin typeface="Arial"/>
              </a:rPr>
              <a:t>1,281</a:t>
            </a:r>
          </a:p>
        </p:txBody>
      </p:sp>
      <p:sp>
        <p:nvSpPr>
          <p:cNvPr id="6" name="tile label 0"/>
          <p:cNvSpPr txBox="1"/>
          <p:nvPr/>
        </p:nvSpPr>
        <p:spPr>
          <a:xfrm>
            <a:off x="731520" y="2286000"/>
            <a:ext cx="1692188" cy="658368"/>
          </a:xfrm>
          <a:prstGeom prst="rect">
            <a:avLst/>
          </a:prstGeom>
          <a:noFill/>
        </p:spPr>
        <p:txBody>
          <a:bodyPr wrap="square" anchor="t" lIns="0" rIns="0" tIns="0" bIns="0">
            <a:noAutofit/>
          </a:bodyPr>
          <a:lstStyle/>
          <a:p>
            <a:pPr algn="l"/>
            <a:r>
              <a:rPr sz="1400" b="0" i="0">
                <a:solidFill>
                  <a:srgbClr val="5B6472"/>
                </a:solidFill>
                <a:latin typeface="Arial"/>
              </a:rPr>
              <a:t>of 1,281 Python tests passed</a:t>
            </a:r>
          </a:p>
        </p:txBody>
      </p:sp>
      <p:sp>
        <p:nvSpPr>
          <p:cNvPr id="7" name="tile 1"/>
          <p:cNvSpPr/>
          <p:nvPr/>
        </p:nvSpPr>
        <p:spPr>
          <a:xfrm>
            <a:off x="2807756" y="1554480"/>
            <a:ext cx="2057948" cy="1463040"/>
          </a:xfrm>
          <a:prstGeom prst="roundRect">
            <a:avLst>
              <a:gd name="adj" fmla="val 875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ile value 1"/>
          <p:cNvSpPr txBox="1"/>
          <p:nvPr/>
        </p:nvSpPr>
        <p:spPr>
          <a:xfrm>
            <a:off x="2990636" y="1682496"/>
            <a:ext cx="1692188" cy="566928"/>
          </a:xfrm>
          <a:prstGeom prst="rect">
            <a:avLst/>
          </a:prstGeom>
          <a:noFill/>
        </p:spPr>
        <p:txBody>
          <a:bodyPr wrap="square" anchor="t" lIns="0" rIns="0" tIns="0" bIns="0">
            <a:noAutofit/>
          </a:bodyPr>
          <a:lstStyle/>
          <a:p>
            <a:pPr algn="l"/>
            <a:r>
              <a:rPr sz="3000" b="1" i="0">
                <a:solidFill>
                  <a:srgbClr val="0B1F3A"/>
                </a:solidFill>
                <a:latin typeface="Arial"/>
              </a:rPr>
              <a:t>194</a:t>
            </a:r>
          </a:p>
        </p:txBody>
      </p:sp>
      <p:sp>
        <p:nvSpPr>
          <p:cNvPr id="9" name="tile label 1"/>
          <p:cNvSpPr txBox="1"/>
          <p:nvPr/>
        </p:nvSpPr>
        <p:spPr>
          <a:xfrm>
            <a:off x="2990636" y="2286000"/>
            <a:ext cx="1692188" cy="658368"/>
          </a:xfrm>
          <a:prstGeom prst="rect">
            <a:avLst/>
          </a:prstGeom>
          <a:noFill/>
        </p:spPr>
        <p:txBody>
          <a:bodyPr wrap="square" anchor="t" lIns="0" rIns="0" tIns="0" bIns="0">
            <a:noAutofit/>
          </a:bodyPr>
          <a:lstStyle/>
          <a:p>
            <a:pPr algn="l"/>
            <a:r>
              <a:rPr sz="1400" b="0" i="0">
                <a:solidFill>
                  <a:srgbClr val="5B6472"/>
                </a:solidFill>
                <a:latin typeface="Arial"/>
              </a:rPr>
              <a:t>of 194 web tests passed</a:t>
            </a:r>
          </a:p>
        </p:txBody>
      </p:sp>
      <p:sp>
        <p:nvSpPr>
          <p:cNvPr id="10" name="tile 2"/>
          <p:cNvSpPr/>
          <p:nvPr/>
        </p:nvSpPr>
        <p:spPr>
          <a:xfrm>
            <a:off x="5066873" y="1554480"/>
            <a:ext cx="2057948" cy="1463040"/>
          </a:xfrm>
          <a:prstGeom prst="roundRect">
            <a:avLst>
              <a:gd name="adj" fmla="val 875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ile value 2"/>
          <p:cNvSpPr txBox="1"/>
          <p:nvPr/>
        </p:nvSpPr>
        <p:spPr>
          <a:xfrm>
            <a:off x="5249753" y="1682496"/>
            <a:ext cx="1692188" cy="566928"/>
          </a:xfrm>
          <a:prstGeom prst="rect">
            <a:avLst/>
          </a:prstGeom>
          <a:noFill/>
        </p:spPr>
        <p:txBody>
          <a:bodyPr wrap="square" anchor="t" lIns="0" rIns="0" tIns="0" bIns="0">
            <a:noAutofit/>
          </a:bodyPr>
          <a:lstStyle/>
          <a:p>
            <a:pPr algn="l"/>
            <a:r>
              <a:rPr sz="3000" b="1" i="0">
                <a:solidFill>
                  <a:srgbClr val="0B1F3A"/>
                </a:solidFill>
                <a:latin typeface="Arial"/>
              </a:rPr>
              <a:t>94.4%</a:t>
            </a:r>
          </a:p>
        </p:txBody>
      </p:sp>
      <p:sp>
        <p:nvSpPr>
          <p:cNvPr id="12" name="tile label 2"/>
          <p:cNvSpPr txBox="1"/>
          <p:nvPr/>
        </p:nvSpPr>
        <p:spPr>
          <a:xfrm>
            <a:off x="5249753" y="2286000"/>
            <a:ext cx="1692188" cy="658368"/>
          </a:xfrm>
          <a:prstGeom prst="rect">
            <a:avLst/>
          </a:prstGeom>
          <a:noFill/>
        </p:spPr>
        <p:txBody>
          <a:bodyPr wrap="square" anchor="t" lIns="0" rIns="0" tIns="0" bIns="0">
            <a:noAutofit/>
          </a:bodyPr>
          <a:lstStyle/>
          <a:p>
            <a:pPr algn="l"/>
            <a:r>
              <a:rPr sz="1400" b="0" i="0">
                <a:solidFill>
                  <a:srgbClr val="5B6472"/>
                </a:solidFill>
                <a:latin typeface="Arial"/>
              </a:rPr>
              <a:t>statement coverage (target ≥ 80%)</a:t>
            </a:r>
          </a:p>
        </p:txBody>
      </p:sp>
      <p:sp>
        <p:nvSpPr>
          <p:cNvPr id="13" name="tile 3"/>
          <p:cNvSpPr/>
          <p:nvPr/>
        </p:nvSpPr>
        <p:spPr>
          <a:xfrm>
            <a:off x="7325989" y="1554480"/>
            <a:ext cx="2057948" cy="1463040"/>
          </a:xfrm>
          <a:prstGeom prst="roundRect">
            <a:avLst>
              <a:gd name="adj" fmla="val 875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ile value 3"/>
          <p:cNvSpPr txBox="1"/>
          <p:nvPr/>
        </p:nvSpPr>
        <p:spPr>
          <a:xfrm>
            <a:off x="7508869" y="1682496"/>
            <a:ext cx="1692188" cy="566928"/>
          </a:xfrm>
          <a:prstGeom prst="rect">
            <a:avLst/>
          </a:prstGeom>
          <a:noFill/>
        </p:spPr>
        <p:txBody>
          <a:bodyPr wrap="square" anchor="t" lIns="0" rIns="0" tIns="0" bIns="0">
            <a:noAutofit/>
          </a:bodyPr>
          <a:lstStyle/>
          <a:p>
            <a:pPr algn="l"/>
            <a:r>
              <a:rPr sz="3000" b="1" i="0">
                <a:solidFill>
                  <a:srgbClr val="0B1F3A"/>
                </a:solidFill>
                <a:latin typeface="Arial"/>
              </a:rPr>
              <a:t>0</a:t>
            </a:r>
          </a:p>
        </p:txBody>
      </p:sp>
      <p:sp>
        <p:nvSpPr>
          <p:cNvPr id="15" name="tile label 3"/>
          <p:cNvSpPr txBox="1"/>
          <p:nvPr/>
        </p:nvSpPr>
        <p:spPr>
          <a:xfrm>
            <a:off x="7508869" y="2286000"/>
            <a:ext cx="1692188" cy="658368"/>
          </a:xfrm>
          <a:prstGeom prst="rect">
            <a:avLst/>
          </a:prstGeom>
          <a:noFill/>
        </p:spPr>
        <p:txBody>
          <a:bodyPr wrap="square" anchor="t" lIns="0" rIns="0" tIns="0" bIns="0">
            <a:noAutofit/>
          </a:bodyPr>
          <a:lstStyle/>
          <a:p>
            <a:pPr algn="l"/>
            <a:r>
              <a:rPr sz="1400" b="0" i="0">
                <a:solidFill>
                  <a:srgbClr val="5B6472"/>
                </a:solidFill>
                <a:latin typeface="Arial"/>
              </a:rPr>
              <a:t>Bandit issues in 13,023 lines</a:t>
            </a:r>
          </a:p>
        </p:txBody>
      </p:sp>
      <p:sp>
        <p:nvSpPr>
          <p:cNvPr id="16" name="tile 4"/>
          <p:cNvSpPr/>
          <p:nvPr/>
        </p:nvSpPr>
        <p:spPr>
          <a:xfrm>
            <a:off x="9585106" y="1554480"/>
            <a:ext cx="2057948" cy="1463040"/>
          </a:xfrm>
          <a:prstGeom prst="roundRect">
            <a:avLst>
              <a:gd name="adj" fmla="val 875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ile value 4"/>
          <p:cNvSpPr txBox="1"/>
          <p:nvPr/>
        </p:nvSpPr>
        <p:spPr>
          <a:xfrm>
            <a:off x="9767986" y="1682496"/>
            <a:ext cx="1692188" cy="566928"/>
          </a:xfrm>
          <a:prstGeom prst="rect">
            <a:avLst/>
          </a:prstGeom>
          <a:noFill/>
        </p:spPr>
        <p:txBody>
          <a:bodyPr wrap="square" anchor="t" lIns="0" rIns="0" tIns="0" bIns="0">
            <a:noAutofit/>
          </a:bodyPr>
          <a:lstStyle/>
          <a:p>
            <a:pPr algn="l"/>
            <a:r>
              <a:rPr sz="3000" b="1" i="0">
                <a:solidFill>
                  <a:srgbClr val="0B1F3A"/>
                </a:solidFill>
                <a:latin typeface="Arial"/>
              </a:rPr>
              <a:t>0</a:t>
            </a:r>
          </a:p>
        </p:txBody>
      </p:sp>
      <p:sp>
        <p:nvSpPr>
          <p:cNvPr id="18" name="tile label 4"/>
          <p:cNvSpPr txBox="1"/>
          <p:nvPr/>
        </p:nvSpPr>
        <p:spPr>
          <a:xfrm>
            <a:off x="9767986" y="2286000"/>
            <a:ext cx="1692188" cy="658368"/>
          </a:xfrm>
          <a:prstGeom prst="rect">
            <a:avLst/>
          </a:prstGeom>
          <a:noFill/>
        </p:spPr>
        <p:txBody>
          <a:bodyPr wrap="square" anchor="t" lIns="0" rIns="0" tIns="0" bIns="0">
            <a:noAutofit/>
          </a:bodyPr>
          <a:lstStyle/>
          <a:p>
            <a:pPr algn="l"/>
            <a:r>
              <a:rPr sz="1400" b="0" i="0">
                <a:solidFill>
                  <a:srgbClr val="5B6472"/>
                </a:solidFill>
                <a:latin typeface="Arial"/>
              </a:rPr>
              <a:t>vulnerable dependencies (pip-audit, npm audit)</a:t>
            </a:r>
          </a:p>
        </p:txBody>
      </p:sp>
      <p:sp>
        <p:nvSpPr>
          <p:cNvPr id="19" name="chart title"/>
          <p:cNvSpPr txBox="1"/>
          <p:nvPr/>
        </p:nvSpPr>
        <p:spPr>
          <a:xfrm>
            <a:off x="548640" y="3273552"/>
            <a:ext cx="6949440" cy="320040"/>
          </a:xfrm>
          <a:prstGeom prst="rect">
            <a:avLst/>
          </a:prstGeom>
          <a:noFill/>
        </p:spPr>
        <p:txBody>
          <a:bodyPr wrap="square" anchor="t" lIns="0" rIns="0" tIns="0" bIns="0">
            <a:noAutofit/>
          </a:bodyPr>
          <a:lstStyle/>
          <a:p>
            <a:pPr algn="l"/>
            <a:r>
              <a:rPr sz="1600" b="1" i="0">
                <a:solidFill>
                  <a:srgbClr val="0B1F3A"/>
                </a:solidFill>
                <a:latin typeface="Arial"/>
              </a:rPr>
              <a:t>Python tests by area</a:t>
            </a:r>
          </a:p>
        </p:txBody>
      </p:sp>
      <p:graphicFrame>
        <p:nvGraphicFramePr>
          <p:cNvPr id="20" name="Chart 19"/>
          <p:cNvGraphicFramePr>
            <a:graphicFrameLocks noGrp="1"/>
          </p:cNvGraphicFramePr>
          <p:nvPr/>
        </p:nvGraphicFramePr>
        <p:xfrm>
          <a:off x="548640" y="3584448"/>
          <a:ext cx="6949440" cy="2697480"/>
        </p:xfrm>
        <a:graphic>
          <a:graphicData uri="http://schemas.openxmlformats.org/drawingml/2006/chart">
            <c:chart xmlns:c="http://schemas.openxmlformats.org/drawingml/2006/chart" r:id="rId2"/>
          </a:graphicData>
        </a:graphic>
      </p:graphicFrame>
      <p:sp>
        <p:nvSpPr>
          <p:cNvPr id="21" name="sec head"/>
          <p:cNvSpPr txBox="1"/>
          <p:nvPr/>
        </p:nvSpPr>
        <p:spPr>
          <a:xfrm>
            <a:off x="7863840" y="3310128"/>
            <a:ext cx="3779215" cy="365760"/>
          </a:xfrm>
          <a:prstGeom prst="rect">
            <a:avLst/>
          </a:prstGeom>
          <a:noFill/>
        </p:spPr>
        <p:txBody>
          <a:bodyPr wrap="square" anchor="t" lIns="0" rIns="0" tIns="0" bIns="0">
            <a:noAutofit/>
          </a:bodyPr>
          <a:lstStyle/>
          <a:p>
            <a:pPr algn="l"/>
            <a:r>
              <a:rPr sz="1800" b="1" i="0">
                <a:solidFill>
                  <a:srgbClr val="0B1F3A"/>
                </a:solidFill>
                <a:latin typeface="Arial"/>
              </a:rPr>
              <a:t>Security tests attack the gateway</a:t>
            </a:r>
          </a:p>
        </p:txBody>
      </p:sp>
      <p:sp>
        <p:nvSpPr>
          <p:cNvPr id="22" name="sec body"/>
          <p:cNvSpPr txBox="1"/>
          <p:nvPr/>
        </p:nvSpPr>
        <p:spPr>
          <a:xfrm>
            <a:off x="7863840" y="3703320"/>
            <a:ext cx="3779215" cy="1463040"/>
          </a:xfrm>
          <a:prstGeom prst="rect">
            <a:avLst/>
          </a:prstGeom>
          <a:noFill/>
        </p:spPr>
        <p:txBody>
          <a:bodyPr wrap="square" anchor="t" lIns="0" rIns="0" tIns="0" bIns="0">
            <a:noAutofit/>
          </a:bodyPr>
          <a:lstStyle/>
          <a:p>
            <a:pPr algn="l"/>
            <a:r>
              <a:rPr sz="1600" b="0" i="0">
                <a:solidFill>
                  <a:srgbClr val="1F2937"/>
                </a:solidFill>
                <a:latin typeface="Arial"/>
              </a:rPr>
              <a:t>45 cases: forged tokens, role tampering, audit tampering, regex denial of service, SSRF, oversized bodies, brute-force logins</a:t>
            </a:r>
          </a:p>
        </p:txBody>
      </p:sp>
      <p:sp>
        <p:nvSpPr>
          <p:cNvPr id="23" name="code size"/>
          <p:cNvSpPr txBox="1"/>
          <p:nvPr/>
        </p:nvSpPr>
        <p:spPr>
          <a:xfrm>
            <a:off x="7863840" y="5257800"/>
            <a:ext cx="3779215" cy="914400"/>
          </a:xfrm>
          <a:prstGeom prst="rect">
            <a:avLst/>
          </a:prstGeom>
          <a:noFill/>
        </p:spPr>
        <p:txBody>
          <a:bodyPr wrap="square" anchor="t" lIns="0" rIns="0" tIns="0" bIns="0">
            <a:noAutofit/>
          </a:bodyPr>
          <a:lstStyle/>
          <a:p>
            <a:pPr algn="l"/>
            <a:r>
              <a:rPr sz="1400" b="0" i="0">
                <a:solidFill>
                  <a:srgbClr val="5B6472"/>
                </a:solidFill>
                <a:latin typeface="Arial"/>
              </a:rPr>
              <a:t>Code base: 15,839 lines of Python, 10,213 of TypeScript, 13,451 of tests</a:t>
            </a:r>
          </a:p>
        </p:txBody>
      </p:sp>
      <p:pic>
        <p:nvPicPr>
          <p:cNvPr id="24" name="Picture 23" descr="Mirsad logo"/>
          <p:cNvPicPr>
            <a:picLocks noChangeAspect="1"/>
          </p:cNvPicPr>
          <p:nvPr/>
        </p:nvPicPr>
        <p:blipFill>
          <a:blip r:embed="rId3"/>
          <a:stretch>
            <a:fillRect/>
          </a:stretch>
        </p:blipFill>
        <p:spPr>
          <a:xfrm>
            <a:off x="548640" y="6419088"/>
            <a:ext cx="219456" cy="219456"/>
          </a:xfrm>
          <a:prstGeom prst="rect">
            <a:avLst/>
          </a:prstGeom>
        </p:spPr>
      </p:pic>
      <p:sp>
        <p:nvSpPr>
          <p:cNvPr id="25" name="footer"/>
          <p:cNvSpPr txBox="1"/>
          <p:nvPr/>
        </p:nvSpPr>
        <p:spPr>
          <a:xfrm>
            <a:off x="859536" y="6437376"/>
            <a:ext cx="6400800" cy="219456"/>
          </a:xfrm>
          <a:prstGeom prst="rect">
            <a:avLst/>
          </a:prstGeom>
          <a:noFill/>
        </p:spPr>
        <p:txBody>
          <a:bodyPr wrap="square" anchor="t" lIns="0" rIns="0" tIns="0" bIns="0">
            <a:noAutofit/>
          </a:bodyPr>
          <a:lstStyle/>
          <a:p>
            <a:pPr algn="l"/>
            <a:r>
              <a:rPr sz="1000" b="0" i="0">
                <a:solidFill>
                  <a:srgbClr val="5B6472"/>
                </a:solidFill>
                <a:latin typeface="Arial"/>
              </a:rPr>
              <a:t>Mirsad </a:t>
            </a:r>
            <a:r>
              <a:rPr sz="1000" b="0" i="0" lang="ar-SA">
                <a:solidFill>
                  <a:srgbClr val="5B6472"/>
                </a:solidFill>
                <a:latin typeface="Arial"/>
                <a:cs typeface="Arial"/>
              </a:rPr>
              <a:t>مرصاد</a:t>
            </a:r>
            <a:r>
              <a:rPr sz="1000" b="0" i="0">
                <a:solidFill>
                  <a:srgbClr val="5B6472"/>
                </a:solidFill>
                <a:latin typeface="Arial"/>
              </a:rPr>
              <a:t>  ·  IS499 Senior Project  ·  Prince Sultan University</a:t>
            </a:r>
          </a:p>
        </p:txBody>
      </p:sp>
      <p:sp>
        <p:nvSpPr>
          <p:cNvPr id="26" name="slide number"/>
          <p:cNvSpPr txBox="1"/>
          <p:nvPr/>
        </p:nvSpPr>
        <p:spPr>
          <a:xfrm>
            <a:off x="10545775" y="6419088"/>
            <a:ext cx="1097280" cy="237744"/>
          </a:xfrm>
          <a:prstGeom prst="rect">
            <a:avLst/>
          </a:prstGeom>
          <a:noFill/>
        </p:spPr>
        <p:txBody>
          <a:bodyPr wrap="square" anchor="t" lIns="0" rIns="0" tIns="0" bIns="0">
            <a:noAutofit/>
          </a:bodyPr>
          <a:lstStyle/>
          <a:p>
            <a:pPr algn="r"/>
            <a:r>
              <a:rPr sz="1100" b="0" i="0">
                <a:solidFill>
                  <a:srgbClr val="5B6472"/>
                </a:solidFill>
                <a:latin typeface="Arial"/>
              </a:rP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11094415" cy="731520"/>
          </a:xfrm>
        </p:spPr>
        <p:txBody>
          <a:bodyPr wrap="square" anchor="t" lIns="0" rIns="0" tIns="0" bIns="0">
            <a:noAutofit/>
          </a:bodyPr>
          <a:lstStyle/>
          <a:p>
            <a:pPr algn="l"/>
            <a:r>
              <a:rPr sz="3000" b="1" i="0">
                <a:solidFill>
                  <a:srgbClr val="0B1F3A"/>
                </a:solidFill>
                <a:latin typeface="Arial"/>
              </a:rPr>
              <a:t>What protection costs legitimate work</a:t>
            </a:r>
          </a:p>
        </p:txBody>
      </p:sp>
      <p:sp>
        <p:nvSpPr>
          <p:cNvPr id="3" name="kicker"/>
          <p:cNvSpPr txBox="1"/>
          <p:nvPr/>
        </p:nvSpPr>
        <p:spPr>
          <a:xfrm>
            <a:off x="548640" y="274320"/>
            <a:ext cx="7315200" cy="274320"/>
          </a:xfrm>
          <a:prstGeom prst="rect">
            <a:avLst/>
          </a:prstGeom>
          <a:noFill/>
        </p:spPr>
        <p:txBody>
          <a:bodyPr wrap="square" anchor="t" lIns="0" rIns="0" tIns="0" bIns="0">
            <a:noAutofit/>
          </a:bodyPr>
          <a:lstStyle/>
          <a:p>
            <a:pPr algn="l"/>
            <a:r>
              <a:rPr sz="1200" b="1" i="0" spc="150">
                <a:solidFill>
                  <a:srgbClr val="0F766E"/>
                </a:solidFill>
                <a:latin typeface="Arial"/>
              </a:rPr>
              <a:t>EVALUATION · MEASURED RESULTS</a:t>
            </a:r>
          </a:p>
        </p:txBody>
      </p:sp>
      <p:sp>
        <p:nvSpPr>
          <p:cNvPr id="4" name="result tile 0"/>
          <p:cNvSpPr/>
          <p:nvPr/>
        </p:nvSpPr>
        <p:spPr>
          <a:xfrm>
            <a:off x="548640" y="1572768"/>
            <a:ext cx="2697480" cy="1828800"/>
          </a:xfrm>
          <a:prstGeom prst="roundRect">
            <a:avLst>
              <a:gd name="adj" fmla="val 7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sult value 0"/>
          <p:cNvSpPr txBox="1"/>
          <p:nvPr/>
        </p:nvSpPr>
        <p:spPr>
          <a:xfrm>
            <a:off x="777240" y="1755648"/>
            <a:ext cx="2240280" cy="640080"/>
          </a:xfrm>
          <a:prstGeom prst="rect">
            <a:avLst/>
          </a:prstGeom>
          <a:noFill/>
        </p:spPr>
        <p:txBody>
          <a:bodyPr wrap="square" anchor="t" lIns="0" rIns="0" tIns="0" bIns="0">
            <a:noAutofit/>
          </a:bodyPr>
          <a:lstStyle/>
          <a:p>
            <a:pPr algn="l"/>
            <a:r>
              <a:rPr sz="3200" b="1" i="0">
                <a:solidFill>
                  <a:srgbClr val="0B1F3A"/>
                </a:solidFill>
                <a:latin typeface="Arial"/>
              </a:rPr>
              <a:t>0.0%</a:t>
            </a:r>
          </a:p>
        </p:txBody>
      </p:sp>
      <p:sp>
        <p:nvSpPr>
          <p:cNvPr id="6" name="result label 0"/>
          <p:cNvSpPr txBox="1"/>
          <p:nvPr/>
        </p:nvSpPr>
        <p:spPr>
          <a:xfrm>
            <a:off x="777240" y="2441448"/>
            <a:ext cx="2240280" cy="868680"/>
          </a:xfrm>
          <a:prstGeom prst="rect">
            <a:avLst/>
          </a:prstGeom>
          <a:noFill/>
        </p:spPr>
        <p:txBody>
          <a:bodyPr wrap="square" anchor="t" lIns="0" rIns="0" tIns="0" bIns="0">
            <a:noAutofit/>
          </a:bodyPr>
          <a:lstStyle/>
          <a:p>
            <a:pPr algn="l"/>
            <a:r>
              <a:rPr sz="1500" b="0" i="0">
                <a:solidFill>
                  <a:srgbClr val="1F2937"/>
                </a:solidFill>
                <a:latin typeface="Arial"/>
              </a:rPr>
              <a:t>benign calls denied automatically (limit ≤ 5%)</a:t>
            </a:r>
          </a:p>
        </p:txBody>
      </p:sp>
      <p:sp>
        <p:nvSpPr>
          <p:cNvPr id="7" name="result tile 1"/>
          <p:cNvSpPr/>
          <p:nvPr/>
        </p:nvSpPr>
        <p:spPr>
          <a:xfrm>
            <a:off x="3447288" y="1572768"/>
            <a:ext cx="2697480" cy="1828800"/>
          </a:xfrm>
          <a:prstGeom prst="roundRect">
            <a:avLst>
              <a:gd name="adj" fmla="val 7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sult value 1"/>
          <p:cNvSpPr txBox="1"/>
          <p:nvPr/>
        </p:nvSpPr>
        <p:spPr>
          <a:xfrm>
            <a:off x="3675888" y="1755648"/>
            <a:ext cx="2240280" cy="640080"/>
          </a:xfrm>
          <a:prstGeom prst="rect">
            <a:avLst/>
          </a:prstGeom>
          <a:noFill/>
        </p:spPr>
        <p:txBody>
          <a:bodyPr wrap="square" anchor="t" lIns="0" rIns="0" tIns="0" bIns="0">
            <a:noAutofit/>
          </a:bodyPr>
          <a:lstStyle/>
          <a:p>
            <a:pPr algn="l"/>
            <a:r>
              <a:rPr sz="3200" b="1" i="0">
                <a:solidFill>
                  <a:srgbClr val="0B1F3A"/>
                </a:solidFill>
                <a:latin typeface="Arial"/>
              </a:rPr>
              <a:t>17.6%</a:t>
            </a:r>
          </a:p>
        </p:txBody>
      </p:sp>
      <p:sp>
        <p:nvSpPr>
          <p:cNvPr id="9" name="result label 1"/>
          <p:cNvSpPr txBox="1"/>
          <p:nvPr/>
        </p:nvSpPr>
        <p:spPr>
          <a:xfrm>
            <a:off x="3675888" y="2441448"/>
            <a:ext cx="2240280" cy="868680"/>
          </a:xfrm>
          <a:prstGeom prst="rect">
            <a:avLst/>
          </a:prstGeom>
          <a:noFill/>
        </p:spPr>
        <p:txBody>
          <a:bodyPr wrap="square" anchor="t" lIns="0" rIns="0" tIns="0" bIns="0">
            <a:noAutofit/>
          </a:bodyPr>
          <a:lstStyle/>
          <a:p>
            <a:pPr algn="l"/>
            <a:r>
              <a:rPr sz="1500" b="0" i="0">
                <a:solidFill>
                  <a:srgbClr val="1F2937"/>
                </a:solidFill>
                <a:latin typeface="Arial"/>
              </a:rPr>
              <a:t>benign calls sent to a human, by policy design</a:t>
            </a:r>
          </a:p>
        </p:txBody>
      </p:sp>
      <p:sp>
        <p:nvSpPr>
          <p:cNvPr id="10" name="result tile 2"/>
          <p:cNvSpPr/>
          <p:nvPr/>
        </p:nvSpPr>
        <p:spPr>
          <a:xfrm>
            <a:off x="548640" y="3602736"/>
            <a:ext cx="2697480" cy="1828800"/>
          </a:xfrm>
          <a:prstGeom prst="roundRect">
            <a:avLst>
              <a:gd name="adj" fmla="val 7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sult value 2"/>
          <p:cNvSpPr txBox="1"/>
          <p:nvPr/>
        </p:nvSpPr>
        <p:spPr>
          <a:xfrm>
            <a:off x="777240" y="3785616"/>
            <a:ext cx="2240280" cy="640080"/>
          </a:xfrm>
          <a:prstGeom prst="rect">
            <a:avLst/>
          </a:prstGeom>
          <a:noFill/>
        </p:spPr>
        <p:txBody>
          <a:bodyPr wrap="square" anchor="t" lIns="0" rIns="0" tIns="0" bIns="0">
            <a:noAutofit/>
          </a:bodyPr>
          <a:lstStyle/>
          <a:p>
            <a:pPr algn="l"/>
            <a:r>
              <a:rPr sz="3200" b="1" i="0">
                <a:solidFill>
                  <a:srgbClr val="0B1F3A"/>
                </a:solidFill>
                <a:latin typeface="Arial"/>
              </a:rPr>
              <a:t>100% / 75%</a:t>
            </a:r>
          </a:p>
        </p:txBody>
      </p:sp>
      <p:sp>
        <p:nvSpPr>
          <p:cNvPr id="12" name="result label 2"/>
          <p:cNvSpPr txBox="1"/>
          <p:nvPr/>
        </p:nvSpPr>
        <p:spPr>
          <a:xfrm>
            <a:off x="777240" y="4471416"/>
            <a:ext cx="2240280" cy="868680"/>
          </a:xfrm>
          <a:prstGeom prst="rect">
            <a:avLst/>
          </a:prstGeom>
          <a:noFill/>
        </p:spPr>
        <p:txBody>
          <a:bodyPr wrap="square" anchor="t" lIns="0" rIns="0" tIns="0" bIns="0">
            <a:noAutofit/>
          </a:bodyPr>
          <a:lstStyle/>
          <a:p>
            <a:pPr algn="l"/>
            <a:r>
              <a:rPr sz="1500" b="0" i="0">
                <a:solidFill>
                  <a:srgbClr val="1F2937"/>
                </a:solidFill>
                <a:latin typeface="Arial"/>
              </a:rPr>
              <a:t>tasks completed: informed / always-deny approver</a:t>
            </a:r>
          </a:p>
        </p:txBody>
      </p:sp>
      <p:sp>
        <p:nvSpPr>
          <p:cNvPr id="13" name="result tile 3"/>
          <p:cNvSpPr/>
          <p:nvPr/>
        </p:nvSpPr>
        <p:spPr>
          <a:xfrm>
            <a:off x="3447288" y="3602736"/>
            <a:ext cx="2697480" cy="1828800"/>
          </a:xfrm>
          <a:prstGeom prst="roundRect">
            <a:avLst>
              <a:gd name="adj" fmla="val 7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sult value 3"/>
          <p:cNvSpPr txBox="1"/>
          <p:nvPr/>
        </p:nvSpPr>
        <p:spPr>
          <a:xfrm>
            <a:off x="3675888" y="3785616"/>
            <a:ext cx="2240280" cy="640080"/>
          </a:xfrm>
          <a:prstGeom prst="rect">
            <a:avLst/>
          </a:prstGeom>
          <a:noFill/>
        </p:spPr>
        <p:txBody>
          <a:bodyPr wrap="square" anchor="t" lIns="0" rIns="0" tIns="0" bIns="0">
            <a:noAutofit/>
          </a:bodyPr>
          <a:lstStyle/>
          <a:p>
            <a:pPr algn="l"/>
            <a:r>
              <a:rPr sz="3200" b="1" i="0">
                <a:solidFill>
                  <a:srgbClr val="0B1F3A"/>
                </a:solidFill>
                <a:latin typeface="Arial"/>
              </a:rPr>
              <a:t>2.7 ms</a:t>
            </a:r>
          </a:p>
        </p:txBody>
      </p:sp>
      <p:sp>
        <p:nvSpPr>
          <p:cNvPr id="15" name="result label 3"/>
          <p:cNvSpPr txBox="1"/>
          <p:nvPr/>
        </p:nvSpPr>
        <p:spPr>
          <a:xfrm>
            <a:off x="3675888" y="4471416"/>
            <a:ext cx="2240280" cy="868680"/>
          </a:xfrm>
          <a:prstGeom prst="rect">
            <a:avLst/>
          </a:prstGeom>
          <a:noFill/>
        </p:spPr>
        <p:txBody>
          <a:bodyPr wrap="square" anchor="t" lIns="0" rIns="0" tIns="0" bIns="0">
            <a:noAutofit/>
          </a:bodyPr>
          <a:lstStyle/>
          <a:p>
            <a:pPr algn="l"/>
            <a:r>
              <a:rPr sz="1500" b="0" i="0">
                <a:solidFill>
                  <a:srgbClr val="1F2937"/>
                </a:solidFill>
                <a:latin typeface="Arial"/>
              </a:rPr>
              <a:t>median added per call; 166 ms at 50 concurrent sessions</a:t>
            </a:r>
          </a:p>
        </p:txBody>
      </p:sp>
      <p:sp>
        <p:nvSpPr>
          <p:cNvPr id="16" name="chart title"/>
          <p:cNvSpPr txBox="1"/>
          <p:nvPr/>
        </p:nvSpPr>
        <p:spPr>
          <a:xfrm>
            <a:off x="6601968" y="1572768"/>
            <a:ext cx="5041087" cy="320040"/>
          </a:xfrm>
          <a:prstGeom prst="rect">
            <a:avLst/>
          </a:prstGeom>
          <a:noFill/>
        </p:spPr>
        <p:txBody>
          <a:bodyPr wrap="square" anchor="t" lIns="0" rIns="0" tIns="0" bIns="0">
            <a:noAutofit/>
          </a:bodyPr>
          <a:lstStyle/>
          <a:p>
            <a:pPr algn="l"/>
            <a:r>
              <a:rPr sz="1600" b="1" i="0">
                <a:solidFill>
                  <a:srgbClr val="0B1F3A"/>
                </a:solidFill>
                <a:latin typeface="Arial"/>
              </a:rPr>
              <a:t>Benign calls sent to a human, by configuration</a:t>
            </a:r>
          </a:p>
        </p:txBody>
      </p:sp>
      <p:sp>
        <p:nvSpPr>
          <p:cNvPr id="17" name="chart subtitle"/>
          <p:cNvSpPr txBox="1"/>
          <p:nvPr/>
        </p:nvSpPr>
        <p:spPr>
          <a:xfrm>
            <a:off x="6601968" y="1892807"/>
            <a:ext cx="5041087" cy="274320"/>
          </a:xfrm>
          <a:prstGeom prst="rect">
            <a:avLst/>
          </a:prstGeom>
          <a:noFill/>
        </p:spPr>
        <p:txBody>
          <a:bodyPr wrap="square" anchor="t" lIns="0" rIns="0" tIns="0" bIns="0">
            <a:noAutofit/>
          </a:bodyPr>
          <a:lstStyle/>
          <a:p>
            <a:pPr algn="l"/>
            <a:r>
              <a:rPr sz="1300" b="0" i="0">
                <a:solidFill>
                  <a:srgbClr val="5B6472"/>
                </a:solidFill>
                <a:latin typeface="Arial"/>
              </a:rPr>
              <a:t>Automatic denials: 0 in every configuration</a:t>
            </a:r>
          </a:p>
        </p:txBody>
      </p:sp>
      <p:graphicFrame>
        <p:nvGraphicFramePr>
          <p:cNvPr id="18" name="Chart 17"/>
          <p:cNvGraphicFramePr>
            <a:graphicFrameLocks noGrp="1"/>
          </p:cNvGraphicFramePr>
          <p:nvPr/>
        </p:nvGraphicFramePr>
        <p:xfrm>
          <a:off x="6601968" y="2194560"/>
          <a:ext cx="5041087" cy="3246120"/>
        </p:xfrm>
        <a:graphic>
          <a:graphicData uri="http://schemas.openxmlformats.org/drawingml/2006/chart">
            <c:chart xmlns:c="http://schemas.openxmlformats.org/drawingml/2006/chart" r:id="rId2"/>
          </a:graphicData>
        </a:graphic>
      </p:graphicFrame>
      <p:sp>
        <p:nvSpPr>
          <p:cNvPr id="19" name="method note"/>
          <p:cNvSpPr txBox="1"/>
          <p:nvPr/>
        </p:nvSpPr>
        <p:spPr>
          <a:xfrm>
            <a:off x="548640" y="5669280"/>
            <a:ext cx="11094415" cy="566928"/>
          </a:xfrm>
          <a:prstGeom prst="rect">
            <a:avLst/>
          </a:prstGeom>
          <a:noFill/>
        </p:spPr>
        <p:txBody>
          <a:bodyPr wrap="square" anchor="t" lIns="0" rIns="0" tIns="0" bIns="0">
            <a:noAutofit/>
          </a:bodyPr>
          <a:lstStyle/>
          <a:p>
            <a:pPr algn="l"/>
            <a:r>
              <a:rPr sz="1300" b="0" i="0">
                <a:solidFill>
                  <a:srgbClr val="5B6472"/>
                </a:solidFill>
                <a:latin typeface="Arial"/>
              </a:rPr>
              <a:t>Mirsad-Bench: 48 benign tasks (24 English, 24 Arabic), 68 tool calls, scripted agent; detector mode: rules-only. Latency: 1,000 calls, server in a separate process.</a:t>
            </a:r>
          </a:p>
        </p:txBody>
      </p:sp>
      <p:pic>
        <p:nvPicPr>
          <p:cNvPr id="20" name="Picture 19" descr="Mirsad logo"/>
          <p:cNvPicPr>
            <a:picLocks noChangeAspect="1"/>
          </p:cNvPicPr>
          <p:nvPr/>
        </p:nvPicPr>
        <p:blipFill>
          <a:blip r:embed="rId3"/>
          <a:stretch>
            <a:fillRect/>
          </a:stretch>
        </p:blipFill>
        <p:spPr>
          <a:xfrm>
            <a:off x="548640" y="6419088"/>
            <a:ext cx="219456" cy="219456"/>
          </a:xfrm>
          <a:prstGeom prst="rect">
            <a:avLst/>
          </a:prstGeom>
        </p:spPr>
      </p:pic>
      <p:sp>
        <p:nvSpPr>
          <p:cNvPr id="21" name="footer"/>
          <p:cNvSpPr txBox="1"/>
          <p:nvPr/>
        </p:nvSpPr>
        <p:spPr>
          <a:xfrm>
            <a:off x="859536" y="6437376"/>
            <a:ext cx="6400800" cy="219456"/>
          </a:xfrm>
          <a:prstGeom prst="rect">
            <a:avLst/>
          </a:prstGeom>
          <a:noFill/>
        </p:spPr>
        <p:txBody>
          <a:bodyPr wrap="square" anchor="t" lIns="0" rIns="0" tIns="0" bIns="0">
            <a:noAutofit/>
          </a:bodyPr>
          <a:lstStyle/>
          <a:p>
            <a:pPr algn="l"/>
            <a:r>
              <a:rPr sz="1000" b="0" i="0">
                <a:solidFill>
                  <a:srgbClr val="5B6472"/>
                </a:solidFill>
                <a:latin typeface="Arial"/>
              </a:rPr>
              <a:t>Mirsad </a:t>
            </a:r>
            <a:r>
              <a:rPr sz="1000" b="0" i="0" lang="ar-SA">
                <a:solidFill>
                  <a:srgbClr val="5B6472"/>
                </a:solidFill>
                <a:latin typeface="Arial"/>
                <a:cs typeface="Arial"/>
              </a:rPr>
              <a:t>مرصاد</a:t>
            </a:r>
            <a:r>
              <a:rPr sz="1000" b="0" i="0">
                <a:solidFill>
                  <a:srgbClr val="5B6472"/>
                </a:solidFill>
                <a:latin typeface="Arial"/>
              </a:rPr>
              <a:t>  ·  IS499 Senior Project  ·  Prince Sultan University</a:t>
            </a:r>
          </a:p>
        </p:txBody>
      </p:sp>
      <p:sp>
        <p:nvSpPr>
          <p:cNvPr id="22" name="slide number"/>
          <p:cNvSpPr txBox="1"/>
          <p:nvPr/>
        </p:nvSpPr>
        <p:spPr>
          <a:xfrm>
            <a:off x="10545775" y="6419088"/>
            <a:ext cx="1097280" cy="237744"/>
          </a:xfrm>
          <a:prstGeom prst="rect">
            <a:avLst/>
          </a:prstGeom>
          <a:noFill/>
        </p:spPr>
        <p:txBody>
          <a:bodyPr wrap="square" anchor="t" lIns="0" rIns="0" tIns="0" bIns="0">
            <a:noAutofit/>
          </a:bodyPr>
          <a:lstStyle/>
          <a:p>
            <a:pPr algn="r"/>
            <a:r>
              <a:rPr sz="1100" b="0" i="0">
                <a:solidFill>
                  <a:srgbClr val="5B6472"/>
                </a:solidFill>
                <a:latin typeface="Arial"/>
              </a:rP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11094415" cy="731520"/>
          </a:xfrm>
        </p:spPr>
        <p:txBody>
          <a:bodyPr wrap="square" anchor="t" lIns="0" rIns="0" tIns="0" bIns="0">
            <a:noAutofit/>
          </a:bodyPr>
          <a:lstStyle/>
          <a:p>
            <a:pPr algn="l"/>
            <a:r>
              <a:rPr sz="3000" b="1" i="0">
                <a:solidFill>
                  <a:srgbClr val="0B1F3A"/>
                </a:solidFill>
                <a:latin typeface="Arial"/>
              </a:rPr>
              <a:t>Objectives: what is met and what is pending</a:t>
            </a:r>
          </a:p>
        </p:txBody>
      </p:sp>
      <p:sp>
        <p:nvSpPr>
          <p:cNvPr id="3" name="kicker"/>
          <p:cNvSpPr txBox="1"/>
          <p:nvPr/>
        </p:nvSpPr>
        <p:spPr>
          <a:xfrm>
            <a:off x="548640" y="274320"/>
            <a:ext cx="7315200" cy="274320"/>
          </a:xfrm>
          <a:prstGeom prst="rect">
            <a:avLst/>
          </a:prstGeom>
          <a:noFill/>
        </p:spPr>
        <p:txBody>
          <a:bodyPr wrap="square" anchor="t" lIns="0" rIns="0" tIns="0" bIns="0">
            <a:noAutofit/>
          </a:bodyPr>
          <a:lstStyle/>
          <a:p>
            <a:pPr algn="l"/>
            <a:r>
              <a:rPr sz="1200" b="1" i="0" spc="150">
                <a:solidFill>
                  <a:srgbClr val="0F766E"/>
                </a:solidFill>
                <a:latin typeface="Arial"/>
              </a:rPr>
              <a:t>EVALUATION · SCORECARD</a:t>
            </a:r>
          </a:p>
        </p:txBody>
      </p:sp>
      <p:sp>
        <p:nvSpPr>
          <p:cNvPr id="4" name="col 0"/>
          <p:cNvSpPr txBox="1"/>
          <p:nvPr/>
        </p:nvSpPr>
        <p:spPr>
          <a:xfrm>
            <a:off x="548640" y="1554480"/>
            <a:ext cx="4206240" cy="365760"/>
          </a:xfrm>
          <a:prstGeom prst="rect">
            <a:avLst/>
          </a:prstGeom>
          <a:noFill/>
        </p:spPr>
        <p:txBody>
          <a:bodyPr wrap="square" anchor="t" lIns="0" rIns="0" tIns="0" bIns="0">
            <a:noAutofit/>
          </a:bodyPr>
          <a:lstStyle/>
          <a:p>
            <a:pPr algn="l"/>
            <a:r>
              <a:rPr sz="1200" b="1" i="0" spc="100">
                <a:solidFill>
                  <a:srgbClr val="5B6472"/>
                </a:solidFill>
                <a:latin typeface="Arial"/>
              </a:rPr>
              <a:t>TARGET (PROPOSAL)</a:t>
            </a:r>
          </a:p>
        </p:txBody>
      </p:sp>
      <p:sp>
        <p:nvSpPr>
          <p:cNvPr id="5" name="col 1"/>
          <p:cNvSpPr txBox="1"/>
          <p:nvPr/>
        </p:nvSpPr>
        <p:spPr>
          <a:xfrm>
            <a:off x="4754879" y="1554480"/>
            <a:ext cx="4846320" cy="365760"/>
          </a:xfrm>
          <a:prstGeom prst="rect">
            <a:avLst/>
          </a:prstGeom>
          <a:noFill/>
        </p:spPr>
        <p:txBody>
          <a:bodyPr wrap="square" anchor="t" lIns="0" rIns="0" tIns="0" bIns="0">
            <a:noAutofit/>
          </a:bodyPr>
          <a:lstStyle/>
          <a:p>
            <a:pPr algn="l"/>
            <a:r>
              <a:rPr sz="1200" b="1" i="0" spc="100">
                <a:solidFill>
                  <a:srgbClr val="5B6472"/>
                </a:solidFill>
                <a:latin typeface="Arial"/>
              </a:rPr>
              <a:t>RESULT</a:t>
            </a:r>
          </a:p>
        </p:txBody>
      </p:sp>
      <p:sp>
        <p:nvSpPr>
          <p:cNvPr id="6" name="col 2"/>
          <p:cNvSpPr txBox="1"/>
          <p:nvPr/>
        </p:nvSpPr>
        <p:spPr>
          <a:xfrm>
            <a:off x="9601199" y="1554480"/>
            <a:ext cx="2041855" cy="365760"/>
          </a:xfrm>
          <a:prstGeom prst="rect">
            <a:avLst/>
          </a:prstGeom>
          <a:noFill/>
        </p:spPr>
        <p:txBody>
          <a:bodyPr wrap="square" anchor="t" lIns="0" rIns="0" tIns="0" bIns="0">
            <a:noAutofit/>
          </a:bodyPr>
          <a:lstStyle/>
          <a:p>
            <a:pPr algn="ctr"/>
            <a:r>
              <a:rPr sz="1200" b="1" i="0" spc="100">
                <a:solidFill>
                  <a:srgbClr val="5B6472"/>
                </a:solidFill>
                <a:latin typeface="Arial"/>
              </a:rPr>
              <a:t>STATUS</a:t>
            </a:r>
          </a:p>
        </p:txBody>
      </p:sp>
      <p:sp>
        <p:nvSpPr>
          <p:cNvPr id="7" name="row rule"/>
          <p:cNvSpPr/>
          <p:nvPr/>
        </p:nvSpPr>
        <p:spPr>
          <a:xfrm>
            <a:off x="548640" y="1938528"/>
            <a:ext cx="11094415" cy="10972"/>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arget 0"/>
          <p:cNvSpPr txBox="1"/>
          <p:nvPr/>
        </p:nvSpPr>
        <p:spPr>
          <a:xfrm>
            <a:off x="548640" y="1938528"/>
            <a:ext cx="4114800" cy="548640"/>
          </a:xfrm>
          <a:prstGeom prst="rect">
            <a:avLst/>
          </a:prstGeom>
          <a:noFill/>
        </p:spPr>
        <p:txBody>
          <a:bodyPr wrap="square" anchor="ctr" lIns="0" rIns="0" tIns="0" bIns="0">
            <a:noAutofit/>
          </a:bodyPr>
          <a:lstStyle/>
          <a:p>
            <a:pPr algn="l"/>
            <a:r>
              <a:rPr sz="1800" b="1" i="0">
                <a:solidFill>
                  <a:srgbClr val="0B1F3A"/>
                </a:solidFill>
                <a:latin typeface="Arial"/>
              </a:rPr>
              <a:t>Median added latency ≤ 200 ms</a:t>
            </a:r>
          </a:p>
        </p:txBody>
      </p:sp>
      <p:sp>
        <p:nvSpPr>
          <p:cNvPr id="9" name="result 0"/>
          <p:cNvSpPr txBox="1"/>
          <p:nvPr/>
        </p:nvSpPr>
        <p:spPr>
          <a:xfrm>
            <a:off x="4754879" y="1938528"/>
            <a:ext cx="4754880" cy="548640"/>
          </a:xfrm>
          <a:prstGeom prst="rect">
            <a:avLst/>
          </a:prstGeom>
          <a:noFill/>
        </p:spPr>
        <p:txBody>
          <a:bodyPr wrap="square" anchor="ctr" lIns="0" rIns="0" tIns="0" bIns="0">
            <a:noAutofit/>
          </a:bodyPr>
          <a:lstStyle/>
          <a:p>
            <a:pPr algn="l"/>
            <a:r>
              <a:rPr sz="1800" b="0" i="0">
                <a:solidFill>
                  <a:srgbClr val="1F2937"/>
                </a:solidFill>
                <a:latin typeface="Arial"/>
              </a:rPr>
              <a:t>2.7 ms per call · 166 ms at 50 sessions</a:t>
            </a:r>
          </a:p>
        </p:txBody>
      </p:sp>
      <p:sp>
        <p:nvSpPr>
          <p:cNvPr id="10" name="chip Met"/>
          <p:cNvSpPr/>
          <p:nvPr/>
        </p:nvSpPr>
        <p:spPr>
          <a:xfrm>
            <a:off x="9936327" y="2039112"/>
            <a:ext cx="1371600" cy="347472"/>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Arial"/>
              </a:rPr>
              <a:t>Met</a:t>
            </a:r>
          </a:p>
        </p:txBody>
      </p:sp>
      <p:sp>
        <p:nvSpPr>
          <p:cNvPr id="11" name="row rule"/>
          <p:cNvSpPr/>
          <p:nvPr/>
        </p:nvSpPr>
        <p:spPr>
          <a:xfrm>
            <a:off x="548640" y="2487168"/>
            <a:ext cx="11094415" cy="10972"/>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arget 1"/>
          <p:cNvSpPr txBox="1"/>
          <p:nvPr/>
        </p:nvSpPr>
        <p:spPr>
          <a:xfrm>
            <a:off x="548640" y="2487168"/>
            <a:ext cx="4114800" cy="548640"/>
          </a:xfrm>
          <a:prstGeom prst="rect">
            <a:avLst/>
          </a:prstGeom>
          <a:noFill/>
        </p:spPr>
        <p:txBody>
          <a:bodyPr wrap="square" anchor="ctr" lIns="0" rIns="0" tIns="0" bIns="0">
            <a:noAutofit/>
          </a:bodyPr>
          <a:lstStyle/>
          <a:p>
            <a:pPr algn="l"/>
            <a:r>
              <a:rPr sz="1800" b="1" i="0">
                <a:solidFill>
                  <a:srgbClr val="0B1F3A"/>
                </a:solidFill>
                <a:latin typeface="Arial"/>
              </a:rPr>
              <a:t>Benign actions blocked ≤ 5%</a:t>
            </a:r>
          </a:p>
        </p:txBody>
      </p:sp>
      <p:sp>
        <p:nvSpPr>
          <p:cNvPr id="13" name="result 1"/>
          <p:cNvSpPr txBox="1"/>
          <p:nvPr/>
        </p:nvSpPr>
        <p:spPr>
          <a:xfrm>
            <a:off x="4754879" y="2487168"/>
            <a:ext cx="4754880" cy="548640"/>
          </a:xfrm>
          <a:prstGeom prst="rect">
            <a:avLst/>
          </a:prstGeom>
          <a:noFill/>
        </p:spPr>
        <p:txBody>
          <a:bodyPr wrap="square" anchor="ctr" lIns="0" rIns="0" tIns="0" bIns="0">
            <a:noAutofit/>
          </a:bodyPr>
          <a:lstStyle/>
          <a:p>
            <a:pPr algn="l"/>
            <a:r>
              <a:rPr sz="1800" b="0" i="0">
                <a:solidFill>
                  <a:srgbClr val="1F2937"/>
                </a:solidFill>
                <a:latin typeface="Arial"/>
              </a:rPr>
              <a:t>0.0% of 68 benign calls</a:t>
            </a:r>
          </a:p>
        </p:txBody>
      </p:sp>
      <p:sp>
        <p:nvSpPr>
          <p:cNvPr id="14" name="chip Met"/>
          <p:cNvSpPr/>
          <p:nvPr/>
        </p:nvSpPr>
        <p:spPr>
          <a:xfrm>
            <a:off x="9936327" y="2587752"/>
            <a:ext cx="1371600" cy="347472"/>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Arial"/>
              </a:rPr>
              <a:t>Met</a:t>
            </a:r>
          </a:p>
        </p:txBody>
      </p:sp>
      <p:sp>
        <p:nvSpPr>
          <p:cNvPr id="15" name="row rule"/>
          <p:cNvSpPr/>
          <p:nvPr/>
        </p:nvSpPr>
        <p:spPr>
          <a:xfrm>
            <a:off x="548640" y="3035808"/>
            <a:ext cx="11094415" cy="10972"/>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arget 2"/>
          <p:cNvSpPr txBox="1"/>
          <p:nvPr/>
        </p:nvSpPr>
        <p:spPr>
          <a:xfrm>
            <a:off x="548640" y="3035808"/>
            <a:ext cx="4114800" cy="548640"/>
          </a:xfrm>
          <a:prstGeom prst="rect">
            <a:avLst/>
          </a:prstGeom>
          <a:noFill/>
        </p:spPr>
        <p:txBody>
          <a:bodyPr wrap="square" anchor="ctr" lIns="0" rIns="0" tIns="0" bIns="0">
            <a:noAutofit/>
          </a:bodyPr>
          <a:lstStyle/>
          <a:p>
            <a:pPr algn="l"/>
            <a:r>
              <a:rPr sz="1800" b="1" i="0">
                <a:solidFill>
                  <a:srgbClr val="0B1F3A"/>
                </a:solidFill>
                <a:latin typeface="Arial"/>
              </a:rPr>
              <a:t>Every decision replayable</a:t>
            </a:r>
          </a:p>
        </p:txBody>
      </p:sp>
      <p:sp>
        <p:nvSpPr>
          <p:cNvPr id="17" name="result 2"/>
          <p:cNvSpPr txBox="1"/>
          <p:nvPr/>
        </p:nvSpPr>
        <p:spPr>
          <a:xfrm>
            <a:off x="4754879" y="3035808"/>
            <a:ext cx="4754880" cy="548640"/>
          </a:xfrm>
          <a:prstGeom prst="rect">
            <a:avLst/>
          </a:prstGeom>
          <a:noFill/>
        </p:spPr>
        <p:txBody>
          <a:bodyPr wrap="square" anchor="ctr" lIns="0" rIns="0" tIns="0" bIns="0">
            <a:noAutofit/>
          </a:bodyPr>
          <a:lstStyle/>
          <a:p>
            <a:pPr algn="l"/>
            <a:r>
              <a:rPr sz="1800" b="0" i="0">
                <a:solidFill>
                  <a:srgbClr val="1F2937"/>
                </a:solidFill>
                <a:latin typeface="Arial"/>
              </a:rPr>
              <a:t>550 / 550 replayed identically</a:t>
            </a:r>
          </a:p>
        </p:txBody>
      </p:sp>
      <p:sp>
        <p:nvSpPr>
          <p:cNvPr id="18" name="chip Met"/>
          <p:cNvSpPr/>
          <p:nvPr/>
        </p:nvSpPr>
        <p:spPr>
          <a:xfrm>
            <a:off x="9936327" y="3136392"/>
            <a:ext cx="1371600" cy="347472"/>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Arial"/>
              </a:rPr>
              <a:t>Met</a:t>
            </a:r>
          </a:p>
        </p:txBody>
      </p:sp>
      <p:sp>
        <p:nvSpPr>
          <p:cNvPr id="19" name="row rule"/>
          <p:cNvSpPr/>
          <p:nvPr/>
        </p:nvSpPr>
        <p:spPr>
          <a:xfrm>
            <a:off x="548640" y="3584448"/>
            <a:ext cx="11094415" cy="10972"/>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rget 3"/>
          <p:cNvSpPr txBox="1"/>
          <p:nvPr/>
        </p:nvSpPr>
        <p:spPr>
          <a:xfrm>
            <a:off x="548640" y="3584448"/>
            <a:ext cx="4114800" cy="548640"/>
          </a:xfrm>
          <a:prstGeom prst="rect">
            <a:avLst/>
          </a:prstGeom>
          <a:noFill/>
        </p:spPr>
        <p:txBody>
          <a:bodyPr wrap="square" anchor="ctr" lIns="0" rIns="0" tIns="0" bIns="0">
            <a:noAutofit/>
          </a:bodyPr>
          <a:lstStyle/>
          <a:p>
            <a:pPr algn="l"/>
            <a:r>
              <a:rPr sz="1800" b="1" i="0">
                <a:solidFill>
                  <a:srgbClr val="0B1F3A"/>
                </a:solidFill>
                <a:latin typeface="Arial"/>
              </a:rPr>
              <a:t>Statement coverage ≥ 80%</a:t>
            </a:r>
          </a:p>
        </p:txBody>
      </p:sp>
      <p:sp>
        <p:nvSpPr>
          <p:cNvPr id="21" name="result 3"/>
          <p:cNvSpPr txBox="1"/>
          <p:nvPr/>
        </p:nvSpPr>
        <p:spPr>
          <a:xfrm>
            <a:off x="4754879" y="3584448"/>
            <a:ext cx="4754880" cy="548640"/>
          </a:xfrm>
          <a:prstGeom prst="rect">
            <a:avLst/>
          </a:prstGeom>
          <a:noFill/>
        </p:spPr>
        <p:txBody>
          <a:bodyPr wrap="square" anchor="ctr" lIns="0" rIns="0" tIns="0" bIns="0">
            <a:noAutofit/>
          </a:bodyPr>
          <a:lstStyle/>
          <a:p>
            <a:pPr algn="l"/>
            <a:r>
              <a:rPr sz="1800" b="0" i="0">
                <a:solidFill>
                  <a:srgbClr val="1F2937"/>
                </a:solidFill>
                <a:latin typeface="Arial"/>
              </a:rPr>
              <a:t>94.4%</a:t>
            </a:r>
          </a:p>
        </p:txBody>
      </p:sp>
      <p:sp>
        <p:nvSpPr>
          <p:cNvPr id="22" name="chip Met"/>
          <p:cNvSpPr/>
          <p:nvPr/>
        </p:nvSpPr>
        <p:spPr>
          <a:xfrm>
            <a:off x="9936327" y="3685032"/>
            <a:ext cx="1371600" cy="347472"/>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Arial"/>
              </a:rPr>
              <a:t>Met</a:t>
            </a:r>
          </a:p>
        </p:txBody>
      </p:sp>
      <p:sp>
        <p:nvSpPr>
          <p:cNvPr id="23" name="row rule"/>
          <p:cNvSpPr/>
          <p:nvPr/>
        </p:nvSpPr>
        <p:spPr>
          <a:xfrm>
            <a:off x="548640" y="4133087"/>
            <a:ext cx="11094415" cy="10972"/>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arget 4"/>
          <p:cNvSpPr txBox="1"/>
          <p:nvPr/>
        </p:nvSpPr>
        <p:spPr>
          <a:xfrm>
            <a:off x="548640" y="4133087"/>
            <a:ext cx="4114800" cy="548640"/>
          </a:xfrm>
          <a:prstGeom prst="rect">
            <a:avLst/>
          </a:prstGeom>
          <a:noFill/>
        </p:spPr>
        <p:txBody>
          <a:bodyPr wrap="square" anchor="ctr" lIns="0" rIns="0" tIns="0" bIns="0">
            <a:noAutofit/>
          </a:bodyPr>
          <a:lstStyle/>
          <a:p>
            <a:pPr algn="l"/>
            <a:r>
              <a:rPr sz="1800" b="1" i="0">
                <a:solidFill>
                  <a:srgbClr val="0B1F3A"/>
                </a:solidFill>
                <a:latin typeface="Arial"/>
              </a:rPr>
              <a:t>Detector F1 ≥ 0.85 (Arabic, English)</a:t>
            </a:r>
          </a:p>
        </p:txBody>
      </p:sp>
      <p:sp>
        <p:nvSpPr>
          <p:cNvPr id="25" name="result 4"/>
          <p:cNvSpPr txBox="1"/>
          <p:nvPr/>
        </p:nvSpPr>
        <p:spPr>
          <a:xfrm>
            <a:off x="4754879" y="4133087"/>
            <a:ext cx="4754880" cy="548640"/>
          </a:xfrm>
          <a:prstGeom prst="rect">
            <a:avLst/>
          </a:prstGeom>
          <a:noFill/>
        </p:spPr>
        <p:txBody>
          <a:bodyPr wrap="square" anchor="ctr" lIns="0" rIns="0" tIns="0" bIns="0">
            <a:noAutofit/>
          </a:bodyPr>
          <a:lstStyle/>
          <a:p>
            <a:pPr algn="l"/>
            <a:r>
              <a:rPr sz="1800" b="0" i="0">
                <a:solidFill>
                  <a:srgbClr val="1F2937"/>
                </a:solidFill>
                <a:latin typeface="Arial"/>
              </a:rPr>
              <a:t>AR pending · EN pending</a:t>
            </a:r>
          </a:p>
        </p:txBody>
      </p:sp>
      <p:sp>
        <p:nvSpPr>
          <p:cNvPr id="26" name="chip Pending"/>
          <p:cNvSpPr/>
          <p:nvPr/>
        </p:nvSpPr>
        <p:spPr>
          <a:xfrm>
            <a:off x="9936327" y="4233672"/>
            <a:ext cx="1371600" cy="347472"/>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92400E"/>
                </a:solidFill>
                <a:latin typeface="Arial"/>
              </a:rPr>
              <a:t>Pending</a:t>
            </a:r>
          </a:p>
        </p:txBody>
      </p:sp>
      <p:sp>
        <p:nvSpPr>
          <p:cNvPr id="27" name="row rule"/>
          <p:cNvSpPr/>
          <p:nvPr/>
        </p:nvSpPr>
        <p:spPr>
          <a:xfrm>
            <a:off x="548640" y="4681728"/>
            <a:ext cx="11094415" cy="10972"/>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arget 5"/>
          <p:cNvSpPr txBox="1"/>
          <p:nvPr/>
        </p:nvSpPr>
        <p:spPr>
          <a:xfrm>
            <a:off x="548640" y="4681728"/>
            <a:ext cx="4114800" cy="548640"/>
          </a:xfrm>
          <a:prstGeom prst="rect">
            <a:avLst/>
          </a:prstGeom>
          <a:noFill/>
        </p:spPr>
        <p:txBody>
          <a:bodyPr wrap="square" anchor="ctr" lIns="0" rIns="0" tIns="0" bIns="0">
            <a:noAutofit/>
          </a:bodyPr>
          <a:lstStyle/>
          <a:p>
            <a:pPr algn="l"/>
            <a:r>
              <a:rPr sz="1800" b="1" i="0">
                <a:solidFill>
                  <a:srgbClr val="0B1F3A"/>
                </a:solidFill>
                <a:latin typeface="Arial"/>
              </a:rPr>
              <a:t>Attack success reduced ≥ 80%</a:t>
            </a:r>
          </a:p>
        </p:txBody>
      </p:sp>
      <p:sp>
        <p:nvSpPr>
          <p:cNvPr id="29" name="result 5"/>
          <p:cNvSpPr txBox="1"/>
          <p:nvPr/>
        </p:nvSpPr>
        <p:spPr>
          <a:xfrm>
            <a:off x="4754879" y="4681728"/>
            <a:ext cx="4754880" cy="548640"/>
          </a:xfrm>
          <a:prstGeom prst="rect">
            <a:avLst/>
          </a:prstGeom>
          <a:noFill/>
        </p:spPr>
        <p:txBody>
          <a:bodyPr wrap="square" anchor="ctr" lIns="0" rIns="0" tIns="0" bIns="0">
            <a:noAutofit/>
          </a:bodyPr>
          <a:lstStyle/>
          <a:p>
            <a:pPr algn="l"/>
            <a:r>
              <a:rPr sz="1800" b="0" i="0">
                <a:solidFill>
                  <a:srgbClr val="1F2937"/>
                </a:solidFill>
                <a:latin typeface="Arial"/>
              </a:rPr>
              <a:t>pending</a:t>
            </a:r>
          </a:p>
        </p:txBody>
      </p:sp>
      <p:sp>
        <p:nvSpPr>
          <p:cNvPr id="30" name="chip Pending"/>
          <p:cNvSpPr/>
          <p:nvPr/>
        </p:nvSpPr>
        <p:spPr>
          <a:xfrm>
            <a:off x="9936327" y="4782312"/>
            <a:ext cx="1371600" cy="347472"/>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92400E"/>
                </a:solidFill>
                <a:latin typeface="Arial"/>
              </a:rPr>
              <a:t>Pending</a:t>
            </a:r>
          </a:p>
        </p:txBody>
      </p:sp>
      <p:sp>
        <p:nvSpPr>
          <p:cNvPr id="31" name="pending note box"/>
          <p:cNvSpPr/>
          <p:nvPr/>
        </p:nvSpPr>
        <p:spPr>
          <a:xfrm>
            <a:off x="548640" y="5458968"/>
            <a:ext cx="11094415" cy="868680"/>
          </a:xfrm>
          <a:prstGeom prst="roundRect">
            <a:avLst>
              <a:gd name="adj" fmla="val 14736"/>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pending note"/>
          <p:cNvSpPr txBox="1"/>
          <p:nvPr/>
        </p:nvSpPr>
        <p:spPr>
          <a:xfrm>
            <a:off x="868680" y="5458968"/>
            <a:ext cx="10454335" cy="868680"/>
          </a:xfrm>
          <a:prstGeom prst="rect">
            <a:avLst/>
          </a:prstGeom>
          <a:noFill/>
        </p:spPr>
        <p:txBody>
          <a:bodyPr wrap="square" anchor="ctr" lIns="0" rIns="0" tIns="0" bIns="0">
            <a:noAutofit/>
          </a:bodyPr>
          <a:lstStyle/>
          <a:p>
            <a:pPr algn="l"/>
            <a:r>
              <a:rPr sz="1600" b="1" i="0">
                <a:solidFill>
                  <a:srgbClr val="92400E"/>
                </a:solidFill>
                <a:latin typeface="Arial"/>
              </a:rPr>
              <a:t>Why pending: </a:t>
            </a:r>
            <a:r>
              <a:rPr sz="1600" b="0" i="0">
                <a:solidFill>
                  <a:srgbClr val="92400E"/>
                </a:solidFill>
                <a:latin typeface="Arial"/>
              </a:rPr>
              <a:t>F1 and attack success need attack-labelled data written by the team. </a:t>
            </a:r>
            <a:r>
              <a:rPr sz="1500" b="0" i="0">
                <a:solidFill>
                  <a:srgbClr val="92400E"/>
                </a:solidFill>
                <a:latin typeface="Courier New"/>
              </a:rPr>
              <a:t>make detector</a:t>
            </a:r>
            <a:r>
              <a:rPr sz="1600" b="0" i="0">
                <a:solidFill>
                  <a:srgbClr val="92400E"/>
                </a:solidFill>
                <a:latin typeface="Arial"/>
              </a:rPr>
              <a:t> and the benchmark's attack episodes produce them; this slide updates from the result files.</a:t>
            </a:r>
          </a:p>
        </p:txBody>
      </p:sp>
      <p:pic>
        <p:nvPicPr>
          <p:cNvPr id="33" name="Picture 32" descr="Mirsad logo"/>
          <p:cNvPicPr>
            <a:picLocks noChangeAspect="1"/>
          </p:cNvPicPr>
          <p:nvPr/>
        </p:nvPicPr>
        <p:blipFill>
          <a:blip r:embed="rId2"/>
          <a:stretch>
            <a:fillRect/>
          </a:stretch>
        </p:blipFill>
        <p:spPr>
          <a:xfrm>
            <a:off x="548640" y="6419088"/>
            <a:ext cx="219456" cy="219456"/>
          </a:xfrm>
          <a:prstGeom prst="rect">
            <a:avLst/>
          </a:prstGeom>
        </p:spPr>
      </p:pic>
      <p:sp>
        <p:nvSpPr>
          <p:cNvPr id="34" name="footer"/>
          <p:cNvSpPr txBox="1"/>
          <p:nvPr/>
        </p:nvSpPr>
        <p:spPr>
          <a:xfrm>
            <a:off x="859536" y="6437376"/>
            <a:ext cx="6400800" cy="219456"/>
          </a:xfrm>
          <a:prstGeom prst="rect">
            <a:avLst/>
          </a:prstGeom>
          <a:noFill/>
        </p:spPr>
        <p:txBody>
          <a:bodyPr wrap="square" anchor="t" lIns="0" rIns="0" tIns="0" bIns="0">
            <a:noAutofit/>
          </a:bodyPr>
          <a:lstStyle/>
          <a:p>
            <a:pPr algn="l"/>
            <a:r>
              <a:rPr sz="1000" b="0" i="0">
                <a:solidFill>
                  <a:srgbClr val="5B6472"/>
                </a:solidFill>
                <a:latin typeface="Arial"/>
              </a:rPr>
              <a:t>Mirsad </a:t>
            </a:r>
            <a:r>
              <a:rPr sz="1000" b="0" i="0" lang="ar-SA">
                <a:solidFill>
                  <a:srgbClr val="5B6472"/>
                </a:solidFill>
                <a:latin typeface="Arial"/>
                <a:cs typeface="Arial"/>
              </a:rPr>
              <a:t>مرصاد</a:t>
            </a:r>
            <a:r>
              <a:rPr sz="1000" b="0" i="0">
                <a:solidFill>
                  <a:srgbClr val="5B6472"/>
                </a:solidFill>
                <a:latin typeface="Arial"/>
              </a:rPr>
              <a:t>  ·  IS499 Senior Project  ·  Prince Sultan University</a:t>
            </a:r>
          </a:p>
        </p:txBody>
      </p:sp>
      <p:sp>
        <p:nvSpPr>
          <p:cNvPr id="35" name="slide number"/>
          <p:cNvSpPr txBox="1"/>
          <p:nvPr/>
        </p:nvSpPr>
        <p:spPr>
          <a:xfrm>
            <a:off x="10545775" y="6419088"/>
            <a:ext cx="1097280" cy="237744"/>
          </a:xfrm>
          <a:prstGeom prst="rect">
            <a:avLst/>
          </a:prstGeom>
          <a:noFill/>
        </p:spPr>
        <p:txBody>
          <a:bodyPr wrap="square" anchor="t" lIns="0" rIns="0" tIns="0" bIns="0">
            <a:noAutofit/>
          </a:bodyPr>
          <a:lstStyle/>
          <a:p>
            <a:pPr algn="r"/>
            <a:r>
              <a:rPr sz="1100" b="0" i="0">
                <a:solidFill>
                  <a:srgbClr val="5B6472"/>
                </a:solidFill>
                <a:latin typeface="Arial"/>
              </a:rP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11094415" cy="731520"/>
          </a:xfrm>
        </p:spPr>
        <p:txBody>
          <a:bodyPr wrap="square" anchor="t" lIns="0" rIns="0" tIns="0" bIns="0">
            <a:noAutofit/>
          </a:bodyPr>
          <a:lstStyle/>
          <a:p>
            <a:pPr algn="l"/>
            <a:r>
              <a:rPr sz="3000" b="1" i="0">
                <a:solidFill>
                  <a:srgbClr val="0B1F3A"/>
                </a:solidFill>
                <a:latin typeface="Arial"/>
              </a:rPr>
              <a:t>Live demo: one request, with and without Mirsad</a:t>
            </a:r>
          </a:p>
        </p:txBody>
      </p:sp>
      <p:sp>
        <p:nvSpPr>
          <p:cNvPr id="3" name="kicker"/>
          <p:cNvSpPr txBox="1"/>
          <p:nvPr/>
        </p:nvSpPr>
        <p:spPr>
          <a:xfrm>
            <a:off x="548640" y="274320"/>
            <a:ext cx="7315200" cy="274320"/>
          </a:xfrm>
          <a:prstGeom prst="rect">
            <a:avLst/>
          </a:prstGeom>
          <a:noFill/>
        </p:spPr>
        <p:txBody>
          <a:bodyPr wrap="square" anchor="t" lIns="0" rIns="0" tIns="0" bIns="0">
            <a:noAutofit/>
          </a:bodyPr>
          <a:lstStyle/>
          <a:p>
            <a:pPr algn="l"/>
            <a:r>
              <a:rPr sz="1200" b="1" i="0" spc="150">
                <a:solidFill>
                  <a:srgbClr val="0F766E"/>
                </a:solidFill>
                <a:latin typeface="Arial"/>
              </a:rPr>
              <a:t>DEMONSTRATION · PLAN</a:t>
            </a:r>
          </a:p>
        </p:txBody>
      </p:sp>
      <p:sp>
        <p:nvSpPr>
          <p:cNvPr id="4" name="timeline"/>
          <p:cNvSpPr/>
          <p:nvPr/>
        </p:nvSpPr>
        <p:spPr>
          <a:xfrm>
            <a:off x="1566641" y="1947672"/>
            <a:ext cx="9058412" cy="36576"/>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adge"/>
          <p:cNvSpPr/>
          <p:nvPr/>
        </p:nvSpPr>
        <p:spPr>
          <a:xfrm>
            <a:off x="1255745" y="1655063"/>
            <a:ext cx="621792" cy="62179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i="0">
                <a:solidFill>
                  <a:srgbClr val="FFFFFF"/>
                </a:solidFill>
                <a:latin typeface="Arial"/>
              </a:rPr>
              <a:t>1</a:t>
            </a:r>
          </a:p>
        </p:txBody>
      </p:sp>
      <p:sp>
        <p:nvSpPr>
          <p:cNvPr id="6" name="demo card 1"/>
          <p:cNvSpPr/>
          <p:nvPr/>
        </p:nvSpPr>
        <p:spPr>
          <a:xfrm>
            <a:off x="548640" y="2514600"/>
            <a:ext cx="2036003" cy="2331720"/>
          </a:xfrm>
          <a:prstGeom prst="roundRect">
            <a:avLst>
              <a:gd name="adj" fmla="val 7185"/>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demo head 1"/>
          <p:cNvSpPr txBox="1"/>
          <p:nvPr/>
        </p:nvSpPr>
        <p:spPr>
          <a:xfrm>
            <a:off x="749808" y="2670048"/>
            <a:ext cx="1633667" cy="411480"/>
          </a:xfrm>
          <a:prstGeom prst="rect">
            <a:avLst/>
          </a:prstGeom>
          <a:noFill/>
        </p:spPr>
        <p:txBody>
          <a:bodyPr wrap="square" anchor="t" lIns="0" rIns="0" tIns="0" bIns="0">
            <a:noAutofit/>
          </a:bodyPr>
          <a:lstStyle/>
          <a:p>
            <a:pPr algn="l"/>
            <a:r>
              <a:rPr sz="1900" b="1" i="0">
                <a:solidFill>
                  <a:srgbClr val="0B1F3A"/>
                </a:solidFill>
                <a:latin typeface="Arial"/>
              </a:rPr>
              <a:t>Unprotected</a:t>
            </a:r>
          </a:p>
        </p:txBody>
      </p:sp>
      <p:sp>
        <p:nvSpPr>
          <p:cNvPr id="8" name="demo body 1"/>
          <p:cNvSpPr txBox="1"/>
          <p:nvPr/>
        </p:nvSpPr>
        <p:spPr>
          <a:xfrm>
            <a:off x="749808" y="3127248"/>
            <a:ext cx="1633667" cy="1234440"/>
          </a:xfrm>
          <a:prstGeom prst="rect">
            <a:avLst/>
          </a:prstGeom>
          <a:noFill/>
        </p:spPr>
        <p:txBody>
          <a:bodyPr wrap="square" anchor="t" lIns="0" rIns="0" tIns="0" bIns="0">
            <a:noAutofit/>
          </a:bodyPr>
          <a:lstStyle/>
          <a:p>
            <a:pPr algn="l"/>
            <a:r>
              <a:rPr sz="1600" b="0" i="0">
                <a:solidFill>
                  <a:srgbClr val="1F2937"/>
                </a:solidFill>
                <a:latin typeface="Arial"/>
              </a:rPr>
              <a:t>CV with hidden instructions; the agent may delete a customer</a:t>
            </a:r>
          </a:p>
        </p:txBody>
      </p:sp>
      <p:sp>
        <p:nvSpPr>
          <p:cNvPr id="9" name="demo who 1"/>
          <p:cNvSpPr txBox="1"/>
          <p:nvPr/>
        </p:nvSpPr>
        <p:spPr>
          <a:xfrm>
            <a:off x="749808" y="4407408"/>
            <a:ext cx="1633667" cy="384048"/>
          </a:xfrm>
          <a:prstGeom prst="rect">
            <a:avLst/>
          </a:prstGeom>
          <a:noFill/>
        </p:spPr>
        <p:txBody>
          <a:bodyPr wrap="square" anchor="t" lIns="0" rIns="0" tIns="0" bIns="0">
            <a:noAutofit/>
          </a:bodyPr>
          <a:lstStyle/>
          <a:p>
            <a:pPr algn="l"/>
            <a:r>
              <a:rPr sz="1100" b="0" i="0">
                <a:solidFill>
                  <a:srgbClr val="5B6472"/>
                </a:solidFill>
                <a:latin typeface="Arial"/>
              </a:rPr>
              <a:t>Abdulmalik</a:t>
            </a:r>
          </a:p>
        </p:txBody>
      </p:sp>
      <p:sp>
        <p:nvSpPr>
          <p:cNvPr id="10" name="badge"/>
          <p:cNvSpPr/>
          <p:nvPr/>
        </p:nvSpPr>
        <p:spPr>
          <a:xfrm>
            <a:off x="3520348" y="1655063"/>
            <a:ext cx="621792" cy="621792"/>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i="0">
                <a:solidFill>
                  <a:srgbClr val="FFFFFF"/>
                </a:solidFill>
                <a:latin typeface="Arial"/>
              </a:rPr>
              <a:t>2</a:t>
            </a:r>
          </a:p>
        </p:txBody>
      </p:sp>
      <p:sp>
        <p:nvSpPr>
          <p:cNvPr id="11" name="demo card 2"/>
          <p:cNvSpPr/>
          <p:nvPr/>
        </p:nvSpPr>
        <p:spPr>
          <a:xfrm>
            <a:off x="2813243" y="2514600"/>
            <a:ext cx="2036003" cy="2331720"/>
          </a:xfrm>
          <a:prstGeom prst="roundRect">
            <a:avLst>
              <a:gd name="adj" fmla="val 7185"/>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demo head 2"/>
          <p:cNvSpPr txBox="1"/>
          <p:nvPr/>
        </p:nvSpPr>
        <p:spPr>
          <a:xfrm>
            <a:off x="3014411" y="2670048"/>
            <a:ext cx="1633667" cy="411480"/>
          </a:xfrm>
          <a:prstGeom prst="rect">
            <a:avLst/>
          </a:prstGeom>
          <a:noFill/>
        </p:spPr>
        <p:txBody>
          <a:bodyPr wrap="square" anchor="t" lIns="0" rIns="0" tIns="0" bIns="0">
            <a:noAutofit/>
          </a:bodyPr>
          <a:lstStyle/>
          <a:p>
            <a:pPr algn="l"/>
            <a:r>
              <a:rPr sz="1900" b="1" i="0">
                <a:solidFill>
                  <a:srgbClr val="0B1F3A"/>
                </a:solidFill>
                <a:latin typeface="Arial"/>
              </a:rPr>
              <a:t>Protected</a:t>
            </a:r>
          </a:p>
        </p:txBody>
      </p:sp>
      <p:sp>
        <p:nvSpPr>
          <p:cNvPr id="13" name="demo body 2"/>
          <p:cNvSpPr txBox="1"/>
          <p:nvPr/>
        </p:nvSpPr>
        <p:spPr>
          <a:xfrm>
            <a:off x="3014411" y="3127248"/>
            <a:ext cx="1633667" cy="1234440"/>
          </a:xfrm>
          <a:prstGeom prst="rect">
            <a:avLst/>
          </a:prstGeom>
          <a:noFill/>
        </p:spPr>
        <p:txBody>
          <a:bodyPr wrap="square" anchor="t" lIns="0" rIns="0" tIns="0" bIns="0">
            <a:noAutofit/>
          </a:bodyPr>
          <a:lstStyle/>
          <a:p>
            <a:pPr algn="l"/>
            <a:r>
              <a:rPr sz="1600" b="0" i="0">
                <a:solidFill>
                  <a:srgbClr val="1F2937"/>
                </a:solidFill>
                <a:latin typeface="Arial"/>
              </a:rPr>
              <a:t>Same request: the deletion waits; Deny on the phone</a:t>
            </a:r>
          </a:p>
        </p:txBody>
      </p:sp>
      <p:sp>
        <p:nvSpPr>
          <p:cNvPr id="14" name="demo who 2"/>
          <p:cNvSpPr txBox="1"/>
          <p:nvPr/>
        </p:nvSpPr>
        <p:spPr>
          <a:xfrm>
            <a:off x="3014411" y="4407408"/>
            <a:ext cx="1633667" cy="384048"/>
          </a:xfrm>
          <a:prstGeom prst="rect">
            <a:avLst/>
          </a:prstGeom>
          <a:noFill/>
        </p:spPr>
        <p:txBody>
          <a:bodyPr wrap="square" anchor="t" lIns="0" rIns="0" tIns="0" bIns="0">
            <a:noAutofit/>
          </a:bodyPr>
          <a:lstStyle/>
          <a:p>
            <a:pPr algn="l"/>
            <a:r>
              <a:rPr sz="1100" b="0" i="0">
                <a:solidFill>
                  <a:srgbClr val="5B6472"/>
                </a:solidFill>
                <a:latin typeface="Arial"/>
              </a:rPr>
              <a:t>Abdulmalik, Mohammed</a:t>
            </a:r>
          </a:p>
        </p:txBody>
      </p:sp>
      <p:sp>
        <p:nvSpPr>
          <p:cNvPr id="15" name="badge"/>
          <p:cNvSpPr/>
          <p:nvPr/>
        </p:nvSpPr>
        <p:spPr>
          <a:xfrm>
            <a:off x="5784951" y="1655063"/>
            <a:ext cx="621792" cy="621792"/>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i="0">
                <a:solidFill>
                  <a:srgbClr val="FFFFFF"/>
                </a:solidFill>
                <a:latin typeface="Arial"/>
              </a:rPr>
              <a:t>3</a:t>
            </a:r>
          </a:p>
        </p:txBody>
      </p:sp>
      <p:sp>
        <p:nvSpPr>
          <p:cNvPr id="16" name="demo card 3"/>
          <p:cNvSpPr/>
          <p:nvPr/>
        </p:nvSpPr>
        <p:spPr>
          <a:xfrm>
            <a:off x="5077846" y="2514600"/>
            <a:ext cx="2036003" cy="2331720"/>
          </a:xfrm>
          <a:prstGeom prst="roundRect">
            <a:avLst>
              <a:gd name="adj" fmla="val 7185"/>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emo head 3"/>
          <p:cNvSpPr txBox="1"/>
          <p:nvPr/>
        </p:nvSpPr>
        <p:spPr>
          <a:xfrm>
            <a:off x="5279014" y="2670048"/>
            <a:ext cx="1633667" cy="411480"/>
          </a:xfrm>
          <a:prstGeom prst="rect">
            <a:avLst/>
          </a:prstGeom>
          <a:noFill/>
        </p:spPr>
        <p:txBody>
          <a:bodyPr wrap="square" anchor="t" lIns="0" rIns="0" tIns="0" bIns="0">
            <a:noAutofit/>
          </a:bodyPr>
          <a:lstStyle/>
          <a:p>
            <a:pPr algn="l"/>
            <a:r>
              <a:rPr sz="1900" b="1" i="0">
                <a:solidFill>
                  <a:srgbClr val="0B1F3A"/>
                </a:solidFill>
                <a:latin typeface="Arial"/>
              </a:rPr>
              <a:t>Audit</a:t>
            </a:r>
          </a:p>
        </p:txBody>
      </p:sp>
      <p:sp>
        <p:nvSpPr>
          <p:cNvPr id="18" name="demo body 3"/>
          <p:cNvSpPr txBox="1"/>
          <p:nvPr/>
        </p:nvSpPr>
        <p:spPr>
          <a:xfrm>
            <a:off x="5279014" y="3127248"/>
            <a:ext cx="1633667" cy="1234440"/>
          </a:xfrm>
          <a:prstGeom prst="rect">
            <a:avLst/>
          </a:prstGeom>
          <a:noFill/>
        </p:spPr>
        <p:txBody>
          <a:bodyPr wrap="square" anchor="t" lIns="0" rIns="0" tIns="0" bIns="0">
            <a:noAutofit/>
          </a:bodyPr>
          <a:lstStyle/>
          <a:p>
            <a:pPr algn="l"/>
            <a:r>
              <a:rPr sz="1600" b="0" i="0">
                <a:solidFill>
                  <a:srgbClr val="1F2937"/>
                </a:solidFill>
                <a:latin typeface="Arial"/>
              </a:rPr>
              <a:t>Verify the hash chain; replay the decision</a:t>
            </a:r>
          </a:p>
        </p:txBody>
      </p:sp>
      <p:sp>
        <p:nvSpPr>
          <p:cNvPr id="19" name="demo who 3"/>
          <p:cNvSpPr txBox="1"/>
          <p:nvPr/>
        </p:nvSpPr>
        <p:spPr>
          <a:xfrm>
            <a:off x="5279014" y="4407408"/>
            <a:ext cx="1633667" cy="384048"/>
          </a:xfrm>
          <a:prstGeom prst="rect">
            <a:avLst/>
          </a:prstGeom>
          <a:noFill/>
        </p:spPr>
        <p:txBody>
          <a:bodyPr wrap="square" anchor="t" lIns="0" rIns="0" tIns="0" bIns="0">
            <a:noAutofit/>
          </a:bodyPr>
          <a:lstStyle/>
          <a:p>
            <a:pPr algn="l"/>
            <a:r>
              <a:rPr sz="1100" b="0" i="0">
                <a:solidFill>
                  <a:srgbClr val="5B6472"/>
                </a:solidFill>
                <a:latin typeface="Arial"/>
              </a:rPr>
              <a:t>Bader Alyamini</a:t>
            </a:r>
          </a:p>
        </p:txBody>
      </p:sp>
      <p:sp>
        <p:nvSpPr>
          <p:cNvPr id="20" name="badge"/>
          <p:cNvSpPr/>
          <p:nvPr/>
        </p:nvSpPr>
        <p:spPr>
          <a:xfrm>
            <a:off x="8049554" y="1655063"/>
            <a:ext cx="621792" cy="621792"/>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i="0">
                <a:solidFill>
                  <a:srgbClr val="FFFFFF"/>
                </a:solidFill>
                <a:latin typeface="Arial"/>
              </a:rPr>
              <a:t>4</a:t>
            </a:r>
          </a:p>
        </p:txBody>
      </p:sp>
      <p:sp>
        <p:nvSpPr>
          <p:cNvPr id="21" name="demo card 4"/>
          <p:cNvSpPr/>
          <p:nvPr/>
        </p:nvSpPr>
        <p:spPr>
          <a:xfrm>
            <a:off x="7342449" y="2514600"/>
            <a:ext cx="2036003" cy="2331720"/>
          </a:xfrm>
          <a:prstGeom prst="roundRect">
            <a:avLst>
              <a:gd name="adj" fmla="val 7185"/>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emo head 4"/>
          <p:cNvSpPr txBox="1"/>
          <p:nvPr/>
        </p:nvSpPr>
        <p:spPr>
          <a:xfrm>
            <a:off x="7543617" y="2670048"/>
            <a:ext cx="1633667" cy="411480"/>
          </a:xfrm>
          <a:prstGeom prst="rect">
            <a:avLst/>
          </a:prstGeom>
          <a:noFill/>
        </p:spPr>
        <p:txBody>
          <a:bodyPr wrap="square" anchor="t" lIns="0" rIns="0" tIns="0" bIns="0">
            <a:noAutofit/>
          </a:bodyPr>
          <a:lstStyle/>
          <a:p>
            <a:pPr algn="l"/>
            <a:r>
              <a:rPr sz="1900" b="1" i="0">
                <a:solidFill>
                  <a:srgbClr val="0B1F3A"/>
                </a:solidFill>
                <a:latin typeface="Arial"/>
              </a:rPr>
              <a:t>Invoice e-mail</a:t>
            </a:r>
          </a:p>
        </p:txBody>
      </p:sp>
      <p:sp>
        <p:nvSpPr>
          <p:cNvPr id="23" name="demo body 4"/>
          <p:cNvSpPr txBox="1"/>
          <p:nvPr/>
        </p:nvSpPr>
        <p:spPr>
          <a:xfrm>
            <a:off x="7543617" y="3127248"/>
            <a:ext cx="1633667" cy="1234440"/>
          </a:xfrm>
          <a:prstGeom prst="rect">
            <a:avLst/>
          </a:prstGeom>
          <a:noFill/>
        </p:spPr>
        <p:txBody>
          <a:bodyPr wrap="square" anchor="t" lIns="0" rIns="0" tIns="0" bIns="0">
            <a:noAutofit/>
          </a:bodyPr>
          <a:lstStyle/>
          <a:p>
            <a:pPr algn="l"/>
            <a:r>
              <a:rPr sz="1600" b="0" i="0">
                <a:solidFill>
                  <a:srgbClr val="1F2937"/>
                </a:solidFill>
                <a:latin typeface="Arial"/>
              </a:rPr>
              <a:t>Untrusted content inspected and marked as data</a:t>
            </a:r>
          </a:p>
        </p:txBody>
      </p:sp>
      <p:sp>
        <p:nvSpPr>
          <p:cNvPr id="24" name="demo who 4"/>
          <p:cNvSpPr txBox="1"/>
          <p:nvPr/>
        </p:nvSpPr>
        <p:spPr>
          <a:xfrm>
            <a:off x="7543617" y="4407408"/>
            <a:ext cx="1633667" cy="384048"/>
          </a:xfrm>
          <a:prstGeom prst="rect">
            <a:avLst/>
          </a:prstGeom>
          <a:noFill/>
        </p:spPr>
        <p:txBody>
          <a:bodyPr wrap="square" anchor="t" lIns="0" rIns="0" tIns="0" bIns="0">
            <a:noAutofit/>
          </a:bodyPr>
          <a:lstStyle/>
          <a:p>
            <a:pPr algn="l"/>
            <a:r>
              <a:rPr sz="1100" b="0" i="0">
                <a:solidFill>
                  <a:srgbClr val="5B6472"/>
                </a:solidFill>
                <a:latin typeface="Arial"/>
              </a:rPr>
              <a:t>Abdulmalik</a:t>
            </a:r>
          </a:p>
        </p:txBody>
      </p:sp>
      <p:sp>
        <p:nvSpPr>
          <p:cNvPr id="25" name="badge"/>
          <p:cNvSpPr/>
          <p:nvPr/>
        </p:nvSpPr>
        <p:spPr>
          <a:xfrm>
            <a:off x="10314157" y="1655063"/>
            <a:ext cx="621792" cy="621792"/>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2000" b="1" i="0">
                <a:solidFill>
                  <a:srgbClr val="FFFFFF"/>
                </a:solidFill>
                <a:latin typeface="Arial"/>
              </a:rPr>
              <a:t>5</a:t>
            </a:r>
          </a:p>
        </p:txBody>
      </p:sp>
      <p:sp>
        <p:nvSpPr>
          <p:cNvPr id="26" name="demo card 5"/>
          <p:cNvSpPr/>
          <p:nvPr/>
        </p:nvSpPr>
        <p:spPr>
          <a:xfrm>
            <a:off x="9607052" y="2514600"/>
            <a:ext cx="2036003" cy="2331720"/>
          </a:xfrm>
          <a:prstGeom prst="roundRect">
            <a:avLst>
              <a:gd name="adj" fmla="val 7185"/>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demo head 5"/>
          <p:cNvSpPr txBox="1"/>
          <p:nvPr/>
        </p:nvSpPr>
        <p:spPr>
          <a:xfrm>
            <a:off x="9808220" y="2670048"/>
            <a:ext cx="1633667" cy="411480"/>
          </a:xfrm>
          <a:prstGeom prst="rect">
            <a:avLst/>
          </a:prstGeom>
          <a:noFill/>
        </p:spPr>
        <p:txBody>
          <a:bodyPr wrap="square" anchor="t" lIns="0" rIns="0" tIns="0" bIns="0">
            <a:noAutofit/>
          </a:bodyPr>
          <a:lstStyle/>
          <a:p>
            <a:pPr algn="l"/>
            <a:r>
              <a:rPr sz="1900" b="1" i="0">
                <a:solidFill>
                  <a:srgbClr val="0B1F3A"/>
                </a:solidFill>
                <a:latin typeface="Arial"/>
              </a:rPr>
              <a:t>Arabic</a:t>
            </a:r>
          </a:p>
        </p:txBody>
      </p:sp>
      <p:sp>
        <p:nvSpPr>
          <p:cNvPr id="28" name="demo body 5"/>
          <p:cNvSpPr txBox="1"/>
          <p:nvPr/>
        </p:nvSpPr>
        <p:spPr>
          <a:xfrm>
            <a:off x="9808220" y="3127248"/>
            <a:ext cx="1633667" cy="1234440"/>
          </a:xfrm>
          <a:prstGeom prst="rect">
            <a:avLst/>
          </a:prstGeom>
          <a:noFill/>
        </p:spPr>
        <p:txBody>
          <a:bodyPr wrap="square" anchor="t" lIns="0" rIns="0" tIns="0" bIns="0">
            <a:noAutofit/>
          </a:bodyPr>
          <a:lstStyle/>
          <a:p>
            <a:pPr algn="l"/>
            <a:r>
              <a:rPr sz="1600" b="0" i="0">
                <a:solidFill>
                  <a:srgbClr val="1F2937"/>
                </a:solidFill>
                <a:latin typeface="Arial"/>
              </a:rPr>
              <a:t>RTL interface and an Arabic scenario</a:t>
            </a:r>
          </a:p>
        </p:txBody>
      </p:sp>
      <p:sp>
        <p:nvSpPr>
          <p:cNvPr id="29" name="demo who 5"/>
          <p:cNvSpPr txBox="1"/>
          <p:nvPr/>
        </p:nvSpPr>
        <p:spPr>
          <a:xfrm>
            <a:off x="9808220" y="4407408"/>
            <a:ext cx="1633667" cy="384048"/>
          </a:xfrm>
          <a:prstGeom prst="rect">
            <a:avLst/>
          </a:prstGeom>
          <a:noFill/>
        </p:spPr>
        <p:txBody>
          <a:bodyPr wrap="square" anchor="t" lIns="0" rIns="0" tIns="0" bIns="0">
            <a:noAutofit/>
          </a:bodyPr>
          <a:lstStyle/>
          <a:p>
            <a:pPr algn="l"/>
            <a:r>
              <a:rPr sz="1100" b="0" i="0">
                <a:solidFill>
                  <a:srgbClr val="5B6472"/>
                </a:solidFill>
                <a:latin typeface="Arial"/>
              </a:rPr>
              <a:t>Abdullah</a:t>
            </a:r>
          </a:p>
        </p:txBody>
      </p:sp>
      <p:sp>
        <p:nvSpPr>
          <p:cNvPr id="30" name="demo setup"/>
          <p:cNvSpPr txBox="1"/>
          <p:nvPr/>
        </p:nvSpPr>
        <p:spPr>
          <a:xfrm>
            <a:off x="548640" y="5120640"/>
            <a:ext cx="11094415" cy="365760"/>
          </a:xfrm>
          <a:prstGeom prst="rect">
            <a:avLst/>
          </a:prstGeom>
          <a:noFill/>
        </p:spPr>
        <p:txBody>
          <a:bodyPr wrap="square" anchor="t" lIns="0" rIns="0" tIns="0" bIns="0">
            <a:noAutofit/>
          </a:bodyPr>
          <a:lstStyle/>
          <a:p>
            <a:pPr algn="l"/>
            <a:r>
              <a:rPr sz="1600" b="0" i="0">
                <a:solidFill>
                  <a:srgbClr val="1F2937"/>
                </a:solidFill>
                <a:latin typeface="Arial"/>
              </a:rPr>
              <a:t>Everything runs locally: fictional Najd Trading Co. data, Qwen2.5 7B through Ollama, no external services.</a:t>
            </a:r>
          </a:p>
        </p:txBody>
      </p:sp>
      <p:sp>
        <p:nvSpPr>
          <p:cNvPr id="31" name="fallback box"/>
          <p:cNvSpPr/>
          <p:nvPr/>
        </p:nvSpPr>
        <p:spPr>
          <a:xfrm>
            <a:off x="548640" y="5596128"/>
            <a:ext cx="11094415" cy="566928"/>
          </a:xfrm>
          <a:prstGeom prst="roundRect">
            <a:avLst>
              <a:gd name="adj" fmla="val 19354"/>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fallback"/>
          <p:cNvSpPr txBox="1"/>
          <p:nvPr/>
        </p:nvSpPr>
        <p:spPr>
          <a:xfrm>
            <a:off x="822959" y="5596128"/>
            <a:ext cx="10545775" cy="566928"/>
          </a:xfrm>
          <a:prstGeom prst="rect">
            <a:avLst/>
          </a:prstGeom>
          <a:noFill/>
        </p:spPr>
        <p:txBody>
          <a:bodyPr wrap="square" anchor="ctr" lIns="0" rIns="0" tIns="0" bIns="0">
            <a:noAutofit/>
          </a:bodyPr>
          <a:lstStyle/>
          <a:p>
            <a:pPr algn="l"/>
            <a:r>
              <a:rPr sz="1600" b="1" i="0">
                <a:solidFill>
                  <a:srgbClr val="0B1F3A"/>
                </a:solidFill>
                <a:latin typeface="Arial"/>
              </a:rPr>
              <a:t>Fallback: </a:t>
            </a:r>
            <a:r>
              <a:rPr sz="1600" b="0" i="0">
                <a:solidFill>
                  <a:srgbClr val="1F2937"/>
                </a:solidFill>
                <a:latin typeface="Arial"/>
              </a:rPr>
              <a:t>the same scenario from the command line, and the screenshots in Appendix C.</a:t>
            </a:r>
          </a:p>
        </p:txBody>
      </p:sp>
      <p:pic>
        <p:nvPicPr>
          <p:cNvPr id="33" name="Picture 32" descr="Mirsad logo"/>
          <p:cNvPicPr>
            <a:picLocks noChangeAspect="1"/>
          </p:cNvPicPr>
          <p:nvPr/>
        </p:nvPicPr>
        <p:blipFill>
          <a:blip r:embed="rId2"/>
          <a:stretch>
            <a:fillRect/>
          </a:stretch>
        </p:blipFill>
        <p:spPr>
          <a:xfrm>
            <a:off x="548640" y="6419088"/>
            <a:ext cx="219456" cy="219456"/>
          </a:xfrm>
          <a:prstGeom prst="rect">
            <a:avLst/>
          </a:prstGeom>
        </p:spPr>
      </p:pic>
      <p:sp>
        <p:nvSpPr>
          <p:cNvPr id="34" name="footer"/>
          <p:cNvSpPr txBox="1"/>
          <p:nvPr/>
        </p:nvSpPr>
        <p:spPr>
          <a:xfrm>
            <a:off x="859536" y="6437376"/>
            <a:ext cx="6400800" cy="219456"/>
          </a:xfrm>
          <a:prstGeom prst="rect">
            <a:avLst/>
          </a:prstGeom>
          <a:noFill/>
        </p:spPr>
        <p:txBody>
          <a:bodyPr wrap="square" anchor="t" lIns="0" rIns="0" tIns="0" bIns="0">
            <a:noAutofit/>
          </a:bodyPr>
          <a:lstStyle/>
          <a:p>
            <a:pPr algn="l"/>
            <a:r>
              <a:rPr sz="1000" b="0" i="0">
                <a:solidFill>
                  <a:srgbClr val="5B6472"/>
                </a:solidFill>
                <a:latin typeface="Arial"/>
              </a:rPr>
              <a:t>Mirsad </a:t>
            </a:r>
            <a:r>
              <a:rPr sz="1000" b="0" i="0" lang="ar-SA">
                <a:solidFill>
                  <a:srgbClr val="5B6472"/>
                </a:solidFill>
                <a:latin typeface="Arial"/>
                <a:cs typeface="Arial"/>
              </a:rPr>
              <a:t>مرصاد</a:t>
            </a:r>
            <a:r>
              <a:rPr sz="1000" b="0" i="0">
                <a:solidFill>
                  <a:srgbClr val="5B6472"/>
                </a:solidFill>
                <a:latin typeface="Arial"/>
              </a:rPr>
              <a:t>  ·  IS499 Senior Project  ·  Prince Sultan University</a:t>
            </a:r>
          </a:p>
        </p:txBody>
      </p:sp>
      <p:sp>
        <p:nvSpPr>
          <p:cNvPr id="35" name="slide number"/>
          <p:cNvSpPr txBox="1"/>
          <p:nvPr/>
        </p:nvSpPr>
        <p:spPr>
          <a:xfrm>
            <a:off x="10545775" y="6419088"/>
            <a:ext cx="1097280" cy="237744"/>
          </a:xfrm>
          <a:prstGeom prst="rect">
            <a:avLst/>
          </a:prstGeom>
          <a:noFill/>
        </p:spPr>
        <p:txBody>
          <a:bodyPr wrap="square" anchor="t" lIns="0" rIns="0" tIns="0" bIns="0">
            <a:noAutofit/>
          </a:bodyPr>
          <a:lstStyle/>
          <a:p>
            <a:pPr algn="r"/>
            <a:r>
              <a:rPr sz="1100" b="0" i="0">
                <a:solidFill>
                  <a:srgbClr val="5B6472"/>
                </a:solidFill>
                <a:latin typeface="Arial"/>
              </a:rP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66928"/>
            <a:ext cx="11094415" cy="731520"/>
          </a:xfrm>
        </p:spPr>
        <p:txBody>
          <a:bodyPr wrap="square" anchor="t" lIns="0" rIns="0" tIns="0" bIns="0">
            <a:noAutofit/>
          </a:bodyPr>
          <a:lstStyle/>
          <a:p>
            <a:pPr algn="l"/>
            <a:r>
              <a:rPr sz="3000" b="1" i="0">
                <a:solidFill>
                  <a:srgbClr val="0B1F3A"/>
                </a:solidFill>
                <a:latin typeface="Arial"/>
              </a:rPr>
              <a:t>Conclusion and future work</a:t>
            </a:r>
          </a:p>
        </p:txBody>
      </p:sp>
      <p:sp>
        <p:nvSpPr>
          <p:cNvPr id="3" name="kicker"/>
          <p:cNvSpPr txBox="1"/>
          <p:nvPr/>
        </p:nvSpPr>
        <p:spPr>
          <a:xfrm>
            <a:off x="548640" y="274320"/>
            <a:ext cx="7315200" cy="274320"/>
          </a:xfrm>
          <a:prstGeom prst="rect">
            <a:avLst/>
          </a:prstGeom>
          <a:noFill/>
        </p:spPr>
        <p:txBody>
          <a:bodyPr wrap="square" anchor="t" lIns="0" rIns="0" tIns="0" bIns="0">
            <a:noAutofit/>
          </a:bodyPr>
          <a:lstStyle/>
          <a:p>
            <a:pPr algn="l"/>
            <a:r>
              <a:rPr sz="1200" b="1" i="0" spc="150">
                <a:solidFill>
                  <a:srgbClr val="0F766E"/>
                </a:solidFill>
                <a:latin typeface="Arial"/>
              </a:rPr>
              <a:t>CONCLUSION</a:t>
            </a:r>
          </a:p>
        </p:txBody>
      </p:sp>
      <p:sp>
        <p:nvSpPr>
          <p:cNvPr id="4" name="Delivered card"/>
          <p:cNvSpPr/>
          <p:nvPr/>
        </p:nvSpPr>
        <p:spPr>
          <a:xfrm>
            <a:off x="548640" y="1600200"/>
            <a:ext cx="5364327" cy="3611880"/>
          </a:xfrm>
          <a:prstGeom prst="roundRect">
            <a:avLst>
              <a:gd name="adj" fmla="val 4556"/>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Delivered head"/>
          <p:cNvSpPr txBox="1"/>
          <p:nvPr/>
        </p:nvSpPr>
        <p:spPr>
          <a:xfrm>
            <a:off x="914400" y="1783080"/>
            <a:ext cx="4632807" cy="457200"/>
          </a:xfrm>
          <a:prstGeom prst="rect">
            <a:avLst/>
          </a:prstGeom>
          <a:noFill/>
        </p:spPr>
        <p:txBody>
          <a:bodyPr wrap="square" anchor="t" lIns="0" rIns="0" tIns="0" bIns="0">
            <a:noAutofit/>
          </a:bodyPr>
          <a:lstStyle/>
          <a:p>
            <a:pPr algn="l"/>
            <a:r>
              <a:rPr sz="2400" b="1" i="0">
                <a:solidFill>
                  <a:srgbClr val="0B1F3A"/>
                </a:solidFill>
                <a:latin typeface="Arial"/>
              </a:rPr>
              <a:t>Delivered</a:t>
            </a:r>
          </a:p>
        </p:txBody>
      </p:sp>
      <p:sp>
        <p:nvSpPr>
          <p:cNvPr id="6" name="badge"/>
          <p:cNvSpPr/>
          <p:nvPr/>
        </p:nvSpPr>
        <p:spPr>
          <a:xfrm>
            <a:off x="914400" y="2459736"/>
            <a:ext cx="329184" cy="329184"/>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00" b="1" i="0">
                <a:solidFill>
                  <a:srgbClr val="FFFFFF"/>
                </a:solidFill>
                <a:latin typeface="Arial"/>
              </a:rPr>
              <a:t>✓</a:t>
            </a:r>
          </a:p>
        </p:txBody>
      </p:sp>
      <p:sp>
        <p:nvSpPr>
          <p:cNvPr id="7" name="Delivered item 0"/>
          <p:cNvSpPr txBox="1"/>
          <p:nvPr/>
        </p:nvSpPr>
        <p:spPr>
          <a:xfrm>
            <a:off x="1417319" y="2423160"/>
            <a:ext cx="4129887" cy="822960"/>
          </a:xfrm>
          <a:prstGeom prst="rect">
            <a:avLst/>
          </a:prstGeom>
          <a:noFill/>
        </p:spPr>
        <p:txBody>
          <a:bodyPr wrap="square" anchor="t" lIns="0" rIns="0" tIns="0" bIns="0">
            <a:noAutofit/>
          </a:bodyPr>
          <a:lstStyle/>
          <a:p>
            <a:pPr algn="l"/>
            <a:r>
              <a:rPr sz="1800" b="0" i="0">
                <a:solidFill>
                  <a:srgbClr val="1F2937"/>
                </a:solidFill>
                <a:latin typeface="Arial"/>
              </a:rPr>
              <a:t>Drop-in gateway for MCP, OpenAI-style and SDK agents</a:t>
            </a:r>
          </a:p>
        </p:txBody>
      </p:sp>
      <p:sp>
        <p:nvSpPr>
          <p:cNvPr id="8" name="badge"/>
          <p:cNvSpPr/>
          <p:nvPr/>
        </p:nvSpPr>
        <p:spPr>
          <a:xfrm>
            <a:off x="914400" y="3355848"/>
            <a:ext cx="329184" cy="329184"/>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00" b="1" i="0">
                <a:solidFill>
                  <a:srgbClr val="FFFFFF"/>
                </a:solidFill>
                <a:latin typeface="Arial"/>
              </a:rPr>
              <a:t>✓</a:t>
            </a:r>
          </a:p>
        </p:txBody>
      </p:sp>
      <p:sp>
        <p:nvSpPr>
          <p:cNvPr id="9" name="Delivered item 1"/>
          <p:cNvSpPr txBox="1"/>
          <p:nvPr/>
        </p:nvSpPr>
        <p:spPr>
          <a:xfrm>
            <a:off x="1417319" y="3319272"/>
            <a:ext cx="4129887" cy="822960"/>
          </a:xfrm>
          <a:prstGeom prst="rect">
            <a:avLst/>
          </a:prstGeom>
          <a:noFill/>
        </p:spPr>
        <p:txBody>
          <a:bodyPr wrap="square" anchor="t" lIns="0" rIns="0" tIns="0" bIns="0">
            <a:noAutofit/>
          </a:bodyPr>
          <a:lstStyle/>
          <a:p>
            <a:pPr algn="l"/>
            <a:r>
              <a:rPr sz="1800" b="0" i="0">
                <a:solidFill>
                  <a:srgbClr val="1F2937"/>
                </a:solidFill>
                <a:latin typeface="Arial"/>
              </a:rPr>
              <a:t>Policy, taint, AR/EN detector, approval and audit in one component</a:t>
            </a:r>
          </a:p>
        </p:txBody>
      </p:sp>
      <p:sp>
        <p:nvSpPr>
          <p:cNvPr id="10" name="badge"/>
          <p:cNvSpPr/>
          <p:nvPr/>
        </p:nvSpPr>
        <p:spPr>
          <a:xfrm>
            <a:off x="914400" y="4251959"/>
            <a:ext cx="329184" cy="329184"/>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00" b="1" i="0">
                <a:solidFill>
                  <a:srgbClr val="FFFFFF"/>
                </a:solidFill>
                <a:latin typeface="Arial"/>
              </a:rPr>
              <a:t>✓</a:t>
            </a:r>
          </a:p>
        </p:txBody>
      </p:sp>
      <p:sp>
        <p:nvSpPr>
          <p:cNvPr id="11" name="Delivered item 2"/>
          <p:cNvSpPr txBox="1"/>
          <p:nvPr/>
        </p:nvSpPr>
        <p:spPr>
          <a:xfrm>
            <a:off x="1417319" y="4215383"/>
            <a:ext cx="4129887" cy="822960"/>
          </a:xfrm>
          <a:prstGeom prst="rect">
            <a:avLst/>
          </a:prstGeom>
          <a:noFill/>
        </p:spPr>
        <p:txBody>
          <a:bodyPr wrap="square" anchor="t" lIns="0" rIns="0" tIns="0" bIns="0">
            <a:noAutofit/>
          </a:bodyPr>
          <a:lstStyle/>
          <a:p>
            <a:pPr algn="l"/>
            <a:r>
              <a:rPr sz="1800" b="0" i="0">
                <a:solidFill>
                  <a:srgbClr val="1F2937"/>
                </a:solidFill>
                <a:latin typeface="Arial"/>
              </a:rPr>
              <a:t>0% benign calls auto-denied; about 3 ms added per call</a:t>
            </a:r>
          </a:p>
        </p:txBody>
      </p:sp>
      <p:sp>
        <p:nvSpPr>
          <p:cNvPr id="12" name="Next card"/>
          <p:cNvSpPr/>
          <p:nvPr/>
        </p:nvSpPr>
        <p:spPr>
          <a:xfrm>
            <a:off x="6278727" y="1600200"/>
            <a:ext cx="5364327" cy="3611880"/>
          </a:xfrm>
          <a:prstGeom prst="roundRect">
            <a:avLst>
              <a:gd name="adj" fmla="val 4556"/>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Next head"/>
          <p:cNvSpPr txBox="1"/>
          <p:nvPr/>
        </p:nvSpPr>
        <p:spPr>
          <a:xfrm>
            <a:off x="6644487" y="1783080"/>
            <a:ext cx="4632807" cy="457200"/>
          </a:xfrm>
          <a:prstGeom prst="rect">
            <a:avLst/>
          </a:prstGeom>
          <a:noFill/>
        </p:spPr>
        <p:txBody>
          <a:bodyPr wrap="square" anchor="t" lIns="0" rIns="0" tIns="0" bIns="0">
            <a:noAutofit/>
          </a:bodyPr>
          <a:lstStyle/>
          <a:p>
            <a:pPr algn="l"/>
            <a:r>
              <a:rPr sz="2400" b="1" i="0">
                <a:solidFill>
                  <a:srgbClr val="0B1F3A"/>
                </a:solidFill>
                <a:latin typeface="Arial"/>
              </a:rPr>
              <a:t>Next</a:t>
            </a:r>
          </a:p>
        </p:txBody>
      </p:sp>
      <p:sp>
        <p:nvSpPr>
          <p:cNvPr id="14" name="badge"/>
          <p:cNvSpPr/>
          <p:nvPr/>
        </p:nvSpPr>
        <p:spPr>
          <a:xfrm>
            <a:off x="6644487" y="2459736"/>
            <a:ext cx="329184" cy="329184"/>
          </a:xfrm>
          <a:prstGeom prst="ellipse">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00" b="1" i="0">
                <a:solidFill>
                  <a:srgbClr val="FFFFFF"/>
                </a:solidFill>
                <a:latin typeface="Arial"/>
              </a:rPr>
              <a:t>→</a:t>
            </a:r>
          </a:p>
        </p:txBody>
      </p:sp>
      <p:sp>
        <p:nvSpPr>
          <p:cNvPr id="15" name="Next item 0"/>
          <p:cNvSpPr txBox="1"/>
          <p:nvPr/>
        </p:nvSpPr>
        <p:spPr>
          <a:xfrm>
            <a:off x="7147407" y="2423160"/>
            <a:ext cx="4129887" cy="822960"/>
          </a:xfrm>
          <a:prstGeom prst="rect">
            <a:avLst/>
          </a:prstGeom>
          <a:noFill/>
        </p:spPr>
        <p:txBody>
          <a:bodyPr wrap="square" anchor="t" lIns="0" rIns="0" tIns="0" bIns="0">
            <a:noAutofit/>
          </a:bodyPr>
          <a:lstStyle/>
          <a:p>
            <a:pPr algn="l"/>
            <a:r>
              <a:rPr sz="1800" b="0" i="0">
                <a:solidFill>
                  <a:srgbClr val="1F2937"/>
                </a:solidFill>
                <a:latin typeface="Arial"/>
              </a:rPr>
              <a:t>Team attack data → detector F1 and attack success rate</a:t>
            </a:r>
          </a:p>
        </p:txBody>
      </p:sp>
      <p:sp>
        <p:nvSpPr>
          <p:cNvPr id="16" name="badge"/>
          <p:cNvSpPr/>
          <p:nvPr/>
        </p:nvSpPr>
        <p:spPr>
          <a:xfrm>
            <a:off x="6644487" y="3355848"/>
            <a:ext cx="329184" cy="329184"/>
          </a:xfrm>
          <a:prstGeom prst="ellipse">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00" b="1" i="0">
                <a:solidFill>
                  <a:srgbClr val="FFFFFF"/>
                </a:solidFill>
                <a:latin typeface="Arial"/>
              </a:rPr>
              <a:t>→</a:t>
            </a:r>
          </a:p>
        </p:txBody>
      </p:sp>
      <p:sp>
        <p:nvSpPr>
          <p:cNvPr id="17" name="Next item 1"/>
          <p:cNvSpPr txBox="1"/>
          <p:nvPr/>
        </p:nvSpPr>
        <p:spPr>
          <a:xfrm>
            <a:off x="7147407" y="3319272"/>
            <a:ext cx="4129887" cy="822960"/>
          </a:xfrm>
          <a:prstGeom prst="rect">
            <a:avLst/>
          </a:prstGeom>
          <a:noFill/>
        </p:spPr>
        <p:txBody>
          <a:bodyPr wrap="square" anchor="t" lIns="0" rIns="0" tIns="0" bIns="0">
            <a:noAutofit/>
          </a:bodyPr>
          <a:lstStyle/>
          <a:p>
            <a:pPr algn="l"/>
            <a:r>
              <a:rPr sz="1800" b="0" i="0">
                <a:solidFill>
                  <a:srgbClr val="1F2937"/>
                </a:solidFill>
                <a:latin typeface="Arial"/>
              </a:rPr>
              <a:t>Load test with several workers and PostgreSQL</a:t>
            </a:r>
          </a:p>
        </p:txBody>
      </p:sp>
      <p:sp>
        <p:nvSpPr>
          <p:cNvPr id="18" name="badge"/>
          <p:cNvSpPr/>
          <p:nvPr/>
        </p:nvSpPr>
        <p:spPr>
          <a:xfrm>
            <a:off x="6644487" y="4251959"/>
            <a:ext cx="329184" cy="329184"/>
          </a:xfrm>
          <a:prstGeom prst="ellipse">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00" b="1" i="0">
                <a:solidFill>
                  <a:srgbClr val="FFFFFF"/>
                </a:solidFill>
                <a:latin typeface="Arial"/>
              </a:rPr>
              <a:t>→</a:t>
            </a:r>
          </a:p>
        </p:txBody>
      </p:sp>
      <p:sp>
        <p:nvSpPr>
          <p:cNvPr id="19" name="Next item 2"/>
          <p:cNvSpPr txBox="1"/>
          <p:nvPr/>
        </p:nvSpPr>
        <p:spPr>
          <a:xfrm>
            <a:off x="7147407" y="4215383"/>
            <a:ext cx="4129887" cy="822960"/>
          </a:xfrm>
          <a:prstGeom prst="rect">
            <a:avLst/>
          </a:prstGeom>
          <a:noFill/>
        </p:spPr>
        <p:txBody>
          <a:bodyPr wrap="square" anchor="t" lIns="0" rIns="0" tIns="0" bIns="0">
            <a:noAutofit/>
          </a:bodyPr>
          <a:lstStyle/>
          <a:p>
            <a:pPr algn="l"/>
            <a:r>
              <a:rPr sz="1800" b="0" i="0">
                <a:solidFill>
                  <a:srgbClr val="1F2937"/>
                </a:solidFill>
                <a:latin typeface="Arial"/>
              </a:rPr>
              <a:t>Fine-tune a multilingual encoder; pilot with a Saudi organisation</a:t>
            </a:r>
          </a:p>
        </p:txBody>
      </p:sp>
      <p:sp>
        <p:nvSpPr>
          <p:cNvPr id="20" name="limits"/>
          <p:cNvSpPr txBox="1"/>
          <p:nvPr/>
        </p:nvSpPr>
        <p:spPr>
          <a:xfrm>
            <a:off x="548640" y="5440680"/>
            <a:ext cx="11094415" cy="731520"/>
          </a:xfrm>
          <a:prstGeom prst="rect">
            <a:avLst/>
          </a:prstGeom>
          <a:noFill/>
        </p:spPr>
        <p:txBody>
          <a:bodyPr wrap="square" anchor="t" lIns="0" rIns="0" tIns="0" bIns="0">
            <a:noAutofit/>
          </a:bodyPr>
          <a:lstStyle/>
          <a:p>
            <a:pPr algn="l"/>
            <a:r>
              <a:rPr sz="1600" b="1" i="0">
                <a:solidFill>
                  <a:srgbClr val="0B1F3A"/>
                </a:solidFill>
                <a:latin typeface="Arial"/>
              </a:rPr>
              <a:t>Limits: </a:t>
            </a:r>
            <a:r>
              <a:rPr sz="1600" b="0" i="0">
                <a:solidFill>
                  <a:srgbClr val="5B6472"/>
                </a:solidFill>
                <a:latin typeface="Arial"/>
              </a:rPr>
              <a:t>proxy-level taint is coarser than CaMeL; concurrency measured on one worker with SQLite; detection accuracy and attack reduction not yet measured.</a:t>
            </a:r>
          </a:p>
        </p:txBody>
      </p:sp>
      <p:pic>
        <p:nvPicPr>
          <p:cNvPr id="21" name="Picture 20" descr="Mirsad logo"/>
          <p:cNvPicPr>
            <a:picLocks noChangeAspect="1"/>
          </p:cNvPicPr>
          <p:nvPr/>
        </p:nvPicPr>
        <p:blipFill>
          <a:blip r:embed="rId2"/>
          <a:stretch>
            <a:fillRect/>
          </a:stretch>
        </p:blipFill>
        <p:spPr>
          <a:xfrm>
            <a:off x="548640" y="6419088"/>
            <a:ext cx="219456" cy="219456"/>
          </a:xfrm>
          <a:prstGeom prst="rect">
            <a:avLst/>
          </a:prstGeom>
        </p:spPr>
      </p:pic>
      <p:sp>
        <p:nvSpPr>
          <p:cNvPr id="22" name="footer"/>
          <p:cNvSpPr txBox="1"/>
          <p:nvPr/>
        </p:nvSpPr>
        <p:spPr>
          <a:xfrm>
            <a:off x="859536" y="6437376"/>
            <a:ext cx="6400800" cy="219456"/>
          </a:xfrm>
          <a:prstGeom prst="rect">
            <a:avLst/>
          </a:prstGeom>
          <a:noFill/>
        </p:spPr>
        <p:txBody>
          <a:bodyPr wrap="square" anchor="t" lIns="0" rIns="0" tIns="0" bIns="0">
            <a:noAutofit/>
          </a:bodyPr>
          <a:lstStyle/>
          <a:p>
            <a:pPr algn="l"/>
            <a:r>
              <a:rPr sz="1000" b="0" i="0">
                <a:solidFill>
                  <a:srgbClr val="5B6472"/>
                </a:solidFill>
                <a:latin typeface="Arial"/>
              </a:rPr>
              <a:t>Mirsad </a:t>
            </a:r>
            <a:r>
              <a:rPr sz="1000" b="0" i="0" lang="ar-SA">
                <a:solidFill>
                  <a:srgbClr val="5B6472"/>
                </a:solidFill>
                <a:latin typeface="Arial"/>
                <a:cs typeface="Arial"/>
              </a:rPr>
              <a:t>مرصاد</a:t>
            </a:r>
            <a:r>
              <a:rPr sz="1000" b="0" i="0">
                <a:solidFill>
                  <a:srgbClr val="5B6472"/>
                </a:solidFill>
                <a:latin typeface="Arial"/>
              </a:rPr>
              <a:t>  ·  IS499 Senior Project  ·  Prince Sultan University</a:t>
            </a:r>
          </a:p>
        </p:txBody>
      </p:sp>
      <p:sp>
        <p:nvSpPr>
          <p:cNvPr id="23" name="slide number"/>
          <p:cNvSpPr txBox="1"/>
          <p:nvPr/>
        </p:nvSpPr>
        <p:spPr>
          <a:xfrm>
            <a:off x="10545775" y="6419088"/>
            <a:ext cx="1097280" cy="237744"/>
          </a:xfrm>
          <a:prstGeom prst="rect">
            <a:avLst/>
          </a:prstGeom>
          <a:noFill/>
        </p:spPr>
        <p:txBody>
          <a:bodyPr wrap="square" anchor="t" lIns="0" rIns="0" tIns="0" bIns="0">
            <a:noAutofit/>
          </a:bodyPr>
          <a:lstStyle/>
          <a:p>
            <a:pPr algn="r"/>
            <a:r>
              <a:rPr sz="1100" b="0" i="0">
                <a:solidFill>
                  <a:srgbClr val="5B6472"/>
                </a:solidFill>
                <a:latin typeface="Arial"/>
              </a:rP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itle 1"/>
          <p:cNvSpPr>
            <a:spLocks noGrp="1"/>
          </p:cNvSpPr>
          <p:nvPr>
            <p:ph type="title"/>
          </p:nvPr>
        </p:nvSpPr>
        <p:spPr>
          <a:xfrm>
            <a:off x="548640" y="2697480"/>
            <a:ext cx="11094415" cy="914400"/>
          </a:xfrm>
        </p:spPr>
        <p:txBody>
          <a:bodyPr wrap="square" anchor="t" lIns="0" rIns="0" tIns="0" bIns="0">
            <a:noAutofit/>
          </a:bodyPr>
          <a:lstStyle/>
          <a:p>
            <a:pPr algn="ctr"/>
            <a:r>
              <a:rPr sz="5400" b="1" i="0">
                <a:solidFill>
                  <a:srgbClr val="FFFFFF"/>
                </a:solidFill>
                <a:latin typeface="Arial"/>
              </a:rPr>
              <a:t>Thank you</a:t>
            </a:r>
          </a:p>
        </p:txBody>
      </p:sp>
      <p:pic>
        <p:nvPicPr>
          <p:cNvPr id="3" name="Picture 2" descr="Mirsad logo"/>
          <p:cNvPicPr>
            <a:picLocks noChangeAspect="1"/>
          </p:cNvPicPr>
          <p:nvPr/>
        </p:nvPicPr>
        <p:blipFill>
          <a:blip r:embed="rId2"/>
          <a:stretch>
            <a:fillRect/>
          </a:stretch>
        </p:blipFill>
        <p:spPr>
          <a:xfrm>
            <a:off x="5410047" y="1051560"/>
            <a:ext cx="1371600" cy="1371600"/>
          </a:xfrm>
          <a:prstGeom prst="rect">
            <a:avLst/>
          </a:prstGeom>
        </p:spPr>
      </p:pic>
      <p:sp>
        <p:nvSpPr>
          <p:cNvPr id="4" name="arabic thanks"/>
          <p:cNvSpPr txBox="1"/>
          <p:nvPr/>
        </p:nvSpPr>
        <p:spPr>
          <a:xfrm>
            <a:off x="548640" y="3657600"/>
            <a:ext cx="11094415" cy="731520"/>
          </a:xfrm>
          <a:prstGeom prst="rect">
            <a:avLst/>
          </a:prstGeom>
          <a:noFill/>
        </p:spPr>
        <p:txBody>
          <a:bodyPr wrap="square" anchor="t" lIns="0" rIns="0" tIns="0" bIns="0">
            <a:noAutofit/>
          </a:bodyPr>
          <a:lstStyle/>
          <a:p>
            <a:pPr algn="ctr" rtl="1"/>
            <a:r>
              <a:rPr sz="3600" b="1" i="0" lang="ar-SA">
                <a:solidFill>
                  <a:srgbClr val="2DD4BF"/>
                </a:solidFill>
                <a:latin typeface="Arial"/>
                <a:cs typeface="Arial"/>
              </a:rPr>
              <a:t>شكرًا لكم</a:t>
            </a:r>
          </a:p>
        </p:txBody>
      </p:sp>
      <p:sp>
        <p:nvSpPr>
          <p:cNvPr id="5" name="questions"/>
          <p:cNvSpPr txBox="1"/>
          <p:nvPr/>
        </p:nvSpPr>
        <p:spPr>
          <a:xfrm>
            <a:off x="548640" y="4526280"/>
            <a:ext cx="11094415" cy="457200"/>
          </a:xfrm>
          <a:prstGeom prst="rect">
            <a:avLst/>
          </a:prstGeom>
          <a:noFill/>
        </p:spPr>
        <p:txBody>
          <a:bodyPr wrap="square" anchor="t" lIns="0" rIns="0" tIns="0" bIns="0">
            <a:noAutofit/>
          </a:bodyPr>
          <a:lstStyle/>
          <a:p>
            <a:pPr algn="ctr"/>
            <a:r>
              <a:rPr sz="2400" b="0" i="0">
                <a:solidFill>
                  <a:srgbClr val="FFFFFF"/>
                </a:solidFill>
                <a:latin typeface="Arial"/>
              </a:rPr>
              <a:t>Questions are welcome</a:t>
            </a:r>
          </a:p>
        </p:txBody>
      </p:sp>
      <p:sp>
        <p:nvSpPr>
          <p:cNvPr id="6" name="team line"/>
          <p:cNvSpPr txBox="1"/>
          <p:nvPr/>
        </p:nvSpPr>
        <p:spPr>
          <a:xfrm>
            <a:off x="548640" y="5669280"/>
            <a:ext cx="11094415" cy="320040"/>
          </a:xfrm>
          <a:prstGeom prst="rect">
            <a:avLst/>
          </a:prstGeom>
          <a:noFill/>
        </p:spPr>
        <p:txBody>
          <a:bodyPr wrap="square" anchor="t" lIns="0" rIns="0" tIns="0" bIns="0">
            <a:noAutofit/>
          </a:bodyPr>
          <a:lstStyle/>
          <a:p>
            <a:pPr algn="ctr"/>
            <a:r>
              <a:rPr sz="1200" b="0" i="0">
                <a:solidFill>
                  <a:srgbClr val="D5DBE3"/>
                </a:solidFill>
                <a:latin typeface="Arial"/>
              </a:rPr>
              <a:t>Mohammed Yasser Alanssari  ·  Bader Alshuraie  ·  Bader Abdullah Abbod Alyamini  ·  Abdulmalik bin Saedan  ·  Abdullah Naif Abdullah Al-Orabi</a:t>
            </a:r>
          </a:p>
        </p:txBody>
      </p:sp>
      <p:sp>
        <p:nvSpPr>
          <p:cNvPr id="7" name="supervisor line"/>
          <p:cNvSpPr txBox="1"/>
          <p:nvPr/>
        </p:nvSpPr>
        <p:spPr>
          <a:xfrm>
            <a:off x="548640" y="6053328"/>
            <a:ext cx="11094415" cy="320040"/>
          </a:xfrm>
          <a:prstGeom prst="rect">
            <a:avLst/>
          </a:prstGeom>
          <a:noFill/>
        </p:spPr>
        <p:txBody>
          <a:bodyPr wrap="square" anchor="t" lIns="0" rIns="0" tIns="0" bIns="0">
            <a:noAutofit/>
          </a:bodyPr>
          <a:lstStyle/>
          <a:p>
            <a:pPr algn="ctr"/>
            <a:r>
              <a:rPr sz="1400" b="0" i="0">
                <a:solidFill>
                  <a:srgbClr val="D5DBE3"/>
                </a:solidFill>
                <a:latin typeface="Arial"/>
              </a:rPr>
              <a:t>Supervisor: Dr. Omaia Al-Omari  ·  Prince Sultan University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Mirsad (مرصاد) – IS499 Final Presentation</dc:title>
  <dc:subject>A runtime security firewall for AI agents against prompt-injection attacks</dc:subject>
  <dc:creator>Mirsad team – Prince Sultan University</dc:creator>
  <cp:keywords>prompt injection; AI agents; MCP; security gateway; Arabic</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