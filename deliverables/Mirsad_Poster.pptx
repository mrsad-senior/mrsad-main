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600000" cy="5112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F6FB"/>
        </a:solidFill>
        <a:effectLst/>
      </p:bgPr>
    </p:bg>
    <p:spTree>
      <p:nvGrpSpPr>
        <p:cNvPr id="1" name=""/>
        <p:cNvGrpSpPr/>
        <p:nvPr/>
      </p:nvGrpSpPr>
      <p:grpSpPr/>
      <p:sp>
        <p:nvSpPr>
          <p:cNvPr id="2" name="title band"/>
          <p:cNvSpPr/>
          <p:nvPr/>
        </p:nvSpPr>
        <p:spPr>
          <a:xfrm>
            <a:off x="0" y="0"/>
            <a:ext cx="30600000" cy="735397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band rule"/>
          <p:cNvSpPr/>
          <p:nvPr/>
        </p:nvSpPr>
        <p:spPr>
          <a:xfrm>
            <a:off x="0" y="7191974"/>
            <a:ext cx="30600000" cy="162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ogo card"/>
          <p:cNvSpPr/>
          <p:nvPr/>
        </p:nvSpPr>
        <p:spPr>
          <a:xfrm>
            <a:off x="1440000" y="792000"/>
            <a:ext cx="4730040" cy="2304000"/>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nce Sultan University logo"/>
          <p:cNvPicPr>
            <a:picLocks noChangeAspect="1"/>
          </p:cNvPicPr>
          <p:nvPr/>
        </p:nvPicPr>
        <p:blipFill>
          <a:blip r:embed="rId2"/>
          <a:stretch>
            <a:fillRect/>
          </a:stretch>
        </p:blipFill>
        <p:spPr>
          <a:xfrm>
            <a:off x="1764000" y="1116000"/>
            <a:ext cx="4082039" cy="1655999"/>
          </a:xfrm>
          <a:prstGeom prst="rect">
            <a:avLst/>
          </a:prstGeom>
        </p:spPr>
      </p:pic>
      <p:pic>
        <p:nvPicPr>
          <p:cNvPr id="6" name="Picture 5" descr="Mirsad logo"/>
          <p:cNvPicPr>
            <a:picLocks noChangeAspect="1"/>
          </p:cNvPicPr>
          <p:nvPr/>
        </p:nvPicPr>
        <p:blipFill>
          <a:blip r:embed="rId3"/>
          <a:stretch>
            <a:fillRect/>
          </a:stretch>
        </p:blipFill>
        <p:spPr>
          <a:xfrm>
            <a:off x="8185817" y="1053026"/>
            <a:ext cx="1781946" cy="1781946"/>
          </a:xfrm>
          <a:prstGeom prst="rect">
            <a:avLst/>
          </a:prstGeom>
        </p:spPr>
      </p:pic>
      <p:sp>
        <p:nvSpPr>
          <p:cNvPr id="7" name="title"/>
          <p:cNvSpPr txBox="1"/>
          <p:nvPr/>
        </p:nvSpPr>
        <p:spPr>
          <a:xfrm>
            <a:off x="10327764" y="907984"/>
            <a:ext cx="12086418" cy="2072030"/>
          </a:xfrm>
          <a:prstGeom prst="rect">
            <a:avLst/>
          </a:prstGeom>
          <a:noFill/>
        </p:spPr>
        <p:txBody>
          <a:bodyPr wrap="square" anchor="ctr" lIns="0" rIns="0" tIns="0" bIns="0">
            <a:noAutofit/>
          </a:bodyPr>
          <a:lstStyle/>
          <a:p>
            <a:pPr algn="l"/>
            <a:r>
              <a:rPr sz="13200" b="1" i="0">
                <a:solidFill>
                  <a:srgbClr val="FFFFFF"/>
                </a:solidFill>
                <a:latin typeface="Arial"/>
              </a:rPr>
              <a:t>Mirsad</a:t>
            </a:r>
            <a:r>
              <a:rPr sz="13200" b="0" i="0">
                <a:solidFill>
                  <a:srgbClr val="5EEAD4"/>
                </a:solidFill>
                <a:latin typeface="Arial"/>
              </a:rPr>
              <a:t>  |  </a:t>
            </a:r>
            <a:r>
              <a:rPr sz="13200" b="1" i="0" lang="ar-SA">
                <a:solidFill>
                  <a:srgbClr val="FFFFFF"/>
                </a:solidFill>
                <a:latin typeface="Arial"/>
                <a:cs typeface="Arial"/>
              </a:rPr>
              <a:t>مرصاد</a:t>
            </a:r>
          </a:p>
        </p:txBody>
      </p:sp>
      <p:sp>
        <p:nvSpPr>
          <p:cNvPr id="8" name="course"/>
          <p:cNvSpPr txBox="1"/>
          <p:nvPr/>
        </p:nvSpPr>
        <p:spPr>
          <a:xfrm>
            <a:off x="24882186" y="1284717"/>
            <a:ext cx="4277813" cy="1318564"/>
          </a:xfrm>
          <a:prstGeom prst="rect">
            <a:avLst/>
          </a:prstGeom>
          <a:noFill/>
        </p:spPr>
        <p:txBody>
          <a:bodyPr wrap="square" anchor="t" lIns="0" rIns="0" tIns="0" bIns="0">
            <a:noAutofit/>
          </a:bodyPr>
          <a:lstStyle/>
          <a:p>
            <a:pPr algn="r"/>
            <a:r>
              <a:rPr sz="2800" b="1" i="0">
                <a:solidFill>
                  <a:srgbClr val="FFFFFF"/>
                </a:solidFill>
                <a:latin typeface="Arial"/>
              </a:rPr>
              <a:t>College of Computer &amp;</a:t>
            </a:r>
          </a:p>
          <a:p>
            <a:pPr algn="r"/>
            <a:r>
              <a:rPr sz="2800" b="1" i="0">
                <a:solidFill>
                  <a:srgbClr val="FFFFFF"/>
                </a:solidFill>
                <a:latin typeface="Arial"/>
              </a:rPr>
              <a:t>Information Sciences</a:t>
            </a:r>
          </a:p>
          <a:p>
            <a:pPr algn="r"/>
            <a:r>
              <a:rPr sz="2800" b="0" i="0">
                <a:solidFill>
                  <a:srgbClr val="D6E4F0"/>
                </a:solidFill>
                <a:latin typeface="Arial"/>
              </a:rPr>
              <a:t>IS499 Senior Project</a:t>
            </a:r>
          </a:p>
        </p:txBody>
      </p:sp>
      <p:sp>
        <p:nvSpPr>
          <p:cNvPr id="9" name="subtitle"/>
          <p:cNvSpPr txBox="1"/>
          <p:nvPr/>
        </p:nvSpPr>
        <p:spPr>
          <a:xfrm>
            <a:off x="1440000" y="3347999"/>
            <a:ext cx="27720000" cy="784860"/>
          </a:xfrm>
          <a:prstGeom prst="rect">
            <a:avLst/>
          </a:prstGeom>
          <a:noFill/>
        </p:spPr>
        <p:txBody>
          <a:bodyPr wrap="square" anchor="t" lIns="0" rIns="0" tIns="0" bIns="0">
            <a:noAutofit/>
          </a:bodyPr>
          <a:lstStyle/>
          <a:p>
            <a:pPr algn="ctr"/>
            <a:r>
              <a:rPr sz="5000" b="0" i="0">
                <a:solidFill>
                  <a:srgbClr val="5EEAD4"/>
                </a:solidFill>
                <a:latin typeface="Arial"/>
              </a:rPr>
              <a:t>A Runtime Security Firewall for AI Agents Against Prompt-Injection Attacks</a:t>
            </a:r>
          </a:p>
        </p:txBody>
      </p:sp>
      <p:sp>
        <p:nvSpPr>
          <p:cNvPr id="10" name="subtitle rule"/>
          <p:cNvSpPr/>
          <p:nvPr/>
        </p:nvSpPr>
        <p:spPr>
          <a:xfrm>
            <a:off x="12420000" y="4456860"/>
            <a:ext cx="5760000" cy="9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uthors"/>
          <p:cNvSpPr txBox="1"/>
          <p:nvPr/>
        </p:nvSpPr>
        <p:spPr>
          <a:xfrm>
            <a:off x="1800000" y="4906860"/>
            <a:ext cx="27000000" cy="1067409"/>
          </a:xfrm>
          <a:prstGeom prst="rect">
            <a:avLst/>
          </a:prstGeom>
          <a:noFill/>
        </p:spPr>
        <p:txBody>
          <a:bodyPr wrap="square" anchor="t" lIns="0" rIns="0" tIns="0" bIns="0">
            <a:noAutofit/>
          </a:bodyPr>
          <a:lstStyle/>
          <a:p>
            <a:pPr algn="ctr"/>
            <a:r>
              <a:rPr sz="3400" b="1" i="0">
                <a:solidFill>
                  <a:srgbClr val="5EEAD4"/>
                </a:solidFill>
                <a:latin typeface="Arial"/>
              </a:rPr>
              <a:t>Authors: </a:t>
            </a:r>
            <a:r>
              <a:rPr sz="3400" b="0" i="0">
                <a:solidFill>
                  <a:srgbClr val="FFFFFF"/>
                </a:solidFill>
                <a:latin typeface="Arial"/>
              </a:rPr>
              <a:t>Mohammed Yasser Alanssari  ·  Bader Alshuraie  ·  Bader Abdullah Abbod Alyamini</a:t>
            </a:r>
          </a:p>
          <a:p>
            <a:pPr algn="ctr"/>
            <a:r>
              <a:rPr sz="3400" b="0" i="0">
                <a:solidFill>
                  <a:srgbClr val="FFFFFF"/>
                </a:solidFill>
                <a:latin typeface="Arial"/>
              </a:rPr>
              <a:t>Abdulmalik bin Saedan  ·  Abdullah Naif Abdullah Al-Orabi</a:t>
            </a:r>
          </a:p>
        </p:txBody>
      </p:sp>
      <p:sp>
        <p:nvSpPr>
          <p:cNvPr id="12" name="advisor"/>
          <p:cNvSpPr txBox="1"/>
          <p:nvPr/>
        </p:nvSpPr>
        <p:spPr>
          <a:xfrm>
            <a:off x="1800000" y="6100269"/>
            <a:ext cx="27000000" cy="533704"/>
          </a:xfrm>
          <a:prstGeom prst="rect">
            <a:avLst/>
          </a:prstGeom>
          <a:noFill/>
        </p:spPr>
        <p:txBody>
          <a:bodyPr wrap="square" anchor="t" lIns="0" rIns="0" tIns="0" bIns="0">
            <a:noAutofit/>
          </a:bodyPr>
          <a:lstStyle/>
          <a:p>
            <a:pPr algn="ctr"/>
            <a:r>
              <a:rPr sz="3400" b="1" i="0">
                <a:solidFill>
                  <a:srgbClr val="5EEAD4"/>
                </a:solidFill>
                <a:latin typeface="Arial"/>
              </a:rPr>
              <a:t>Advisor: </a:t>
            </a:r>
            <a:r>
              <a:rPr sz="3400" b="0" i="0">
                <a:solidFill>
                  <a:srgbClr val="FFFFFF"/>
                </a:solidFill>
                <a:latin typeface="Arial"/>
              </a:rPr>
              <a:t>Dr. Omaia Al-Omari</a:t>
            </a:r>
          </a:p>
        </p:txBody>
      </p:sp>
      <p:sp>
        <p:nvSpPr>
          <p:cNvPr id="13" name="introduction card"/>
          <p:cNvSpPr/>
          <p:nvPr/>
        </p:nvSpPr>
        <p:spPr>
          <a:xfrm>
            <a:off x="1440000" y="8665842"/>
            <a:ext cx="27720000" cy="3575664"/>
          </a:xfrm>
          <a:prstGeom prst="roundRect">
            <a:avLst>
              <a:gd name="adj" fmla="val 11074"/>
            </a:avLst>
          </a:prstGeom>
          <a:solidFill>
            <a:srgbClr val="FFFFFF"/>
          </a:solidFill>
          <a:ln w="22225">
            <a:solidFill>
              <a:srgbClr val="C5D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ntroduction heading"/>
          <p:cNvSpPr/>
          <p:nvPr/>
        </p:nvSpPr>
        <p:spPr>
          <a:xfrm>
            <a:off x="12292485" y="8017842"/>
            <a:ext cx="6015029" cy="12960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0" b="1" i="0">
                <a:solidFill>
                  <a:srgbClr val="FFFFFF"/>
                </a:solidFill>
                <a:latin typeface="Arial"/>
              </a:rPr>
              <a:t>Introduction</a:t>
            </a:r>
          </a:p>
        </p:txBody>
      </p:sp>
      <p:sp>
        <p:nvSpPr>
          <p:cNvPr id="15" name="introduction text"/>
          <p:cNvSpPr txBox="1"/>
          <p:nvPr/>
        </p:nvSpPr>
        <p:spPr>
          <a:xfrm>
            <a:off x="2088000" y="9745842"/>
            <a:ext cx="26424000" cy="1883664"/>
          </a:xfrm>
          <a:prstGeom prst="rect">
            <a:avLst/>
          </a:prstGeom>
          <a:noFill/>
        </p:spPr>
        <p:txBody>
          <a:bodyPr wrap="square" anchor="t" lIns="0" rIns="0" tIns="0" bIns="0">
            <a:noAutofit/>
          </a:bodyPr>
          <a:lstStyle/>
          <a:p>
            <a:pPr algn="l"/>
            <a:r>
              <a:rPr sz="3000" b="0" i="0">
                <a:solidFill>
                  <a:srgbClr val="1F2937"/>
                </a:solidFill>
                <a:latin typeface="Arial"/>
              </a:rPr>
              <a:t>AI agents now read e-mail, web pages and documents and act through tools that send messages, export records or move money. Instructions hidden in that content can hijack an agent (indirect prompt injection, OWASP LLM01), and firewalls or DLP only see an authorised agent making a normal call. </a:t>
            </a:r>
            <a:r>
              <a:rPr sz="3000" b="1" i="0">
                <a:solidFill>
                  <a:srgbClr val="0B1F3A"/>
                </a:solidFill>
                <a:latin typeface="Arial"/>
              </a:rPr>
              <a:t>Mirsad</a:t>
            </a:r>
            <a:r>
              <a:rPr sz="3000" b="0" i="0">
                <a:solidFill>
                  <a:srgbClr val="1F2937"/>
                </a:solidFill>
                <a:latin typeface="Arial"/>
              </a:rPr>
              <a:t> (Arabic for “watchtower”) is a drop-in gateway between any agent and its tools. It checks every tool call before it runs and every result before the model sees it, in Arabic and English.</a:t>
            </a:r>
          </a:p>
        </p:txBody>
      </p:sp>
      <p:sp>
        <p:nvSpPr>
          <p:cNvPr id="16" name="objectives card"/>
          <p:cNvSpPr/>
          <p:nvPr/>
        </p:nvSpPr>
        <p:spPr>
          <a:xfrm>
            <a:off x="1440000" y="13553375"/>
            <a:ext cx="13500000" cy="11619170"/>
          </a:xfrm>
          <a:prstGeom prst="roundRect">
            <a:avLst>
              <a:gd name="adj" fmla="val 3408"/>
            </a:avLst>
          </a:prstGeom>
          <a:solidFill>
            <a:srgbClr val="FFFFFF"/>
          </a:solidFill>
          <a:ln w="22225">
            <a:solidFill>
              <a:srgbClr val="C5D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bjectives heading"/>
          <p:cNvSpPr/>
          <p:nvPr/>
        </p:nvSpPr>
        <p:spPr>
          <a:xfrm>
            <a:off x="5473950" y="12905375"/>
            <a:ext cx="5432100" cy="12960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0" b="1" i="0">
                <a:solidFill>
                  <a:srgbClr val="FFFFFF"/>
                </a:solidFill>
                <a:latin typeface="Arial"/>
              </a:rPr>
              <a:t>Objectives</a:t>
            </a:r>
          </a:p>
        </p:txBody>
      </p:sp>
      <p:sp>
        <p:nvSpPr>
          <p:cNvPr id="18" name="objective 1"/>
          <p:cNvSpPr/>
          <p:nvPr/>
        </p:nvSpPr>
        <p:spPr>
          <a:xfrm>
            <a:off x="2088000" y="14633375"/>
            <a:ext cx="12204000" cy="3184460"/>
          </a:xfrm>
          <a:prstGeom prst="roundRect">
            <a:avLst>
              <a:gd name="adj" fmla="val 7913"/>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bjective 1 accent"/>
          <p:cNvSpPr/>
          <p:nvPr/>
        </p:nvSpPr>
        <p:spPr>
          <a:xfrm>
            <a:off x="2088000" y="14633375"/>
            <a:ext cx="162000" cy="31844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bjective 1 number"/>
          <p:cNvSpPr/>
          <p:nvPr/>
        </p:nvSpPr>
        <p:spPr>
          <a:xfrm>
            <a:off x="2448000" y="14993375"/>
            <a:ext cx="1044000" cy="1044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4800" b="1" i="0">
                <a:solidFill>
                  <a:srgbClr val="0B1F3A"/>
                </a:solidFill>
                <a:latin typeface="Arial"/>
              </a:rPr>
              <a:t>1</a:t>
            </a:r>
          </a:p>
        </p:txBody>
      </p:sp>
      <p:sp>
        <p:nvSpPr>
          <p:cNvPr id="21" name="objective 1 text"/>
          <p:cNvSpPr txBox="1"/>
          <p:nvPr/>
        </p:nvSpPr>
        <p:spPr>
          <a:xfrm>
            <a:off x="3851999" y="14993375"/>
            <a:ext cx="10080000" cy="2464460"/>
          </a:xfrm>
          <a:prstGeom prst="rect">
            <a:avLst/>
          </a:prstGeom>
          <a:noFill/>
        </p:spPr>
        <p:txBody>
          <a:bodyPr wrap="square" anchor="t" lIns="0" rIns="0" tIns="0" bIns="0">
            <a:noAutofit/>
          </a:bodyPr>
          <a:lstStyle/>
          <a:p>
            <a:pPr algn="l">
              <a:spcAft>
                <a:spcPts val="600"/>
              </a:spcAft>
            </a:pPr>
            <a:r>
              <a:rPr sz="3200" b="1" i="0">
                <a:solidFill>
                  <a:srgbClr val="0B1F3A"/>
                </a:solidFill>
                <a:latin typeface="Arial"/>
              </a:rPr>
              <a:t>Enforce security at the tool boundary</a:t>
            </a:r>
          </a:p>
          <a:p>
            <a:pPr algn="l"/>
            <a:r>
              <a:rPr sz="3000" b="0" i="0">
                <a:solidFill>
                  <a:srgbClr val="1F2937"/>
                </a:solidFill>
                <a:latin typeface="Arial"/>
              </a:rPr>
              <a:t>Intercept every tool call and result of MCP and OpenAI-style agents, enforce a YAML policy and taint tracking, and add at most 200 ms median latency per call.</a:t>
            </a:r>
            <a:r>
              <a:rPr sz="3000" b="0" i="0">
                <a:solidFill>
                  <a:srgbClr val="475569"/>
                </a:solidFill>
                <a:latin typeface="Arial"/>
              </a:rPr>
              <a:t> (M5, Mar 2027)</a:t>
            </a:r>
          </a:p>
        </p:txBody>
      </p:sp>
      <p:sp>
        <p:nvSpPr>
          <p:cNvPr id="22" name="objective 2"/>
          <p:cNvSpPr/>
          <p:nvPr/>
        </p:nvSpPr>
        <p:spPr>
          <a:xfrm>
            <a:off x="2088000" y="18240188"/>
            <a:ext cx="12204000" cy="2713544"/>
          </a:xfrm>
          <a:prstGeom prst="roundRect">
            <a:avLst>
              <a:gd name="adj" fmla="val 9286"/>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bjective 2 accent"/>
          <p:cNvSpPr/>
          <p:nvPr/>
        </p:nvSpPr>
        <p:spPr>
          <a:xfrm>
            <a:off x="2088000" y="18240188"/>
            <a:ext cx="162000" cy="2713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bjective 2 number"/>
          <p:cNvSpPr/>
          <p:nvPr/>
        </p:nvSpPr>
        <p:spPr>
          <a:xfrm>
            <a:off x="2448000" y="18600188"/>
            <a:ext cx="1044000" cy="1044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4800" b="1" i="0">
                <a:solidFill>
                  <a:srgbClr val="0B1F3A"/>
                </a:solidFill>
                <a:latin typeface="Arial"/>
              </a:rPr>
              <a:t>2</a:t>
            </a:r>
          </a:p>
        </p:txBody>
      </p:sp>
      <p:sp>
        <p:nvSpPr>
          <p:cNvPr id="25" name="objective 2 text"/>
          <p:cNvSpPr txBox="1"/>
          <p:nvPr/>
        </p:nvSpPr>
        <p:spPr>
          <a:xfrm>
            <a:off x="3851999" y="18600188"/>
            <a:ext cx="10080000" cy="1993544"/>
          </a:xfrm>
          <a:prstGeom prst="rect">
            <a:avLst/>
          </a:prstGeom>
          <a:noFill/>
        </p:spPr>
        <p:txBody>
          <a:bodyPr wrap="square" anchor="t" lIns="0" rIns="0" tIns="0" bIns="0">
            <a:noAutofit/>
          </a:bodyPr>
          <a:lstStyle/>
          <a:p>
            <a:pPr algn="l">
              <a:spcAft>
                <a:spcPts val="600"/>
              </a:spcAft>
            </a:pPr>
            <a:r>
              <a:rPr sz="3200" b="1" i="0">
                <a:solidFill>
                  <a:srgbClr val="0B1F3A"/>
                </a:solidFill>
                <a:latin typeface="Arial"/>
              </a:rPr>
              <a:t>Detect injections in Arabic and English</a:t>
            </a:r>
          </a:p>
          <a:p>
            <a:pPr algn="l"/>
            <a:r>
              <a:rPr sz="3000" b="0" i="0">
                <a:solidFill>
                  <a:srgbClr val="1F2937"/>
                </a:solidFill>
                <a:latin typeface="Arial"/>
              </a:rPr>
              <a:t>Build a detector and a labelled dataset for MSA, Gulf dialect, Arabizi, mixed and English text that reaches F1 ≥ 0.85 on held-out test sets.</a:t>
            </a:r>
            <a:r>
              <a:rPr sz="3000" b="0" i="0">
                <a:solidFill>
                  <a:srgbClr val="475569"/>
                </a:solidFill>
                <a:latin typeface="Arial"/>
              </a:rPr>
              <a:t> (M4, Feb 2027)</a:t>
            </a:r>
          </a:p>
        </p:txBody>
      </p:sp>
      <p:sp>
        <p:nvSpPr>
          <p:cNvPr id="26" name="objective 3"/>
          <p:cNvSpPr/>
          <p:nvPr/>
        </p:nvSpPr>
        <p:spPr>
          <a:xfrm>
            <a:off x="2088000" y="21376085"/>
            <a:ext cx="12204000" cy="3184460"/>
          </a:xfrm>
          <a:prstGeom prst="roundRect">
            <a:avLst>
              <a:gd name="adj" fmla="val 7913"/>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bjective 3 accent"/>
          <p:cNvSpPr/>
          <p:nvPr/>
        </p:nvSpPr>
        <p:spPr>
          <a:xfrm>
            <a:off x="2088000" y="21376085"/>
            <a:ext cx="162000" cy="31844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bjective 3 number"/>
          <p:cNvSpPr/>
          <p:nvPr/>
        </p:nvSpPr>
        <p:spPr>
          <a:xfrm>
            <a:off x="2448000" y="21736085"/>
            <a:ext cx="1044000" cy="1044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4800" b="1" i="0">
                <a:solidFill>
                  <a:srgbClr val="0B1F3A"/>
                </a:solidFill>
                <a:latin typeface="Arial"/>
              </a:rPr>
              <a:t>3</a:t>
            </a:r>
          </a:p>
        </p:txBody>
      </p:sp>
      <p:sp>
        <p:nvSpPr>
          <p:cNvPr id="29" name="objective 3 text"/>
          <p:cNvSpPr txBox="1"/>
          <p:nvPr/>
        </p:nvSpPr>
        <p:spPr>
          <a:xfrm>
            <a:off x="3851999" y="21736085"/>
            <a:ext cx="10080000" cy="2464460"/>
          </a:xfrm>
          <a:prstGeom prst="rect">
            <a:avLst/>
          </a:prstGeom>
          <a:noFill/>
        </p:spPr>
        <p:txBody>
          <a:bodyPr wrap="square" anchor="t" lIns="0" rIns="0" tIns="0" bIns="0">
            <a:noAutofit/>
          </a:bodyPr>
          <a:lstStyle/>
          <a:p>
            <a:pPr algn="l">
              <a:spcAft>
                <a:spcPts val="600"/>
              </a:spcAft>
            </a:pPr>
            <a:r>
              <a:rPr sz="3200" b="1" i="0">
                <a:solidFill>
                  <a:srgbClr val="0B1F3A"/>
                </a:solidFill>
                <a:latin typeface="Arial"/>
              </a:rPr>
              <a:t>Keep humans in control and prove the effect</a:t>
            </a:r>
          </a:p>
          <a:p>
            <a:pPr algn="l"/>
            <a:r>
              <a:rPr sz="3000" b="0" i="0">
                <a:solidFill>
                  <a:srgbClr val="1F2937"/>
                </a:solidFill>
                <a:latin typeface="Arial"/>
              </a:rPr>
              <a:t>Provide a mobile approval app, a dashboard and a replayable, tamper-evident audit log; cut attack success by ≥ 80% while blocking ≤ 5% of benign actions.</a:t>
            </a:r>
            <a:r>
              <a:rPr sz="3000" b="0" i="0">
                <a:solidFill>
                  <a:srgbClr val="475569"/>
                </a:solidFill>
                <a:latin typeface="Arial"/>
              </a:rPr>
              <a:t> (M6, Apr 2027)</a:t>
            </a:r>
          </a:p>
        </p:txBody>
      </p:sp>
      <p:sp>
        <p:nvSpPr>
          <p:cNvPr id="30" name="methodology card"/>
          <p:cNvSpPr/>
          <p:nvPr/>
        </p:nvSpPr>
        <p:spPr>
          <a:xfrm>
            <a:off x="15660000" y="13553375"/>
            <a:ext cx="13500000" cy="11619170"/>
          </a:xfrm>
          <a:prstGeom prst="roundRect">
            <a:avLst>
              <a:gd name="adj" fmla="val 3408"/>
            </a:avLst>
          </a:prstGeom>
          <a:solidFill>
            <a:srgbClr val="FFFFFF"/>
          </a:solidFill>
          <a:ln w="22225">
            <a:solidFill>
              <a:srgbClr val="C5D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ethodology heading"/>
          <p:cNvSpPr/>
          <p:nvPr/>
        </p:nvSpPr>
        <p:spPr>
          <a:xfrm>
            <a:off x="19253895" y="12905375"/>
            <a:ext cx="6312210" cy="12960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0" b="1" i="0">
                <a:solidFill>
                  <a:srgbClr val="FFFFFF"/>
                </a:solidFill>
                <a:latin typeface="Arial"/>
              </a:rPr>
              <a:t>Methodology</a:t>
            </a:r>
          </a:p>
        </p:txBody>
      </p:sp>
      <p:sp>
        <p:nvSpPr>
          <p:cNvPr id="32" name="methodology text"/>
          <p:cNvSpPr txBox="1"/>
          <p:nvPr/>
        </p:nvSpPr>
        <p:spPr>
          <a:xfrm>
            <a:off x="16307999" y="14633375"/>
            <a:ext cx="12204000" cy="2485390"/>
          </a:xfrm>
          <a:prstGeom prst="rect">
            <a:avLst/>
          </a:prstGeom>
          <a:noFill/>
        </p:spPr>
        <p:txBody>
          <a:bodyPr wrap="square" anchor="t" lIns="0" rIns="0" tIns="0" bIns="0">
            <a:noAutofit/>
          </a:bodyPr>
          <a:lstStyle/>
          <a:p>
            <a:pPr algn="l">
              <a:spcAft>
                <a:spcPts val="1000"/>
              </a:spcAft>
            </a:pPr>
            <a:r>
              <a:rPr sz="3000" b="1" i="0">
                <a:solidFill>
                  <a:srgbClr val="0B1F3A"/>
                </a:solidFill>
                <a:latin typeface="Arial"/>
              </a:rPr>
              <a:t>Scrum.</a:t>
            </a:r>
            <a:r>
              <a:rPr sz="3000" b="0" i="0">
                <a:solidFill>
                  <a:srgbClr val="1F2937"/>
                </a:solidFill>
                <a:latin typeface="Arial"/>
              </a:rPr>
              <a:t> Two-week sprints (17 over two semesters), one owner per workstream, all coding against a written interface contract.</a:t>
            </a:r>
          </a:p>
          <a:p>
            <a:pPr algn="l"/>
            <a:r>
              <a:rPr sz="3000" b="1" i="0">
                <a:solidFill>
                  <a:srgbClr val="0B1F3A"/>
                </a:solidFill>
                <a:latin typeface="Arial"/>
              </a:rPr>
              <a:t>DevSecOps.</a:t>
            </a:r>
            <a:r>
              <a:rPr sz="3000" b="0" i="0">
                <a:solidFill>
                  <a:srgbClr val="1F2937"/>
                </a:solidFill>
                <a:latin typeface="Arial"/>
              </a:rPr>
              <a:t> STRIDE threat model, a second reviewer on every pull request and CI security gates: tests, coverage, Bandit, pip-audit and npm audit.</a:t>
            </a:r>
          </a:p>
        </p:txBody>
      </p:sp>
      <p:sp>
        <p:nvSpPr>
          <p:cNvPr id="33" name="layers heading"/>
          <p:cNvSpPr txBox="1"/>
          <p:nvPr/>
        </p:nvSpPr>
        <p:spPr>
          <a:xfrm>
            <a:off x="16307999" y="17514765"/>
            <a:ext cx="12204000" cy="533704"/>
          </a:xfrm>
          <a:prstGeom prst="rect">
            <a:avLst/>
          </a:prstGeom>
          <a:noFill/>
        </p:spPr>
        <p:txBody>
          <a:bodyPr wrap="square" anchor="t" lIns="0" rIns="0" tIns="0" bIns="0">
            <a:noAutofit/>
          </a:bodyPr>
          <a:lstStyle/>
          <a:p>
            <a:pPr algn="l"/>
            <a:r>
              <a:rPr sz="3400" b="1" i="0">
                <a:solidFill>
                  <a:srgbClr val="0F766E"/>
                </a:solidFill>
                <a:latin typeface="Arial"/>
              </a:rPr>
              <a:t>How Mirsad works: five layers</a:t>
            </a:r>
          </a:p>
        </p:txBody>
      </p:sp>
      <p:sp>
        <p:nvSpPr>
          <p:cNvPr id="34" name="layer 1 number"/>
          <p:cNvSpPr/>
          <p:nvPr/>
        </p:nvSpPr>
        <p:spPr>
          <a:xfrm>
            <a:off x="16307999" y="18339385"/>
            <a:ext cx="792000" cy="7920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00" b="1" i="0">
                <a:solidFill>
                  <a:srgbClr val="FFFFFF"/>
                </a:solidFill>
                <a:latin typeface="Arial"/>
              </a:rPr>
              <a:t>1</a:t>
            </a:r>
          </a:p>
        </p:txBody>
      </p:sp>
      <p:sp>
        <p:nvSpPr>
          <p:cNvPr id="35" name="layer 1 text"/>
          <p:cNvSpPr txBox="1"/>
          <p:nvPr/>
        </p:nvSpPr>
        <p:spPr>
          <a:xfrm>
            <a:off x="17424000" y="18264469"/>
            <a:ext cx="11088000" cy="941832"/>
          </a:xfrm>
          <a:prstGeom prst="rect">
            <a:avLst/>
          </a:prstGeom>
          <a:noFill/>
        </p:spPr>
        <p:txBody>
          <a:bodyPr wrap="square" anchor="t" lIns="0" rIns="0" tIns="0" bIns="0">
            <a:noAutofit/>
          </a:bodyPr>
          <a:lstStyle/>
          <a:p>
            <a:pPr algn="l"/>
            <a:r>
              <a:rPr sz="3000" b="1" i="0">
                <a:solidFill>
                  <a:srgbClr val="0B1F3A"/>
                </a:solidFill>
                <a:latin typeface="Arial"/>
              </a:rPr>
              <a:t>Policy engine</a:t>
            </a:r>
            <a:r>
              <a:rPr sz="3000" b="0" i="0">
                <a:solidFill>
                  <a:srgbClr val="1F2937"/>
                </a:solidFill>
                <a:latin typeface="Arial"/>
              </a:rPr>
              <a:t> – YAML allow-lists, per-parameter limits and rate limits; unlisted tools are denied.</a:t>
            </a:r>
          </a:p>
        </p:txBody>
      </p:sp>
      <p:sp>
        <p:nvSpPr>
          <p:cNvPr id="36" name="layer 2 number"/>
          <p:cNvSpPr/>
          <p:nvPr/>
        </p:nvSpPr>
        <p:spPr>
          <a:xfrm>
            <a:off x="16307999" y="19479217"/>
            <a:ext cx="792000" cy="7920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00" b="1" i="0">
                <a:solidFill>
                  <a:srgbClr val="FFFFFF"/>
                </a:solidFill>
                <a:latin typeface="Arial"/>
              </a:rPr>
              <a:t>2</a:t>
            </a:r>
          </a:p>
        </p:txBody>
      </p:sp>
      <p:sp>
        <p:nvSpPr>
          <p:cNvPr id="37" name="layer 2 text"/>
          <p:cNvSpPr txBox="1"/>
          <p:nvPr/>
        </p:nvSpPr>
        <p:spPr>
          <a:xfrm>
            <a:off x="17424000" y="19404301"/>
            <a:ext cx="11088000" cy="941832"/>
          </a:xfrm>
          <a:prstGeom prst="rect">
            <a:avLst/>
          </a:prstGeom>
          <a:noFill/>
        </p:spPr>
        <p:txBody>
          <a:bodyPr wrap="square" anchor="t" lIns="0" rIns="0" tIns="0" bIns="0">
            <a:noAutofit/>
          </a:bodyPr>
          <a:lstStyle/>
          <a:p>
            <a:pPr algn="l"/>
            <a:r>
              <a:rPr sz="3000" b="1" i="0">
                <a:solidFill>
                  <a:srgbClr val="0B1F3A"/>
                </a:solidFill>
                <a:latin typeface="Arial"/>
              </a:rPr>
              <a:t>Taint tracking</a:t>
            </a:r>
            <a:r>
              <a:rPr sz="3000" b="0" i="0">
                <a:solidFill>
                  <a:srgbClr val="1F2937"/>
                </a:solidFill>
                <a:latin typeface="Arial"/>
              </a:rPr>
              <a:t> – labels results by trust and sensitivity; escalates or blocks untrusted or confidential data sent outside.</a:t>
            </a:r>
          </a:p>
        </p:txBody>
      </p:sp>
      <p:sp>
        <p:nvSpPr>
          <p:cNvPr id="38" name="layer 3 number"/>
          <p:cNvSpPr/>
          <p:nvPr/>
        </p:nvSpPr>
        <p:spPr>
          <a:xfrm>
            <a:off x="16307999" y="20619049"/>
            <a:ext cx="792000" cy="7920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00" b="1" i="0">
                <a:solidFill>
                  <a:srgbClr val="FFFFFF"/>
                </a:solidFill>
                <a:latin typeface="Arial"/>
              </a:rPr>
              <a:t>3</a:t>
            </a:r>
          </a:p>
        </p:txBody>
      </p:sp>
      <p:sp>
        <p:nvSpPr>
          <p:cNvPr id="39" name="layer 3 text"/>
          <p:cNvSpPr txBox="1"/>
          <p:nvPr/>
        </p:nvSpPr>
        <p:spPr>
          <a:xfrm>
            <a:off x="17424000" y="20544133"/>
            <a:ext cx="11088000" cy="941832"/>
          </a:xfrm>
          <a:prstGeom prst="rect">
            <a:avLst/>
          </a:prstGeom>
          <a:noFill/>
        </p:spPr>
        <p:txBody>
          <a:bodyPr wrap="square" anchor="t" lIns="0" rIns="0" tIns="0" bIns="0">
            <a:noAutofit/>
          </a:bodyPr>
          <a:lstStyle/>
          <a:p>
            <a:pPr algn="l"/>
            <a:r>
              <a:rPr sz="3000" b="1" i="0">
                <a:solidFill>
                  <a:srgbClr val="0B1F3A"/>
                </a:solidFill>
                <a:latin typeface="Arial"/>
              </a:rPr>
              <a:t>Injection detector</a:t>
            </a:r>
            <a:r>
              <a:rPr sz="3000" b="0" i="0">
                <a:solidFill>
                  <a:srgbClr val="1F2937"/>
                </a:solidFill>
                <a:latin typeface="Arial"/>
              </a:rPr>
              <a:t> – Arabic/English normalisation and weighted rules; risky results are sanitised or marked as data.</a:t>
            </a:r>
          </a:p>
        </p:txBody>
      </p:sp>
      <p:sp>
        <p:nvSpPr>
          <p:cNvPr id="40" name="layer 4 number"/>
          <p:cNvSpPr/>
          <p:nvPr/>
        </p:nvSpPr>
        <p:spPr>
          <a:xfrm>
            <a:off x="16307999" y="21758881"/>
            <a:ext cx="792000" cy="7920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00" b="1" i="0">
                <a:solidFill>
                  <a:srgbClr val="FFFFFF"/>
                </a:solidFill>
                <a:latin typeface="Arial"/>
              </a:rPr>
              <a:t>4</a:t>
            </a:r>
          </a:p>
        </p:txBody>
      </p:sp>
      <p:sp>
        <p:nvSpPr>
          <p:cNvPr id="41" name="layer 4 text"/>
          <p:cNvSpPr txBox="1"/>
          <p:nvPr/>
        </p:nvSpPr>
        <p:spPr>
          <a:xfrm>
            <a:off x="17424000" y="21683965"/>
            <a:ext cx="11088000" cy="941832"/>
          </a:xfrm>
          <a:prstGeom prst="rect">
            <a:avLst/>
          </a:prstGeom>
          <a:noFill/>
        </p:spPr>
        <p:txBody>
          <a:bodyPr wrap="square" anchor="t" lIns="0" rIns="0" tIns="0" bIns="0">
            <a:noAutofit/>
          </a:bodyPr>
          <a:lstStyle/>
          <a:p>
            <a:pPr algn="l"/>
            <a:r>
              <a:rPr sz="3000" b="1" i="0">
                <a:solidFill>
                  <a:srgbClr val="0B1F3A"/>
                </a:solidFill>
                <a:latin typeface="Arial"/>
              </a:rPr>
              <a:t>Human approval</a:t>
            </a:r>
            <a:r>
              <a:rPr sz="3000" b="0" i="0">
                <a:solidFill>
                  <a:srgbClr val="1F2937"/>
                </a:solidFill>
                <a:latin typeface="Arial"/>
              </a:rPr>
              <a:t> – high-risk calls wait for a phone decision with a bilingual summary; no answer means deny.</a:t>
            </a:r>
          </a:p>
        </p:txBody>
      </p:sp>
      <p:sp>
        <p:nvSpPr>
          <p:cNvPr id="42" name="layer 5 number"/>
          <p:cNvSpPr/>
          <p:nvPr/>
        </p:nvSpPr>
        <p:spPr>
          <a:xfrm>
            <a:off x="16307999" y="22898713"/>
            <a:ext cx="792000" cy="7920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3400" b="1" i="0">
                <a:solidFill>
                  <a:srgbClr val="FFFFFF"/>
                </a:solidFill>
                <a:latin typeface="Arial"/>
              </a:rPr>
              <a:t>5</a:t>
            </a:r>
          </a:p>
        </p:txBody>
      </p:sp>
      <p:sp>
        <p:nvSpPr>
          <p:cNvPr id="43" name="layer 5 text"/>
          <p:cNvSpPr txBox="1"/>
          <p:nvPr/>
        </p:nvSpPr>
        <p:spPr>
          <a:xfrm>
            <a:off x="17424000" y="22823797"/>
            <a:ext cx="11088000" cy="941832"/>
          </a:xfrm>
          <a:prstGeom prst="rect">
            <a:avLst/>
          </a:prstGeom>
          <a:noFill/>
        </p:spPr>
        <p:txBody>
          <a:bodyPr wrap="square" anchor="t" lIns="0" rIns="0" tIns="0" bIns="0">
            <a:noAutofit/>
          </a:bodyPr>
          <a:lstStyle/>
          <a:p>
            <a:pPr algn="l"/>
            <a:r>
              <a:rPr sz="3000" b="1" i="0">
                <a:solidFill>
                  <a:srgbClr val="0B1F3A"/>
                </a:solidFill>
                <a:latin typeface="Arial"/>
              </a:rPr>
              <a:t>Audit log</a:t>
            </a:r>
            <a:r>
              <a:rPr sz="3000" b="0" i="0">
                <a:solidFill>
                  <a:srgbClr val="1F2937"/>
                </a:solidFill>
                <a:latin typeface="Arial"/>
              </a:rPr>
              <a:t> – every decision enters an HMAC-SHA-256 hash chain that can be verified and replayed.</a:t>
            </a:r>
          </a:p>
        </p:txBody>
      </p:sp>
      <p:sp>
        <p:nvSpPr>
          <p:cNvPr id="44" name="layers rule"/>
          <p:cNvSpPr/>
          <p:nvPr/>
        </p:nvSpPr>
        <p:spPr>
          <a:xfrm>
            <a:off x="16307999" y="23927629"/>
            <a:ext cx="12204000" cy="43200"/>
          </a:xfrm>
          <a:prstGeom prst="rect">
            <a:avLst/>
          </a:prstGeom>
          <a:solidFill>
            <a:srgbClr val="C5D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ayers note"/>
          <p:cNvSpPr txBox="1"/>
          <p:nvPr/>
        </p:nvSpPr>
        <p:spPr>
          <a:xfrm>
            <a:off x="16307999" y="24089629"/>
            <a:ext cx="12204000" cy="470916"/>
          </a:xfrm>
          <a:prstGeom prst="rect">
            <a:avLst/>
          </a:prstGeom>
          <a:noFill/>
        </p:spPr>
        <p:txBody>
          <a:bodyPr wrap="square" anchor="t" lIns="0" rIns="0" tIns="0" bIns="0">
            <a:noAutofit/>
          </a:bodyPr>
          <a:lstStyle/>
          <a:p>
            <a:pPr algn="l"/>
            <a:r>
              <a:rPr sz="3000" b="1" i="0">
                <a:solidFill>
                  <a:srgbClr val="0F766E"/>
                </a:solidFill>
                <a:latin typeface="Arial"/>
              </a:rPr>
              <a:t>Layers combine by deny-overrides: any deny wins.</a:t>
            </a:r>
          </a:p>
        </p:txBody>
      </p:sp>
      <p:pic>
        <p:nvPicPr>
          <p:cNvPr id="46" name="Picture 45" descr="Figure 1: Architecture: call path before a tool runs, result path before the model reads."/>
          <p:cNvPicPr>
            <a:picLocks noChangeAspect="1"/>
          </p:cNvPicPr>
          <p:nvPr/>
        </p:nvPicPr>
        <p:blipFill>
          <a:blip r:embed="rId4"/>
          <a:stretch>
            <a:fillRect/>
          </a:stretch>
        </p:blipFill>
        <p:spPr>
          <a:xfrm>
            <a:off x="1439999" y="25944414"/>
            <a:ext cx="10954452" cy="5957421"/>
          </a:xfrm>
          <a:prstGeom prst="rect">
            <a:avLst/>
          </a:prstGeom>
          <a:ln w="19050">
            <a:solidFill>
              <a:srgbClr val="C5D5E4"/>
            </a:solidFill>
          </a:ln>
        </p:spPr>
      </p:pic>
      <p:sp>
        <p:nvSpPr>
          <p:cNvPr id="47" name="figure 1 caption"/>
          <p:cNvSpPr txBox="1"/>
          <p:nvPr/>
        </p:nvSpPr>
        <p:spPr>
          <a:xfrm>
            <a:off x="1439999" y="32117835"/>
            <a:ext cx="10954452" cy="1224381"/>
          </a:xfrm>
          <a:prstGeom prst="rect">
            <a:avLst/>
          </a:prstGeom>
          <a:noFill/>
        </p:spPr>
        <p:txBody>
          <a:bodyPr wrap="square" anchor="t" lIns="0" rIns="0" tIns="0" bIns="0">
            <a:noAutofit/>
          </a:bodyPr>
          <a:lstStyle/>
          <a:p>
            <a:pPr algn="ctr"/>
            <a:r>
              <a:rPr sz="2600" b="1" i="0">
                <a:solidFill>
                  <a:srgbClr val="0B1F3A"/>
                </a:solidFill>
                <a:latin typeface="Arial"/>
              </a:rPr>
              <a:t>Figure 1. </a:t>
            </a:r>
            <a:r>
              <a:rPr sz="2600" b="0" i="0">
                <a:solidFill>
                  <a:srgbClr val="475569"/>
                </a:solidFill>
                <a:latin typeface="Arial"/>
              </a:rPr>
              <a:t>Architecture: call path before a tool runs, result path before the model reads.</a:t>
            </a:r>
          </a:p>
        </p:txBody>
      </p:sp>
      <p:pic>
        <p:nvPicPr>
          <p:cNvPr id="48" name="Picture 47" descr="Figure 2: Admin dashboard: live decisions and audit-chain status."/>
          <p:cNvPicPr>
            <a:picLocks noChangeAspect="1"/>
          </p:cNvPicPr>
          <p:nvPr/>
        </p:nvPicPr>
        <p:blipFill>
          <a:blip r:embed="rId5"/>
          <a:stretch>
            <a:fillRect/>
          </a:stretch>
        </p:blipFill>
        <p:spPr>
          <a:xfrm>
            <a:off x="12970452" y="25944414"/>
            <a:ext cx="9531874" cy="5957421"/>
          </a:xfrm>
          <a:prstGeom prst="rect">
            <a:avLst/>
          </a:prstGeom>
          <a:ln w="19050">
            <a:solidFill>
              <a:srgbClr val="C5D5E4"/>
            </a:solidFill>
          </a:ln>
        </p:spPr>
      </p:pic>
      <p:sp>
        <p:nvSpPr>
          <p:cNvPr id="49" name="figure 2 caption"/>
          <p:cNvSpPr txBox="1"/>
          <p:nvPr/>
        </p:nvSpPr>
        <p:spPr>
          <a:xfrm>
            <a:off x="12970452" y="32117835"/>
            <a:ext cx="9531874" cy="1224381"/>
          </a:xfrm>
          <a:prstGeom prst="rect">
            <a:avLst/>
          </a:prstGeom>
          <a:noFill/>
        </p:spPr>
        <p:txBody>
          <a:bodyPr wrap="square" anchor="t" lIns="0" rIns="0" tIns="0" bIns="0">
            <a:noAutofit/>
          </a:bodyPr>
          <a:lstStyle/>
          <a:p>
            <a:pPr algn="ctr"/>
            <a:r>
              <a:rPr sz="2600" b="1" i="0">
                <a:solidFill>
                  <a:srgbClr val="0B1F3A"/>
                </a:solidFill>
                <a:latin typeface="Arial"/>
              </a:rPr>
              <a:t>Figure 2. </a:t>
            </a:r>
            <a:r>
              <a:rPr sz="2600" b="0" i="0">
                <a:solidFill>
                  <a:srgbClr val="475569"/>
                </a:solidFill>
                <a:latin typeface="Arial"/>
              </a:rPr>
              <a:t>Admin dashboard: live decisions and audit-chain status.</a:t>
            </a:r>
          </a:p>
        </p:txBody>
      </p:sp>
      <p:pic>
        <p:nvPicPr>
          <p:cNvPr id="50" name="Picture 49" descr="Figure 3: Approver app, request (EN)."/>
          <p:cNvPicPr>
            <a:picLocks noChangeAspect="1"/>
          </p:cNvPicPr>
          <p:nvPr/>
        </p:nvPicPr>
        <p:blipFill>
          <a:blip r:embed="rId6"/>
          <a:stretch>
            <a:fillRect/>
          </a:stretch>
        </p:blipFill>
        <p:spPr>
          <a:xfrm>
            <a:off x="23078326" y="25944414"/>
            <a:ext cx="2752836" cy="5957421"/>
          </a:xfrm>
          <a:prstGeom prst="rect">
            <a:avLst/>
          </a:prstGeom>
          <a:ln w="19050">
            <a:solidFill>
              <a:srgbClr val="C5D5E4"/>
            </a:solidFill>
          </a:ln>
        </p:spPr>
      </p:pic>
      <p:sp>
        <p:nvSpPr>
          <p:cNvPr id="51" name="figure 3 caption"/>
          <p:cNvSpPr txBox="1"/>
          <p:nvPr/>
        </p:nvSpPr>
        <p:spPr>
          <a:xfrm>
            <a:off x="23078326" y="32117835"/>
            <a:ext cx="2752836" cy="1224381"/>
          </a:xfrm>
          <a:prstGeom prst="rect">
            <a:avLst/>
          </a:prstGeom>
          <a:noFill/>
        </p:spPr>
        <p:txBody>
          <a:bodyPr wrap="square" anchor="t" lIns="0" rIns="0" tIns="0" bIns="0">
            <a:noAutofit/>
          </a:bodyPr>
          <a:lstStyle/>
          <a:p>
            <a:pPr algn="ctr"/>
            <a:r>
              <a:rPr sz="2600" b="1" i="0">
                <a:solidFill>
                  <a:srgbClr val="0B1F3A"/>
                </a:solidFill>
                <a:latin typeface="Arial"/>
              </a:rPr>
              <a:t>Figure 3. </a:t>
            </a:r>
            <a:r>
              <a:rPr sz="2600" b="0" i="0">
                <a:solidFill>
                  <a:srgbClr val="475569"/>
                </a:solidFill>
                <a:latin typeface="Arial"/>
              </a:rPr>
              <a:t>Approver app, request (EN).</a:t>
            </a:r>
          </a:p>
        </p:txBody>
      </p:sp>
      <p:pic>
        <p:nvPicPr>
          <p:cNvPr id="52" name="Picture 51" descr="Figure 4: Approver app, queue (AR)."/>
          <p:cNvPicPr>
            <a:picLocks noChangeAspect="1"/>
          </p:cNvPicPr>
          <p:nvPr/>
        </p:nvPicPr>
        <p:blipFill>
          <a:blip r:embed="rId7"/>
          <a:stretch>
            <a:fillRect/>
          </a:stretch>
        </p:blipFill>
        <p:spPr>
          <a:xfrm>
            <a:off x="26407163" y="25944414"/>
            <a:ext cx="2752836" cy="5957421"/>
          </a:xfrm>
          <a:prstGeom prst="rect">
            <a:avLst/>
          </a:prstGeom>
          <a:ln w="19050">
            <a:solidFill>
              <a:srgbClr val="C5D5E4"/>
            </a:solidFill>
          </a:ln>
        </p:spPr>
      </p:pic>
      <p:sp>
        <p:nvSpPr>
          <p:cNvPr id="53" name="figure 4 caption"/>
          <p:cNvSpPr txBox="1"/>
          <p:nvPr/>
        </p:nvSpPr>
        <p:spPr>
          <a:xfrm>
            <a:off x="26407163" y="32117835"/>
            <a:ext cx="2752836" cy="1224381"/>
          </a:xfrm>
          <a:prstGeom prst="rect">
            <a:avLst/>
          </a:prstGeom>
          <a:noFill/>
        </p:spPr>
        <p:txBody>
          <a:bodyPr wrap="square" anchor="t" lIns="0" rIns="0" tIns="0" bIns="0">
            <a:noAutofit/>
          </a:bodyPr>
          <a:lstStyle/>
          <a:p>
            <a:pPr algn="ctr"/>
            <a:r>
              <a:rPr sz="2600" b="1" i="0">
                <a:solidFill>
                  <a:srgbClr val="0B1F3A"/>
                </a:solidFill>
                <a:latin typeface="Arial"/>
              </a:rPr>
              <a:t>Figure 4. </a:t>
            </a:r>
            <a:r>
              <a:rPr sz="2600" b="0" i="0">
                <a:solidFill>
                  <a:srgbClr val="475569"/>
                </a:solidFill>
                <a:latin typeface="Arial"/>
              </a:rPr>
              <a:t>Approver app, queue (AR).</a:t>
            </a:r>
          </a:p>
        </p:txBody>
      </p:sp>
      <p:sp>
        <p:nvSpPr>
          <p:cNvPr id="54" name="results card"/>
          <p:cNvSpPr/>
          <p:nvPr/>
        </p:nvSpPr>
        <p:spPr>
          <a:xfrm>
            <a:off x="1440000" y="34654085"/>
            <a:ext cx="27720000" cy="8241765"/>
          </a:xfrm>
          <a:prstGeom prst="roundRect">
            <a:avLst>
              <a:gd name="adj" fmla="val 4804"/>
            </a:avLst>
          </a:prstGeom>
          <a:solidFill>
            <a:srgbClr val="FFFFFF"/>
          </a:solidFill>
          <a:ln w="22225">
            <a:solidFill>
              <a:srgbClr val="C5D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sults heading"/>
          <p:cNvSpPr/>
          <p:nvPr/>
        </p:nvSpPr>
        <p:spPr>
          <a:xfrm>
            <a:off x="13132590" y="34006085"/>
            <a:ext cx="4334820" cy="12960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0" b="1" i="0">
                <a:solidFill>
                  <a:srgbClr val="FFFFFF"/>
                </a:solidFill>
                <a:latin typeface="Arial"/>
              </a:rPr>
              <a:t>Results</a:t>
            </a:r>
          </a:p>
        </p:txBody>
      </p:sp>
      <p:sp>
        <p:nvSpPr>
          <p:cNvPr id="56" name="tile Python tests passed"/>
          <p:cNvSpPr/>
          <p:nvPr/>
        </p:nvSpPr>
        <p:spPr>
          <a:xfrm>
            <a:off x="2088000" y="35734085"/>
            <a:ext cx="4134000" cy="2908819"/>
          </a:xfrm>
          <a:prstGeom prst="roundRect">
            <a:avLst>
              <a:gd name="adj" fmla="val 7425"/>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ile Python tests passed accent"/>
          <p:cNvSpPr/>
          <p:nvPr/>
        </p:nvSpPr>
        <p:spPr>
          <a:xfrm>
            <a:off x="2304000" y="35734085"/>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ile Python tests passed value"/>
          <p:cNvSpPr txBox="1"/>
          <p:nvPr/>
        </p:nvSpPr>
        <p:spPr>
          <a:xfrm>
            <a:off x="2340000" y="36148085"/>
            <a:ext cx="3630000" cy="910437"/>
          </a:xfrm>
          <a:prstGeom prst="rect">
            <a:avLst/>
          </a:prstGeom>
          <a:noFill/>
        </p:spPr>
        <p:txBody>
          <a:bodyPr wrap="square" anchor="ctr" lIns="0" rIns="0" tIns="0" bIns="0">
            <a:noAutofit/>
          </a:bodyPr>
          <a:lstStyle/>
          <a:p>
            <a:pPr algn="l"/>
            <a:r>
              <a:rPr sz="5800" b="1" i="0">
                <a:solidFill>
                  <a:srgbClr val="0B1F3A"/>
                </a:solidFill>
                <a:latin typeface="Arial"/>
              </a:rPr>
              <a:t>1,281</a:t>
            </a:r>
          </a:p>
        </p:txBody>
      </p:sp>
      <p:sp>
        <p:nvSpPr>
          <p:cNvPr id="59" name="tile Python tests passed label"/>
          <p:cNvSpPr txBox="1"/>
          <p:nvPr/>
        </p:nvSpPr>
        <p:spPr>
          <a:xfrm>
            <a:off x="2340000" y="37130523"/>
            <a:ext cx="3630000" cy="408127"/>
          </a:xfrm>
          <a:prstGeom prst="rect">
            <a:avLst/>
          </a:prstGeom>
          <a:noFill/>
        </p:spPr>
        <p:txBody>
          <a:bodyPr wrap="square" anchor="t" lIns="0" rIns="0" tIns="0" bIns="0">
            <a:noAutofit/>
          </a:bodyPr>
          <a:lstStyle/>
          <a:p>
            <a:pPr algn="l"/>
            <a:r>
              <a:rPr sz="2600" b="1" i="0">
                <a:solidFill>
                  <a:srgbClr val="1F2937"/>
                </a:solidFill>
                <a:latin typeface="Arial"/>
              </a:rPr>
              <a:t>Python tests passed</a:t>
            </a:r>
          </a:p>
        </p:txBody>
      </p:sp>
      <p:sp>
        <p:nvSpPr>
          <p:cNvPr id="60" name="tile Python tests passed detail"/>
          <p:cNvSpPr txBox="1"/>
          <p:nvPr/>
        </p:nvSpPr>
        <p:spPr>
          <a:xfrm>
            <a:off x="2340000" y="37574650"/>
            <a:ext cx="3630000" cy="408127"/>
          </a:xfrm>
          <a:prstGeom prst="rect">
            <a:avLst/>
          </a:prstGeom>
          <a:noFill/>
        </p:spPr>
        <p:txBody>
          <a:bodyPr wrap="square" anchor="t" lIns="0" rIns="0" tIns="0" bIns="0">
            <a:noAutofit/>
          </a:bodyPr>
          <a:lstStyle/>
          <a:p>
            <a:pPr algn="l"/>
            <a:r>
              <a:rPr sz="2600" b="0" i="0">
                <a:solidFill>
                  <a:srgbClr val="475569"/>
                </a:solidFill>
                <a:latin typeface="Arial"/>
              </a:rPr>
              <a:t>of 1,281 · 10 areas</a:t>
            </a:r>
          </a:p>
        </p:txBody>
      </p:sp>
      <p:sp>
        <p:nvSpPr>
          <p:cNvPr id="61" name="tile Web tests passed"/>
          <p:cNvSpPr/>
          <p:nvPr/>
        </p:nvSpPr>
        <p:spPr>
          <a:xfrm>
            <a:off x="6546000" y="35734085"/>
            <a:ext cx="4134000" cy="2908819"/>
          </a:xfrm>
          <a:prstGeom prst="roundRect">
            <a:avLst>
              <a:gd name="adj" fmla="val 7425"/>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ile Web tests passed accent"/>
          <p:cNvSpPr/>
          <p:nvPr/>
        </p:nvSpPr>
        <p:spPr>
          <a:xfrm>
            <a:off x="6762000" y="35734085"/>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ile Web tests passed value"/>
          <p:cNvSpPr txBox="1"/>
          <p:nvPr/>
        </p:nvSpPr>
        <p:spPr>
          <a:xfrm>
            <a:off x="6798000" y="36148085"/>
            <a:ext cx="3630000" cy="910437"/>
          </a:xfrm>
          <a:prstGeom prst="rect">
            <a:avLst/>
          </a:prstGeom>
          <a:noFill/>
        </p:spPr>
        <p:txBody>
          <a:bodyPr wrap="square" anchor="ctr" lIns="0" rIns="0" tIns="0" bIns="0">
            <a:noAutofit/>
          </a:bodyPr>
          <a:lstStyle/>
          <a:p>
            <a:pPr algn="l"/>
            <a:r>
              <a:rPr sz="5800" b="1" i="0">
                <a:solidFill>
                  <a:srgbClr val="0B1F3A"/>
                </a:solidFill>
                <a:latin typeface="Arial"/>
              </a:rPr>
              <a:t>194</a:t>
            </a:r>
          </a:p>
        </p:txBody>
      </p:sp>
      <p:sp>
        <p:nvSpPr>
          <p:cNvPr id="64" name="tile Web tests passed label"/>
          <p:cNvSpPr txBox="1"/>
          <p:nvPr/>
        </p:nvSpPr>
        <p:spPr>
          <a:xfrm>
            <a:off x="6798000" y="37130523"/>
            <a:ext cx="3630000" cy="408127"/>
          </a:xfrm>
          <a:prstGeom prst="rect">
            <a:avLst/>
          </a:prstGeom>
          <a:noFill/>
        </p:spPr>
        <p:txBody>
          <a:bodyPr wrap="square" anchor="t" lIns="0" rIns="0" tIns="0" bIns="0">
            <a:noAutofit/>
          </a:bodyPr>
          <a:lstStyle/>
          <a:p>
            <a:pPr algn="l"/>
            <a:r>
              <a:rPr sz="2600" b="1" i="0">
                <a:solidFill>
                  <a:srgbClr val="1F2937"/>
                </a:solidFill>
                <a:latin typeface="Arial"/>
              </a:rPr>
              <a:t>Web tests passed</a:t>
            </a:r>
          </a:p>
        </p:txBody>
      </p:sp>
      <p:sp>
        <p:nvSpPr>
          <p:cNvPr id="65" name="tile Web tests passed detail"/>
          <p:cNvSpPr txBox="1"/>
          <p:nvPr/>
        </p:nvSpPr>
        <p:spPr>
          <a:xfrm>
            <a:off x="6798000" y="37574650"/>
            <a:ext cx="3630000" cy="408127"/>
          </a:xfrm>
          <a:prstGeom prst="rect">
            <a:avLst/>
          </a:prstGeom>
          <a:noFill/>
        </p:spPr>
        <p:txBody>
          <a:bodyPr wrap="square" anchor="t" lIns="0" rIns="0" tIns="0" bIns="0">
            <a:noAutofit/>
          </a:bodyPr>
          <a:lstStyle/>
          <a:p>
            <a:pPr algn="l"/>
            <a:r>
              <a:rPr sz="2600" b="0" i="0">
                <a:solidFill>
                  <a:srgbClr val="475569"/>
                </a:solidFill>
                <a:latin typeface="Arial"/>
              </a:rPr>
              <a:t>of 194 · 38 suites</a:t>
            </a:r>
          </a:p>
        </p:txBody>
      </p:sp>
      <p:sp>
        <p:nvSpPr>
          <p:cNvPr id="66" name="tile Statement coverage"/>
          <p:cNvSpPr/>
          <p:nvPr/>
        </p:nvSpPr>
        <p:spPr>
          <a:xfrm>
            <a:off x="11004000" y="35734085"/>
            <a:ext cx="4134000" cy="2908819"/>
          </a:xfrm>
          <a:prstGeom prst="roundRect">
            <a:avLst>
              <a:gd name="adj" fmla="val 7425"/>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ile Statement coverage accent"/>
          <p:cNvSpPr/>
          <p:nvPr/>
        </p:nvSpPr>
        <p:spPr>
          <a:xfrm>
            <a:off x="11220000" y="35734085"/>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ile Statement coverage value"/>
          <p:cNvSpPr txBox="1"/>
          <p:nvPr/>
        </p:nvSpPr>
        <p:spPr>
          <a:xfrm>
            <a:off x="11256000" y="36148085"/>
            <a:ext cx="3630000" cy="910437"/>
          </a:xfrm>
          <a:prstGeom prst="rect">
            <a:avLst/>
          </a:prstGeom>
          <a:noFill/>
        </p:spPr>
        <p:txBody>
          <a:bodyPr wrap="square" anchor="ctr" lIns="0" rIns="0" tIns="0" bIns="0">
            <a:noAutofit/>
          </a:bodyPr>
          <a:lstStyle/>
          <a:p>
            <a:pPr algn="l"/>
            <a:r>
              <a:rPr sz="5800" b="1" i="0">
                <a:solidFill>
                  <a:srgbClr val="0B1F3A"/>
                </a:solidFill>
                <a:latin typeface="Arial"/>
              </a:rPr>
              <a:t>94.4%</a:t>
            </a:r>
          </a:p>
        </p:txBody>
      </p:sp>
      <p:sp>
        <p:nvSpPr>
          <p:cNvPr id="69" name="tile Statement coverage label"/>
          <p:cNvSpPr txBox="1"/>
          <p:nvPr/>
        </p:nvSpPr>
        <p:spPr>
          <a:xfrm>
            <a:off x="11256000" y="37130523"/>
            <a:ext cx="3630000" cy="408127"/>
          </a:xfrm>
          <a:prstGeom prst="rect">
            <a:avLst/>
          </a:prstGeom>
          <a:noFill/>
        </p:spPr>
        <p:txBody>
          <a:bodyPr wrap="square" anchor="t" lIns="0" rIns="0" tIns="0" bIns="0">
            <a:noAutofit/>
          </a:bodyPr>
          <a:lstStyle/>
          <a:p>
            <a:pPr algn="l"/>
            <a:r>
              <a:rPr sz="2600" b="1" i="0">
                <a:solidFill>
                  <a:srgbClr val="1F2937"/>
                </a:solidFill>
                <a:latin typeface="Arial"/>
              </a:rPr>
              <a:t>Statement coverage</a:t>
            </a:r>
          </a:p>
        </p:txBody>
      </p:sp>
      <p:sp>
        <p:nvSpPr>
          <p:cNvPr id="70" name="tile Statement coverage detail"/>
          <p:cNvSpPr txBox="1"/>
          <p:nvPr/>
        </p:nvSpPr>
        <p:spPr>
          <a:xfrm>
            <a:off x="11256000" y="37574650"/>
            <a:ext cx="3630000" cy="408127"/>
          </a:xfrm>
          <a:prstGeom prst="rect">
            <a:avLst/>
          </a:prstGeom>
          <a:noFill/>
        </p:spPr>
        <p:txBody>
          <a:bodyPr wrap="square" anchor="t" lIns="0" rIns="0" tIns="0" bIns="0">
            <a:noAutofit/>
          </a:bodyPr>
          <a:lstStyle/>
          <a:p>
            <a:pPr algn="l"/>
            <a:r>
              <a:rPr sz="2600" b="0" i="0">
                <a:solidFill>
                  <a:srgbClr val="475569"/>
                </a:solidFill>
                <a:latin typeface="Arial"/>
              </a:rPr>
              <a:t>9,763 statements</a:t>
            </a:r>
          </a:p>
        </p:txBody>
      </p:sp>
      <p:sp>
        <p:nvSpPr>
          <p:cNvPr id="71" name="tile Benign false-positive rate"/>
          <p:cNvSpPr/>
          <p:nvPr/>
        </p:nvSpPr>
        <p:spPr>
          <a:xfrm>
            <a:off x="15462000" y="35734085"/>
            <a:ext cx="4134000" cy="2908819"/>
          </a:xfrm>
          <a:prstGeom prst="roundRect">
            <a:avLst>
              <a:gd name="adj" fmla="val 7425"/>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ile Benign false-positive rate accent"/>
          <p:cNvSpPr/>
          <p:nvPr/>
        </p:nvSpPr>
        <p:spPr>
          <a:xfrm>
            <a:off x="15678000" y="35734085"/>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ile Benign false-positive rate value"/>
          <p:cNvSpPr txBox="1"/>
          <p:nvPr/>
        </p:nvSpPr>
        <p:spPr>
          <a:xfrm>
            <a:off x="15714000" y="36148085"/>
            <a:ext cx="3630000" cy="910437"/>
          </a:xfrm>
          <a:prstGeom prst="rect">
            <a:avLst/>
          </a:prstGeom>
          <a:noFill/>
        </p:spPr>
        <p:txBody>
          <a:bodyPr wrap="square" anchor="ctr" lIns="0" rIns="0" tIns="0" bIns="0">
            <a:noAutofit/>
          </a:bodyPr>
          <a:lstStyle/>
          <a:p>
            <a:pPr algn="l"/>
            <a:r>
              <a:rPr sz="5800" b="1" i="0">
                <a:solidFill>
                  <a:srgbClr val="0B1F3A"/>
                </a:solidFill>
                <a:latin typeface="Arial"/>
              </a:rPr>
              <a:t>0.0%</a:t>
            </a:r>
          </a:p>
        </p:txBody>
      </p:sp>
      <p:sp>
        <p:nvSpPr>
          <p:cNvPr id="74" name="tile Benign false-positive rate label"/>
          <p:cNvSpPr txBox="1"/>
          <p:nvPr/>
        </p:nvSpPr>
        <p:spPr>
          <a:xfrm>
            <a:off x="15714000" y="37130523"/>
            <a:ext cx="3630000" cy="816254"/>
          </a:xfrm>
          <a:prstGeom prst="rect">
            <a:avLst/>
          </a:prstGeom>
          <a:noFill/>
        </p:spPr>
        <p:txBody>
          <a:bodyPr wrap="square" anchor="t" lIns="0" rIns="0" tIns="0" bIns="0">
            <a:noAutofit/>
          </a:bodyPr>
          <a:lstStyle/>
          <a:p>
            <a:pPr algn="l"/>
            <a:r>
              <a:rPr sz="2600" b="1" i="0">
                <a:solidFill>
                  <a:srgbClr val="1F2937"/>
                </a:solidFill>
                <a:latin typeface="Arial"/>
              </a:rPr>
              <a:t>Benign false-positive rate</a:t>
            </a:r>
          </a:p>
        </p:txBody>
      </p:sp>
      <p:sp>
        <p:nvSpPr>
          <p:cNvPr id="75" name="tile Benign false-positive rate detail"/>
          <p:cNvSpPr txBox="1"/>
          <p:nvPr/>
        </p:nvSpPr>
        <p:spPr>
          <a:xfrm>
            <a:off x="15714000" y="37982777"/>
            <a:ext cx="3630000" cy="408127"/>
          </a:xfrm>
          <a:prstGeom prst="rect">
            <a:avLst/>
          </a:prstGeom>
          <a:noFill/>
        </p:spPr>
        <p:txBody>
          <a:bodyPr wrap="square" anchor="t" lIns="0" rIns="0" tIns="0" bIns="0">
            <a:noAutofit/>
          </a:bodyPr>
          <a:lstStyle/>
          <a:p>
            <a:pPr algn="l"/>
            <a:r>
              <a:rPr sz="2600" b="0" i="0">
                <a:solidFill>
                  <a:srgbClr val="475569"/>
                </a:solidFill>
                <a:latin typeface="Arial"/>
              </a:rPr>
              <a:t>68 calls · target ≤ 5%</a:t>
            </a:r>
          </a:p>
        </p:txBody>
      </p:sp>
      <p:sp>
        <p:nvSpPr>
          <p:cNvPr id="76" name="tile Approval friction (full defence)"/>
          <p:cNvSpPr/>
          <p:nvPr/>
        </p:nvSpPr>
        <p:spPr>
          <a:xfrm>
            <a:off x="19920000" y="35734085"/>
            <a:ext cx="4134000" cy="2908819"/>
          </a:xfrm>
          <a:prstGeom prst="roundRect">
            <a:avLst>
              <a:gd name="adj" fmla="val 7425"/>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ile Approval friction (full defence) accent"/>
          <p:cNvSpPr/>
          <p:nvPr/>
        </p:nvSpPr>
        <p:spPr>
          <a:xfrm>
            <a:off x="20136000" y="35734085"/>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ile Approval friction (full defence) value"/>
          <p:cNvSpPr txBox="1"/>
          <p:nvPr/>
        </p:nvSpPr>
        <p:spPr>
          <a:xfrm>
            <a:off x="20172000" y="36148085"/>
            <a:ext cx="3630000" cy="910437"/>
          </a:xfrm>
          <a:prstGeom prst="rect">
            <a:avLst/>
          </a:prstGeom>
          <a:noFill/>
        </p:spPr>
        <p:txBody>
          <a:bodyPr wrap="square" anchor="ctr" lIns="0" rIns="0" tIns="0" bIns="0">
            <a:noAutofit/>
          </a:bodyPr>
          <a:lstStyle/>
          <a:p>
            <a:pPr algn="l"/>
            <a:r>
              <a:rPr sz="5800" b="1" i="0">
                <a:solidFill>
                  <a:srgbClr val="0B1F3A"/>
                </a:solidFill>
                <a:latin typeface="Arial"/>
              </a:rPr>
              <a:t>17.6%</a:t>
            </a:r>
          </a:p>
        </p:txBody>
      </p:sp>
      <p:sp>
        <p:nvSpPr>
          <p:cNvPr id="79" name="tile Approval friction (full defence) label"/>
          <p:cNvSpPr txBox="1"/>
          <p:nvPr/>
        </p:nvSpPr>
        <p:spPr>
          <a:xfrm>
            <a:off x="20172000" y="37130523"/>
            <a:ext cx="3630000" cy="816254"/>
          </a:xfrm>
          <a:prstGeom prst="rect">
            <a:avLst/>
          </a:prstGeom>
          <a:noFill/>
        </p:spPr>
        <p:txBody>
          <a:bodyPr wrap="square" anchor="t" lIns="0" rIns="0" tIns="0" bIns="0">
            <a:noAutofit/>
          </a:bodyPr>
          <a:lstStyle/>
          <a:p>
            <a:pPr algn="l"/>
            <a:r>
              <a:rPr sz="2600" b="1" i="0">
                <a:solidFill>
                  <a:srgbClr val="1F2937"/>
                </a:solidFill>
                <a:latin typeface="Arial"/>
              </a:rPr>
              <a:t>Approval friction (full defence)</a:t>
            </a:r>
          </a:p>
        </p:txBody>
      </p:sp>
      <p:sp>
        <p:nvSpPr>
          <p:cNvPr id="80" name="tile Approval friction (full defence) detail"/>
          <p:cNvSpPr txBox="1"/>
          <p:nvPr/>
        </p:nvSpPr>
        <p:spPr>
          <a:xfrm>
            <a:off x="20172000" y="37982777"/>
            <a:ext cx="3630000" cy="408127"/>
          </a:xfrm>
          <a:prstGeom prst="rect">
            <a:avLst/>
          </a:prstGeom>
          <a:noFill/>
        </p:spPr>
        <p:txBody>
          <a:bodyPr wrap="square" anchor="t" lIns="0" rIns="0" tIns="0" bIns="0">
            <a:noAutofit/>
          </a:bodyPr>
          <a:lstStyle/>
          <a:p>
            <a:pPr algn="l"/>
            <a:r>
              <a:rPr sz="2600" b="0" i="0">
                <a:solidFill>
                  <a:srgbClr val="475569"/>
                </a:solidFill>
                <a:latin typeface="Arial"/>
              </a:rPr>
              <a:t>sent to a human</a:t>
            </a:r>
          </a:p>
        </p:txBody>
      </p:sp>
      <p:sp>
        <p:nvSpPr>
          <p:cNvPr id="81" name="tile Median added latency, sequential"/>
          <p:cNvSpPr/>
          <p:nvPr/>
        </p:nvSpPr>
        <p:spPr>
          <a:xfrm>
            <a:off x="24378000" y="35734085"/>
            <a:ext cx="4134000" cy="2908819"/>
          </a:xfrm>
          <a:prstGeom prst="roundRect">
            <a:avLst>
              <a:gd name="adj" fmla="val 7425"/>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ile Median added latency, sequential accent"/>
          <p:cNvSpPr/>
          <p:nvPr/>
        </p:nvSpPr>
        <p:spPr>
          <a:xfrm>
            <a:off x="24594000" y="35734085"/>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ile Median added latency, sequential value"/>
          <p:cNvSpPr txBox="1"/>
          <p:nvPr/>
        </p:nvSpPr>
        <p:spPr>
          <a:xfrm>
            <a:off x="24630000" y="36148085"/>
            <a:ext cx="3630000" cy="910437"/>
          </a:xfrm>
          <a:prstGeom prst="rect">
            <a:avLst/>
          </a:prstGeom>
          <a:noFill/>
        </p:spPr>
        <p:txBody>
          <a:bodyPr wrap="square" anchor="ctr" lIns="0" rIns="0" tIns="0" bIns="0">
            <a:noAutofit/>
          </a:bodyPr>
          <a:lstStyle/>
          <a:p>
            <a:pPr algn="l"/>
            <a:r>
              <a:rPr sz="5800" b="1" i="0">
                <a:solidFill>
                  <a:srgbClr val="0B1F3A"/>
                </a:solidFill>
                <a:latin typeface="Arial"/>
              </a:rPr>
              <a:t>2.7 ms</a:t>
            </a:r>
          </a:p>
        </p:txBody>
      </p:sp>
      <p:sp>
        <p:nvSpPr>
          <p:cNvPr id="84" name="tile Median added latency, sequential label"/>
          <p:cNvSpPr txBox="1"/>
          <p:nvPr/>
        </p:nvSpPr>
        <p:spPr>
          <a:xfrm>
            <a:off x="24630000" y="37130523"/>
            <a:ext cx="3630000" cy="816254"/>
          </a:xfrm>
          <a:prstGeom prst="rect">
            <a:avLst/>
          </a:prstGeom>
          <a:noFill/>
        </p:spPr>
        <p:txBody>
          <a:bodyPr wrap="square" anchor="t" lIns="0" rIns="0" tIns="0" bIns="0">
            <a:noAutofit/>
          </a:bodyPr>
          <a:lstStyle/>
          <a:p>
            <a:pPr algn="l"/>
            <a:r>
              <a:rPr sz="2600" b="1" i="0">
                <a:solidFill>
                  <a:srgbClr val="1F2937"/>
                </a:solidFill>
                <a:latin typeface="Arial"/>
              </a:rPr>
              <a:t>Median added latency, sequential</a:t>
            </a:r>
          </a:p>
        </p:txBody>
      </p:sp>
      <p:sp>
        <p:nvSpPr>
          <p:cNvPr id="85" name="tile Median added latency, sequential detail"/>
          <p:cNvSpPr txBox="1"/>
          <p:nvPr/>
        </p:nvSpPr>
        <p:spPr>
          <a:xfrm>
            <a:off x="24630000" y="37982777"/>
            <a:ext cx="3630000" cy="408127"/>
          </a:xfrm>
          <a:prstGeom prst="rect">
            <a:avLst/>
          </a:prstGeom>
          <a:noFill/>
        </p:spPr>
        <p:txBody>
          <a:bodyPr wrap="square" anchor="t" lIns="0" rIns="0" tIns="0" bIns="0">
            <a:noAutofit/>
          </a:bodyPr>
          <a:lstStyle/>
          <a:p>
            <a:pPr algn="l"/>
            <a:r>
              <a:rPr sz="2600" b="0" i="0">
                <a:solidFill>
                  <a:srgbClr val="475569"/>
                </a:solidFill>
                <a:latin typeface="Arial"/>
              </a:rPr>
              <a:t>target ≤ 200 ms</a:t>
            </a:r>
          </a:p>
        </p:txBody>
      </p:sp>
      <p:sp>
        <p:nvSpPr>
          <p:cNvPr id="86" name="tile Median added latency, 50 concurrent sessions"/>
          <p:cNvSpPr/>
          <p:nvPr/>
        </p:nvSpPr>
        <p:spPr>
          <a:xfrm>
            <a:off x="2088000" y="38966904"/>
            <a:ext cx="4134000" cy="3316946"/>
          </a:xfrm>
          <a:prstGeom prst="roundRect">
            <a:avLst>
              <a:gd name="adj" fmla="val 6512"/>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ile Median added latency, 50 concurrent sessions accent"/>
          <p:cNvSpPr/>
          <p:nvPr/>
        </p:nvSpPr>
        <p:spPr>
          <a:xfrm>
            <a:off x="2304000" y="38966904"/>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ile Median added latency, 50 concurrent sessions value"/>
          <p:cNvSpPr txBox="1"/>
          <p:nvPr/>
        </p:nvSpPr>
        <p:spPr>
          <a:xfrm>
            <a:off x="2340000" y="39380904"/>
            <a:ext cx="3630000" cy="910437"/>
          </a:xfrm>
          <a:prstGeom prst="rect">
            <a:avLst/>
          </a:prstGeom>
          <a:noFill/>
        </p:spPr>
        <p:txBody>
          <a:bodyPr wrap="square" anchor="ctr" lIns="0" rIns="0" tIns="0" bIns="0">
            <a:noAutofit/>
          </a:bodyPr>
          <a:lstStyle/>
          <a:p>
            <a:pPr algn="l"/>
            <a:r>
              <a:rPr sz="5800" b="1" i="0">
                <a:solidFill>
                  <a:srgbClr val="0B1F3A"/>
                </a:solidFill>
                <a:latin typeface="Arial"/>
              </a:rPr>
              <a:t>166 ms</a:t>
            </a:r>
          </a:p>
        </p:txBody>
      </p:sp>
      <p:sp>
        <p:nvSpPr>
          <p:cNvPr id="89" name="tile Median added latency, 50 concurrent sessions label"/>
          <p:cNvSpPr txBox="1"/>
          <p:nvPr/>
        </p:nvSpPr>
        <p:spPr>
          <a:xfrm>
            <a:off x="2340000" y="40363342"/>
            <a:ext cx="3630000" cy="1224381"/>
          </a:xfrm>
          <a:prstGeom prst="rect">
            <a:avLst/>
          </a:prstGeom>
          <a:noFill/>
        </p:spPr>
        <p:txBody>
          <a:bodyPr wrap="square" anchor="t" lIns="0" rIns="0" tIns="0" bIns="0">
            <a:noAutofit/>
          </a:bodyPr>
          <a:lstStyle/>
          <a:p>
            <a:pPr algn="l"/>
            <a:r>
              <a:rPr sz="2600" b="1" i="0">
                <a:solidFill>
                  <a:srgbClr val="1F2937"/>
                </a:solidFill>
                <a:latin typeface="Arial"/>
              </a:rPr>
              <a:t>Median added latency, 50 concurrent sessions</a:t>
            </a:r>
          </a:p>
        </p:txBody>
      </p:sp>
      <p:sp>
        <p:nvSpPr>
          <p:cNvPr id="90" name="tile Median added latency, 50 concurrent sessions detail"/>
          <p:cNvSpPr txBox="1"/>
          <p:nvPr/>
        </p:nvSpPr>
        <p:spPr>
          <a:xfrm>
            <a:off x="2340000" y="41623724"/>
            <a:ext cx="3630000" cy="408127"/>
          </a:xfrm>
          <a:prstGeom prst="rect">
            <a:avLst/>
          </a:prstGeom>
          <a:noFill/>
        </p:spPr>
        <p:txBody>
          <a:bodyPr wrap="square" anchor="t" lIns="0" rIns="0" tIns="0" bIns="0">
            <a:noAutofit/>
          </a:bodyPr>
          <a:lstStyle/>
          <a:p>
            <a:pPr algn="l"/>
            <a:r>
              <a:rPr sz="2600" b="0" i="0">
                <a:solidFill>
                  <a:srgbClr val="475569"/>
                </a:solidFill>
                <a:latin typeface="Arial"/>
              </a:rPr>
              <a:t>separate process</a:t>
            </a:r>
          </a:p>
        </p:txBody>
      </p:sp>
      <p:sp>
        <p:nvSpPr>
          <p:cNvPr id="91" name="tile Audit replays matched"/>
          <p:cNvSpPr/>
          <p:nvPr/>
        </p:nvSpPr>
        <p:spPr>
          <a:xfrm>
            <a:off x="6546000" y="38966904"/>
            <a:ext cx="4134000" cy="3316946"/>
          </a:xfrm>
          <a:prstGeom prst="roundRect">
            <a:avLst>
              <a:gd name="adj" fmla="val 6512"/>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ile Audit replays matched accent"/>
          <p:cNvSpPr/>
          <p:nvPr/>
        </p:nvSpPr>
        <p:spPr>
          <a:xfrm>
            <a:off x="6762000" y="38966904"/>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ile Audit replays matched value"/>
          <p:cNvSpPr txBox="1"/>
          <p:nvPr/>
        </p:nvSpPr>
        <p:spPr>
          <a:xfrm>
            <a:off x="6798000" y="39380904"/>
            <a:ext cx="3630000" cy="910437"/>
          </a:xfrm>
          <a:prstGeom prst="rect">
            <a:avLst/>
          </a:prstGeom>
          <a:noFill/>
        </p:spPr>
        <p:txBody>
          <a:bodyPr wrap="square" anchor="ctr" lIns="0" rIns="0" tIns="0" bIns="0">
            <a:noAutofit/>
          </a:bodyPr>
          <a:lstStyle/>
          <a:p>
            <a:pPr algn="l"/>
            <a:r>
              <a:rPr sz="5800" b="1" i="0">
                <a:solidFill>
                  <a:srgbClr val="0B1F3A"/>
                </a:solidFill>
                <a:latin typeface="Arial"/>
              </a:rPr>
              <a:t>272/272</a:t>
            </a:r>
          </a:p>
        </p:txBody>
      </p:sp>
      <p:sp>
        <p:nvSpPr>
          <p:cNvPr id="94" name="tile Audit replays matched label"/>
          <p:cNvSpPr txBox="1"/>
          <p:nvPr/>
        </p:nvSpPr>
        <p:spPr>
          <a:xfrm>
            <a:off x="6798000" y="40363342"/>
            <a:ext cx="3630000" cy="408127"/>
          </a:xfrm>
          <a:prstGeom prst="rect">
            <a:avLst/>
          </a:prstGeom>
          <a:noFill/>
        </p:spPr>
        <p:txBody>
          <a:bodyPr wrap="square" anchor="t" lIns="0" rIns="0" tIns="0" bIns="0">
            <a:noAutofit/>
          </a:bodyPr>
          <a:lstStyle/>
          <a:p>
            <a:pPr algn="l"/>
            <a:r>
              <a:rPr sz="2600" b="1" i="0">
                <a:solidFill>
                  <a:srgbClr val="1F2937"/>
                </a:solidFill>
                <a:latin typeface="Arial"/>
              </a:rPr>
              <a:t>Audit replays matched</a:t>
            </a:r>
          </a:p>
        </p:txBody>
      </p:sp>
      <p:sp>
        <p:nvSpPr>
          <p:cNvPr id="95" name="tile Audit replays matched detail"/>
          <p:cNvSpPr txBox="1"/>
          <p:nvPr/>
        </p:nvSpPr>
        <p:spPr>
          <a:xfrm>
            <a:off x="6798000" y="40807469"/>
            <a:ext cx="3630000" cy="408127"/>
          </a:xfrm>
          <a:prstGeom prst="rect">
            <a:avLst/>
          </a:prstGeom>
          <a:noFill/>
        </p:spPr>
        <p:txBody>
          <a:bodyPr wrap="square" anchor="t" lIns="0" rIns="0" tIns="0" bIns="0">
            <a:noAutofit/>
          </a:bodyPr>
          <a:lstStyle/>
          <a:p>
            <a:pPr algn="l"/>
            <a:r>
              <a:rPr sz="2600" b="0" i="0">
                <a:solidFill>
                  <a:srgbClr val="475569"/>
                </a:solidFill>
                <a:latin typeface="Arial"/>
              </a:rPr>
              <a:t>hash chain verified</a:t>
            </a:r>
          </a:p>
        </p:txBody>
      </p:sp>
      <p:sp>
        <p:nvSpPr>
          <p:cNvPr id="96" name="tile Bandit issues / vulnerable packages"/>
          <p:cNvSpPr/>
          <p:nvPr/>
        </p:nvSpPr>
        <p:spPr>
          <a:xfrm>
            <a:off x="11004000" y="38966904"/>
            <a:ext cx="4134000" cy="3316946"/>
          </a:xfrm>
          <a:prstGeom prst="roundRect">
            <a:avLst>
              <a:gd name="adj" fmla="val 6512"/>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le Bandit issues / vulnerable packages accent"/>
          <p:cNvSpPr/>
          <p:nvPr/>
        </p:nvSpPr>
        <p:spPr>
          <a:xfrm>
            <a:off x="11220000" y="38966904"/>
            <a:ext cx="3702000" cy="162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ile Bandit issues / vulnerable packages value"/>
          <p:cNvSpPr txBox="1"/>
          <p:nvPr/>
        </p:nvSpPr>
        <p:spPr>
          <a:xfrm>
            <a:off x="11256000" y="39380904"/>
            <a:ext cx="3630000" cy="910437"/>
          </a:xfrm>
          <a:prstGeom prst="rect">
            <a:avLst/>
          </a:prstGeom>
          <a:noFill/>
        </p:spPr>
        <p:txBody>
          <a:bodyPr wrap="square" anchor="ctr" lIns="0" rIns="0" tIns="0" bIns="0">
            <a:noAutofit/>
          </a:bodyPr>
          <a:lstStyle/>
          <a:p>
            <a:pPr algn="l"/>
            <a:r>
              <a:rPr sz="5800" b="1" i="0">
                <a:solidFill>
                  <a:srgbClr val="0B1F3A"/>
                </a:solidFill>
                <a:latin typeface="Arial"/>
              </a:rPr>
              <a:t>0 / 0</a:t>
            </a:r>
          </a:p>
        </p:txBody>
      </p:sp>
      <p:sp>
        <p:nvSpPr>
          <p:cNvPr id="99" name="tile Bandit issues / vulnerable packages label"/>
          <p:cNvSpPr txBox="1"/>
          <p:nvPr/>
        </p:nvSpPr>
        <p:spPr>
          <a:xfrm>
            <a:off x="11256000" y="40363342"/>
            <a:ext cx="3630000" cy="816254"/>
          </a:xfrm>
          <a:prstGeom prst="rect">
            <a:avLst/>
          </a:prstGeom>
          <a:noFill/>
        </p:spPr>
        <p:txBody>
          <a:bodyPr wrap="square" anchor="t" lIns="0" rIns="0" tIns="0" bIns="0">
            <a:noAutofit/>
          </a:bodyPr>
          <a:lstStyle/>
          <a:p>
            <a:pPr algn="l"/>
            <a:r>
              <a:rPr sz="2600" b="1" i="0">
                <a:solidFill>
                  <a:srgbClr val="1F2937"/>
                </a:solidFill>
                <a:latin typeface="Arial"/>
              </a:rPr>
              <a:t>Bandit issues / vulnerable packages</a:t>
            </a:r>
          </a:p>
        </p:txBody>
      </p:sp>
      <p:sp>
        <p:nvSpPr>
          <p:cNvPr id="100" name="tile Bandit issues / vulnerable packages detail"/>
          <p:cNvSpPr txBox="1"/>
          <p:nvPr/>
        </p:nvSpPr>
        <p:spPr>
          <a:xfrm>
            <a:off x="11256000" y="41215596"/>
            <a:ext cx="3630000" cy="408127"/>
          </a:xfrm>
          <a:prstGeom prst="rect">
            <a:avLst/>
          </a:prstGeom>
          <a:noFill/>
        </p:spPr>
        <p:txBody>
          <a:bodyPr wrap="square" anchor="t" lIns="0" rIns="0" tIns="0" bIns="0">
            <a:noAutofit/>
          </a:bodyPr>
          <a:lstStyle/>
          <a:p>
            <a:pPr algn="l"/>
            <a:r>
              <a:rPr sz="2600" b="0" i="0">
                <a:solidFill>
                  <a:srgbClr val="475569"/>
                </a:solidFill>
                <a:latin typeface="Arial"/>
              </a:rPr>
              <a:t>13,023 lines scanned</a:t>
            </a:r>
          </a:p>
        </p:txBody>
      </p:sp>
      <p:sp>
        <p:nvSpPr>
          <p:cNvPr id="101" name="tile Detector F1 (AR/EN)"/>
          <p:cNvSpPr/>
          <p:nvPr/>
        </p:nvSpPr>
        <p:spPr>
          <a:xfrm>
            <a:off x="15462000" y="38966904"/>
            <a:ext cx="4134000" cy="3316946"/>
          </a:xfrm>
          <a:prstGeom prst="roundRect">
            <a:avLst>
              <a:gd name="adj" fmla="val 651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ile Detector F1 (AR/EN) accent"/>
          <p:cNvSpPr/>
          <p:nvPr/>
        </p:nvSpPr>
        <p:spPr>
          <a:xfrm>
            <a:off x="15678000" y="38966904"/>
            <a:ext cx="3702000" cy="162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ile Detector F1 (AR/EN) value"/>
          <p:cNvSpPr txBox="1"/>
          <p:nvPr/>
        </p:nvSpPr>
        <p:spPr>
          <a:xfrm>
            <a:off x="15714000" y="39380904"/>
            <a:ext cx="3630000" cy="1067409"/>
          </a:xfrm>
          <a:prstGeom prst="rect">
            <a:avLst/>
          </a:prstGeom>
          <a:noFill/>
        </p:spPr>
        <p:txBody>
          <a:bodyPr wrap="square" anchor="ctr" lIns="0" rIns="0" tIns="0" bIns="0">
            <a:noAutofit/>
          </a:bodyPr>
          <a:lstStyle/>
          <a:p>
            <a:pPr algn="l"/>
            <a:r>
              <a:rPr sz="3400" b="1" i="0">
                <a:solidFill>
                  <a:srgbClr val="92400E"/>
                </a:solidFill>
                <a:latin typeface="Arial"/>
              </a:rPr>
              <a:t>pending</a:t>
            </a:r>
          </a:p>
          <a:p>
            <a:pPr algn="l"/>
            <a:r>
              <a:rPr sz="3400" b="1" i="0">
                <a:solidFill>
                  <a:srgbClr val="92400E"/>
                </a:solidFill>
                <a:latin typeface="Arial"/>
              </a:rPr>
              <a:t>team data</a:t>
            </a:r>
          </a:p>
        </p:txBody>
      </p:sp>
      <p:sp>
        <p:nvSpPr>
          <p:cNvPr id="104" name="tile Detector F1 (AR/EN) label"/>
          <p:cNvSpPr txBox="1"/>
          <p:nvPr/>
        </p:nvSpPr>
        <p:spPr>
          <a:xfrm>
            <a:off x="15714000" y="40520314"/>
            <a:ext cx="3630000" cy="408127"/>
          </a:xfrm>
          <a:prstGeom prst="rect">
            <a:avLst/>
          </a:prstGeom>
          <a:noFill/>
        </p:spPr>
        <p:txBody>
          <a:bodyPr wrap="square" anchor="t" lIns="0" rIns="0" tIns="0" bIns="0">
            <a:noAutofit/>
          </a:bodyPr>
          <a:lstStyle/>
          <a:p>
            <a:pPr algn="l"/>
            <a:r>
              <a:rPr sz="2600" b="1" i="0">
                <a:solidFill>
                  <a:srgbClr val="1F2937"/>
                </a:solidFill>
                <a:latin typeface="Arial"/>
              </a:rPr>
              <a:t>Detector F1 (AR/EN)</a:t>
            </a:r>
          </a:p>
        </p:txBody>
      </p:sp>
      <p:sp>
        <p:nvSpPr>
          <p:cNvPr id="105" name="tile Detector F1 (AR/EN) detail"/>
          <p:cNvSpPr txBox="1"/>
          <p:nvPr/>
        </p:nvSpPr>
        <p:spPr>
          <a:xfrm>
            <a:off x="15714000" y="40964441"/>
            <a:ext cx="3630000" cy="408127"/>
          </a:xfrm>
          <a:prstGeom prst="rect">
            <a:avLst/>
          </a:prstGeom>
          <a:noFill/>
        </p:spPr>
        <p:txBody>
          <a:bodyPr wrap="square" anchor="t" lIns="0" rIns="0" tIns="0" bIns="0">
            <a:noAutofit/>
          </a:bodyPr>
          <a:lstStyle/>
          <a:p>
            <a:pPr algn="l"/>
            <a:r>
              <a:rPr sz="2600" b="0" i="0">
                <a:solidFill>
                  <a:srgbClr val="475569"/>
                </a:solidFill>
                <a:latin typeface="Arial"/>
              </a:rPr>
              <a:t>target ≥ 0.85</a:t>
            </a:r>
          </a:p>
        </p:txBody>
      </p:sp>
      <p:sp>
        <p:nvSpPr>
          <p:cNvPr id="106" name="tile Attack success reduction"/>
          <p:cNvSpPr/>
          <p:nvPr/>
        </p:nvSpPr>
        <p:spPr>
          <a:xfrm>
            <a:off x="19920000" y="38966904"/>
            <a:ext cx="4134000" cy="3316946"/>
          </a:xfrm>
          <a:prstGeom prst="roundRect">
            <a:avLst>
              <a:gd name="adj" fmla="val 651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ile Attack success reduction accent"/>
          <p:cNvSpPr/>
          <p:nvPr/>
        </p:nvSpPr>
        <p:spPr>
          <a:xfrm>
            <a:off x="20136000" y="38966904"/>
            <a:ext cx="3702000" cy="162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ile Attack success reduction value"/>
          <p:cNvSpPr txBox="1"/>
          <p:nvPr/>
        </p:nvSpPr>
        <p:spPr>
          <a:xfrm>
            <a:off x="20172000" y="39380904"/>
            <a:ext cx="3630000" cy="1067409"/>
          </a:xfrm>
          <a:prstGeom prst="rect">
            <a:avLst/>
          </a:prstGeom>
          <a:noFill/>
        </p:spPr>
        <p:txBody>
          <a:bodyPr wrap="square" anchor="ctr" lIns="0" rIns="0" tIns="0" bIns="0">
            <a:noAutofit/>
          </a:bodyPr>
          <a:lstStyle/>
          <a:p>
            <a:pPr algn="l"/>
            <a:r>
              <a:rPr sz="3400" b="1" i="0">
                <a:solidFill>
                  <a:srgbClr val="92400E"/>
                </a:solidFill>
                <a:latin typeface="Arial"/>
              </a:rPr>
              <a:t>pending</a:t>
            </a:r>
          </a:p>
          <a:p>
            <a:pPr algn="l"/>
            <a:r>
              <a:rPr sz="3400" b="1" i="0">
                <a:solidFill>
                  <a:srgbClr val="92400E"/>
                </a:solidFill>
                <a:latin typeface="Arial"/>
              </a:rPr>
              <a:t>team data</a:t>
            </a:r>
          </a:p>
        </p:txBody>
      </p:sp>
      <p:sp>
        <p:nvSpPr>
          <p:cNvPr id="109" name="tile Attack success reduction label"/>
          <p:cNvSpPr txBox="1"/>
          <p:nvPr/>
        </p:nvSpPr>
        <p:spPr>
          <a:xfrm>
            <a:off x="20172000" y="40520314"/>
            <a:ext cx="3630000" cy="816254"/>
          </a:xfrm>
          <a:prstGeom prst="rect">
            <a:avLst/>
          </a:prstGeom>
          <a:noFill/>
        </p:spPr>
        <p:txBody>
          <a:bodyPr wrap="square" anchor="t" lIns="0" rIns="0" tIns="0" bIns="0">
            <a:noAutofit/>
          </a:bodyPr>
          <a:lstStyle/>
          <a:p>
            <a:pPr algn="l"/>
            <a:r>
              <a:rPr sz="2600" b="1" i="0">
                <a:solidFill>
                  <a:srgbClr val="1F2937"/>
                </a:solidFill>
                <a:latin typeface="Arial"/>
              </a:rPr>
              <a:t>Attack success reduction</a:t>
            </a:r>
          </a:p>
        </p:txBody>
      </p:sp>
      <p:sp>
        <p:nvSpPr>
          <p:cNvPr id="110" name="tile Attack success reduction detail"/>
          <p:cNvSpPr txBox="1"/>
          <p:nvPr/>
        </p:nvSpPr>
        <p:spPr>
          <a:xfrm>
            <a:off x="20172000" y="41372568"/>
            <a:ext cx="3630000" cy="408127"/>
          </a:xfrm>
          <a:prstGeom prst="rect">
            <a:avLst/>
          </a:prstGeom>
          <a:noFill/>
        </p:spPr>
        <p:txBody>
          <a:bodyPr wrap="square" anchor="t" lIns="0" rIns="0" tIns="0" bIns="0">
            <a:noAutofit/>
          </a:bodyPr>
          <a:lstStyle/>
          <a:p>
            <a:pPr algn="l"/>
            <a:r>
              <a:rPr sz="2600" b="0" i="0">
                <a:solidFill>
                  <a:srgbClr val="475569"/>
                </a:solidFill>
                <a:latin typeface="Arial"/>
              </a:rPr>
              <a:t>target ≥ 80%</a:t>
            </a:r>
          </a:p>
        </p:txBody>
      </p:sp>
      <p:sp>
        <p:nvSpPr>
          <p:cNvPr id="111" name="results note tile"/>
          <p:cNvSpPr/>
          <p:nvPr/>
        </p:nvSpPr>
        <p:spPr>
          <a:xfrm>
            <a:off x="24378000" y="38966904"/>
            <a:ext cx="4134000" cy="3316946"/>
          </a:xfrm>
          <a:prstGeom prst="roundRect">
            <a:avLst>
              <a:gd name="adj" fmla="val 6512"/>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sults note"/>
          <p:cNvSpPr txBox="1"/>
          <p:nvPr/>
        </p:nvSpPr>
        <p:spPr>
          <a:xfrm>
            <a:off x="24630000" y="39605060"/>
            <a:ext cx="3630000" cy="2040635"/>
          </a:xfrm>
          <a:prstGeom prst="rect">
            <a:avLst/>
          </a:prstGeom>
          <a:noFill/>
        </p:spPr>
        <p:txBody>
          <a:bodyPr wrap="square" anchor="t" lIns="0" rIns="0" tIns="0" bIns="0">
            <a:noAutofit/>
          </a:bodyPr>
          <a:lstStyle/>
          <a:p>
            <a:pPr algn="l"/>
            <a:r>
              <a:rPr sz="2600" b="0" i="0">
                <a:solidFill>
                  <a:srgbClr val="FFFFFF"/>
                </a:solidFill>
                <a:latin typeface="Arial"/>
              </a:rPr>
              <a:t>Read at build time from </a:t>
            </a:r>
            <a:r>
              <a:rPr sz="2600" b="1" i="0">
                <a:solidFill>
                  <a:srgbClr val="FFFFFF"/>
                </a:solidFill>
                <a:latin typeface="Arial"/>
              </a:rPr>
              <a:t>results_summary.json</a:t>
            </a:r>
            <a:r>
              <a:rPr sz="2600" b="0" i="0">
                <a:solidFill>
                  <a:srgbClr val="FFFFFF"/>
                </a:solidFill>
                <a:latin typeface="Arial"/>
              </a:rPr>
              <a:t> (14 Oct 2026). Benign tasks only; detector in rules-only mode.</a:t>
            </a:r>
          </a:p>
        </p:txBody>
      </p:sp>
      <p:sp>
        <p:nvSpPr>
          <p:cNvPr id="113" name="conclusion card"/>
          <p:cNvSpPr/>
          <p:nvPr/>
        </p:nvSpPr>
        <p:spPr>
          <a:xfrm>
            <a:off x="1440000" y="44207719"/>
            <a:ext cx="13500000" cy="4988411"/>
          </a:xfrm>
          <a:prstGeom prst="roundRect">
            <a:avLst>
              <a:gd name="adj" fmla="val 7938"/>
            </a:avLst>
          </a:prstGeom>
          <a:solidFill>
            <a:srgbClr val="FFFFFF"/>
          </a:solidFill>
          <a:ln w="22225">
            <a:solidFill>
              <a:srgbClr val="C5D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onclusion heading"/>
          <p:cNvSpPr/>
          <p:nvPr/>
        </p:nvSpPr>
        <p:spPr>
          <a:xfrm>
            <a:off x="5332980" y="43559719"/>
            <a:ext cx="5714039" cy="12960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0" b="1" i="0">
                <a:solidFill>
                  <a:srgbClr val="FFFFFF"/>
                </a:solidFill>
                <a:latin typeface="Arial"/>
              </a:rPr>
              <a:t>Conclusion</a:t>
            </a:r>
          </a:p>
        </p:txBody>
      </p:sp>
      <p:sp>
        <p:nvSpPr>
          <p:cNvPr id="115" name="conclusion text"/>
          <p:cNvSpPr txBox="1"/>
          <p:nvPr/>
        </p:nvSpPr>
        <p:spPr>
          <a:xfrm>
            <a:off x="2088000" y="45287719"/>
            <a:ext cx="12204000" cy="3296411"/>
          </a:xfrm>
          <a:prstGeom prst="rect">
            <a:avLst/>
          </a:prstGeom>
          <a:noFill/>
        </p:spPr>
        <p:txBody>
          <a:bodyPr wrap="square" anchor="t" lIns="0" rIns="0" tIns="0" bIns="0">
            <a:noAutofit/>
          </a:bodyPr>
          <a:lstStyle/>
          <a:p>
            <a:pPr algn="l"/>
            <a:r>
              <a:rPr sz="3000" b="0" i="0">
                <a:solidFill>
                  <a:srgbClr val="1F2937"/>
                </a:solidFill>
                <a:latin typeface="Arial"/>
              </a:rPr>
              <a:t>Mirsad shows that the tool-calling boundary is a workable control point for AI agents. One drop-in gateway applies an organisation’s rules to every action, explains each decision in Arabic and English, asks a human when the stakes are high and keeps a verifiable, replayable record. On 48 benign English and Arabic tasks, it denied no benign call automatically and added a median of 2.7 ms per call. Its effect on real attacks awaits the team’s attack data.</a:t>
            </a:r>
          </a:p>
        </p:txBody>
      </p:sp>
      <p:sp>
        <p:nvSpPr>
          <p:cNvPr id="116" name="future card"/>
          <p:cNvSpPr/>
          <p:nvPr/>
        </p:nvSpPr>
        <p:spPr>
          <a:xfrm>
            <a:off x="15660000" y="44207719"/>
            <a:ext cx="13500000" cy="4988411"/>
          </a:xfrm>
          <a:prstGeom prst="roundRect">
            <a:avLst>
              <a:gd name="adj" fmla="val 7938"/>
            </a:avLst>
          </a:prstGeom>
          <a:solidFill>
            <a:srgbClr val="FFFFFF"/>
          </a:solidFill>
          <a:ln w="22225">
            <a:solidFill>
              <a:srgbClr val="C5D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uture heading"/>
          <p:cNvSpPr/>
          <p:nvPr/>
        </p:nvSpPr>
        <p:spPr>
          <a:xfrm>
            <a:off x="18472845" y="43559719"/>
            <a:ext cx="7874310" cy="12960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0" b="1" i="0">
                <a:solidFill>
                  <a:srgbClr val="FFFFFF"/>
                </a:solidFill>
                <a:latin typeface="Arial"/>
              </a:rPr>
              <a:t>Future Directions</a:t>
            </a:r>
          </a:p>
        </p:txBody>
      </p:sp>
      <p:sp>
        <p:nvSpPr>
          <p:cNvPr id="118" name="future 1 bullet"/>
          <p:cNvSpPr/>
          <p:nvPr/>
        </p:nvSpPr>
        <p:spPr>
          <a:xfrm>
            <a:off x="16307999" y="45381319"/>
            <a:ext cx="270000" cy="270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00" b="1" i="0">
                <a:solidFill>
                  <a:srgbClr val="0B1F3A"/>
                </a:solidFill>
                <a:latin typeface="Arial"/>
              </a:rPr>
              <a:t/>
            </a:r>
          </a:p>
        </p:txBody>
      </p:sp>
      <p:sp>
        <p:nvSpPr>
          <p:cNvPr id="119" name="future 1"/>
          <p:cNvSpPr txBox="1"/>
          <p:nvPr/>
        </p:nvSpPr>
        <p:spPr>
          <a:xfrm>
            <a:off x="16865999" y="45287719"/>
            <a:ext cx="11646000" cy="470916"/>
          </a:xfrm>
          <a:prstGeom prst="rect">
            <a:avLst/>
          </a:prstGeom>
          <a:noFill/>
        </p:spPr>
        <p:txBody>
          <a:bodyPr wrap="square" anchor="t" lIns="0" rIns="0" tIns="0" bIns="0">
            <a:noAutofit/>
          </a:bodyPr>
          <a:lstStyle/>
          <a:p>
            <a:pPr algn="l"/>
            <a:r>
              <a:rPr sz="3000" b="0" i="0">
                <a:solidFill>
                  <a:srgbClr val="1F2937"/>
                </a:solidFill>
                <a:latin typeface="Arial"/>
              </a:rPr>
              <a:t>Measure detector F1 and attack-success reduction with team data.</a:t>
            </a:r>
          </a:p>
        </p:txBody>
      </p:sp>
      <p:sp>
        <p:nvSpPr>
          <p:cNvPr id="120" name="future 2 bullet"/>
          <p:cNvSpPr/>
          <p:nvPr/>
        </p:nvSpPr>
        <p:spPr>
          <a:xfrm>
            <a:off x="16307999" y="46323151"/>
            <a:ext cx="270000" cy="270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00" b="1" i="0">
                <a:solidFill>
                  <a:srgbClr val="0B1F3A"/>
                </a:solidFill>
                <a:latin typeface="Arial"/>
              </a:rPr>
              <a:t/>
            </a:r>
          </a:p>
        </p:txBody>
      </p:sp>
      <p:sp>
        <p:nvSpPr>
          <p:cNvPr id="121" name="future 2"/>
          <p:cNvSpPr txBox="1"/>
          <p:nvPr/>
        </p:nvSpPr>
        <p:spPr>
          <a:xfrm>
            <a:off x="16865999" y="46229551"/>
            <a:ext cx="11646000" cy="470916"/>
          </a:xfrm>
          <a:prstGeom prst="rect">
            <a:avLst/>
          </a:prstGeom>
          <a:noFill/>
        </p:spPr>
        <p:txBody>
          <a:bodyPr wrap="square" anchor="t" lIns="0" rIns="0" tIns="0" bIns="0">
            <a:noAutofit/>
          </a:bodyPr>
          <a:lstStyle/>
          <a:p>
            <a:pPr algn="l"/>
            <a:r>
              <a:rPr sz="3000" b="0" i="0">
                <a:solidFill>
                  <a:srgbClr val="1F2937"/>
                </a:solidFill>
                <a:latin typeface="Arial"/>
              </a:rPr>
              <a:t>Fine-tune an Arabic or multilingual encoder (MARBERT, XLM-R).</a:t>
            </a:r>
          </a:p>
        </p:txBody>
      </p:sp>
      <p:sp>
        <p:nvSpPr>
          <p:cNvPr id="122" name="future 3 bullet"/>
          <p:cNvSpPr/>
          <p:nvPr/>
        </p:nvSpPr>
        <p:spPr>
          <a:xfrm>
            <a:off x="16307999" y="47264983"/>
            <a:ext cx="270000" cy="270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00" b="1" i="0">
                <a:solidFill>
                  <a:srgbClr val="0B1F3A"/>
                </a:solidFill>
                <a:latin typeface="Arial"/>
              </a:rPr>
              <a:t/>
            </a:r>
          </a:p>
        </p:txBody>
      </p:sp>
      <p:sp>
        <p:nvSpPr>
          <p:cNvPr id="123" name="future 3"/>
          <p:cNvSpPr txBox="1"/>
          <p:nvPr/>
        </p:nvSpPr>
        <p:spPr>
          <a:xfrm>
            <a:off x="16865999" y="47171383"/>
            <a:ext cx="11646000" cy="470916"/>
          </a:xfrm>
          <a:prstGeom prst="rect">
            <a:avLst/>
          </a:prstGeom>
          <a:noFill/>
        </p:spPr>
        <p:txBody>
          <a:bodyPr wrap="square" anchor="t" lIns="0" rIns="0" tIns="0" bIns="0">
            <a:noAutofit/>
          </a:bodyPr>
          <a:lstStyle/>
          <a:p>
            <a:pPr algn="l"/>
            <a:r>
              <a:rPr sz="3000" b="0" i="0">
                <a:solidFill>
                  <a:srgbClr val="1F2937"/>
                </a:solidFill>
                <a:latin typeface="Arial"/>
              </a:rPr>
              <a:t>Multi-worker deployment on PostgreSQL with shared rate limits.</a:t>
            </a:r>
          </a:p>
        </p:txBody>
      </p:sp>
      <p:sp>
        <p:nvSpPr>
          <p:cNvPr id="124" name="future 4 bullet"/>
          <p:cNvSpPr/>
          <p:nvPr/>
        </p:nvSpPr>
        <p:spPr>
          <a:xfrm>
            <a:off x="16307999" y="48206815"/>
            <a:ext cx="270000" cy="270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00" b="1" i="0">
                <a:solidFill>
                  <a:srgbClr val="0B1F3A"/>
                </a:solidFill>
                <a:latin typeface="Arial"/>
              </a:rPr>
              <a:t/>
            </a:r>
          </a:p>
        </p:txBody>
      </p:sp>
      <p:sp>
        <p:nvSpPr>
          <p:cNvPr id="125" name="future 4"/>
          <p:cNvSpPr txBox="1"/>
          <p:nvPr/>
        </p:nvSpPr>
        <p:spPr>
          <a:xfrm>
            <a:off x="16865999" y="48113215"/>
            <a:ext cx="11646000" cy="470916"/>
          </a:xfrm>
          <a:prstGeom prst="rect">
            <a:avLst/>
          </a:prstGeom>
          <a:noFill/>
        </p:spPr>
        <p:txBody>
          <a:bodyPr wrap="square" anchor="t" lIns="0" rIns="0" tIns="0" bIns="0">
            <a:noAutofit/>
          </a:bodyPr>
          <a:lstStyle/>
          <a:p>
            <a:pPr algn="l"/>
            <a:r>
              <a:rPr sz="3000" b="0" i="0">
                <a:solidFill>
                  <a:srgbClr val="1F2937"/>
                </a:solidFill>
                <a:latin typeface="Arial"/>
              </a:rPr>
              <a:t>Saudi pilot with NCA ECC evidence: retention, SIEM, anchoring.</a:t>
            </a:r>
          </a:p>
        </p:txBody>
      </p:sp>
      <p:sp>
        <p:nvSpPr>
          <p:cNvPr id="126" name="footer band"/>
          <p:cNvSpPr/>
          <p:nvPr/>
        </p:nvSpPr>
        <p:spPr>
          <a:xfrm>
            <a:off x="0" y="49968000"/>
            <a:ext cx="30600000" cy="115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ooter rule"/>
          <p:cNvSpPr/>
          <p:nvPr/>
        </p:nvSpPr>
        <p:spPr>
          <a:xfrm>
            <a:off x="0" y="49968000"/>
            <a:ext cx="30600000" cy="10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ooter"/>
          <p:cNvSpPr txBox="1"/>
          <p:nvPr/>
        </p:nvSpPr>
        <p:spPr>
          <a:xfrm>
            <a:off x="1440000" y="50393936"/>
            <a:ext cx="27720000" cy="408127"/>
          </a:xfrm>
          <a:prstGeom prst="rect">
            <a:avLst/>
          </a:prstGeom>
          <a:noFill/>
        </p:spPr>
        <p:txBody>
          <a:bodyPr wrap="square" anchor="t" lIns="0" rIns="0" tIns="0" bIns="0">
            <a:noAutofit/>
          </a:bodyPr>
          <a:lstStyle/>
          <a:p>
            <a:pPr algn="ctr"/>
            <a:r>
              <a:rPr sz="2600" b="0" i="0">
                <a:solidFill>
                  <a:srgbClr val="D6E4F0"/>
                </a:solidFill>
                <a:latin typeface="Arial"/>
              </a:rPr>
              <a:t>Prince Sultan University  ·  College of Computer &amp; Information Sciences  ·  IS499 Senior Project 2026–2027  ·  Open source under Apache-2.0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Mirsad | مرصاد – IS499 poster</dc:title>
  <dc:subject>A Runtime Security Firewall for AI Agents Against Prompt-Injection Attacks</dc:subject>
  <dc:creator>Mirsad team, Prince Sultan University</dc:creator>
  <cp:keywords>Mirsad; prompt injection; AI agents; IS499</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